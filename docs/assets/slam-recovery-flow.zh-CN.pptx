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A2E51-0E16-C0AC-DD7B-96C7C39CB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3BBAE1-2C25-8F61-1EEC-655D58713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ADF77-926E-FA59-C055-7146E1A2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94CBF3-3896-EA48-9DFB-6B681574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1E46AF-D0EA-6E0A-186E-C690C934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3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D84F0-E3DD-EC9C-6EDD-BE12D7AE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B2D2DA-F73A-A691-5636-DAB5921ED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7989F-6D8A-B59C-4C05-7369A66E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464B9-6E2B-B483-5636-6BD00F9B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B4A7CA-C1E8-B26E-79E5-5C94C424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89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4C4EC-9ADE-FED8-B55A-28DE342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61D6A3-010F-B698-E960-109AD4ACA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A0433-53F9-4B8D-E498-C04B34A1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5D9AE1-2C18-2084-8B06-5E8E9DAA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2F0F1-FE54-C799-8994-58491545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624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79AF6-1F37-64B4-2921-2B1376A4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7A7BA-8FF9-85F5-D5DE-44884055A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6EB104-4C5F-E309-3FFD-C803ADDAC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13F7FE-A172-B867-4E8A-BDAD2799B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07DE27-02C4-1066-3A6A-D4C70C82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5E642E-70D7-454A-C85C-2B3FFCDF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334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84821-10E0-F108-E755-34512176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99602C-8B10-4E9E-B90B-56FEF02AF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4F0405-175F-7C55-968F-C0725BDF2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856A9D-7FEA-DF06-CCBD-23821DF78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3D8AF3-E454-4391-98ED-E82B6ADF3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DC1FE4-B900-B053-D0D7-612EEE40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C350B1-4EBD-103E-2FCA-D0B47F2F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56EE88-D1D7-0D96-0AB2-C3AA7273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99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9932E-80D7-21FB-379B-262038AF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0CA24E-6FFA-D0DE-737B-65B2C395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CCAE6D-2FFF-2911-9D79-AAC6F06F8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297E7C-C517-59F8-198E-16EF0C74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22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456E52-72FC-6AEE-C2BB-1904B92F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BBE526-3C83-9144-B3D0-37671422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1CEAFD-F304-078E-14DB-D6ACE133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13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8F486-6675-50B4-03E8-718B7F0E4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349F58-BBB7-ED9D-ED42-2B97002C6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A58770-9E00-81A9-5CF5-66190CACE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9599F6-C7F1-D198-627F-DEB8A830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81F0FA-0BD7-8ED6-843E-78176884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2424DD-9110-EC23-0C93-5B225AC5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20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644AD-543C-5092-60AD-3D4629C0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A54919-6545-5D79-3BA9-4A5F0FD0951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4E34C0-E635-E124-084B-D35E707BB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9EF16C-3DEE-00FA-03D0-2FB55F41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37BCED-8CED-BB63-C6CB-D426C21E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1F7D35-1895-2D61-A33E-8E88FCA6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1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A9D1E-20F8-99BE-4188-98A0883A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5CBFFB-5FD9-F07C-E715-9B87E6571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A3A6E-DA97-5EDF-7ED2-78F5B3AE9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C14B3-9DA4-FD03-650C-8D88ED10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38AD95-18BE-28E8-3D52-B5E7492A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34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7BFE540-D48C-4DE6-BD5F-05359E4B0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B4FFBD-EA1A-F712-9907-D2E358ABE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9DC801-A22B-06F3-1D3C-1B0DD80DE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CADBC6-4EA0-D061-77A1-D03E112F8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59D24E-81DE-1EB8-497A-F4DB93FC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63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DF014E-FE38-4BF4-A5D9-7E860B91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4241DE-90FA-03EE-2056-788CDD0F0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C77004-9521-40FE-C06F-3AE27626A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7402BE-F7D0-4092-8839-1F146450926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462368-0DE6-2A41-AA53-1DE4E3217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7CAA64-7591-2E72-99AB-BC3BF2492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73E2A0-88DF-404B-A1B6-D671E7587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83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2.png"/><Relationship Id="rId3" Type="http://schemas.openxmlformats.org/officeDocument/2006/relationships/tags" Target="../tags/tag3.xml"/><Relationship Id="rId21" Type="http://schemas.openxmlformats.org/officeDocument/2006/relationships/image" Target="../media/image5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jp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recover-confirm">
            <a:extLst>
              <a:ext uri="{FF2B5EF4-FFF2-40B4-BE49-F238E27FC236}">
                <a16:creationId xmlns:a16="http://schemas.microsoft.com/office/drawing/2014/main" id="{9CB18F6A-973D-4323-176D-5057A4E6E137}"/>
              </a:ext>
            </a:extLst>
          </p:cNvPr>
          <p:cNvCxnSpPr>
            <a:cxnSpLocks/>
            <a:stCxn id="42" idx="2"/>
            <a:endCxn id="43" idx="0"/>
          </p:cNvCxnSpPr>
          <p:nvPr>
            <p:custDataLst>
              <p:tags r:id="rId1"/>
            </p:custDataLst>
          </p:nvPr>
        </p:nvCxnSpPr>
        <p:spPr>
          <a:xfrm>
            <a:off x="10388600" y="3822700"/>
            <a:ext cx="0" cy="139700"/>
          </a:xfrm>
          <a:prstGeom prst="straightConnector1">
            <a:avLst/>
          </a:prstGeom>
          <a:ln w="19050">
            <a:solidFill>
              <a:srgbClr val="C67A3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diagnose-recover">
            <a:extLst>
              <a:ext uri="{FF2B5EF4-FFF2-40B4-BE49-F238E27FC236}">
                <a16:creationId xmlns:a16="http://schemas.microsoft.com/office/drawing/2014/main" id="{9E9218D3-DC0F-9BC0-B3DA-778E52794873}"/>
              </a:ext>
            </a:extLst>
          </p:cNvPr>
          <p:cNvCxnSpPr>
            <a:cxnSpLocks/>
            <a:stCxn id="41" idx="2"/>
            <a:endCxn id="42" idx="0"/>
          </p:cNvCxnSpPr>
          <p:nvPr>
            <p:custDataLst>
              <p:tags r:id="rId2"/>
            </p:custDataLst>
          </p:nvPr>
        </p:nvCxnSpPr>
        <p:spPr>
          <a:xfrm>
            <a:off x="10388600" y="3200400"/>
            <a:ext cx="0" cy="139700"/>
          </a:xfrm>
          <a:prstGeom prst="straightConnector1">
            <a:avLst/>
          </a:prstGeom>
          <a:ln w="19050">
            <a:solidFill>
              <a:srgbClr val="C67A3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detect-diagnose">
            <a:extLst>
              <a:ext uri="{FF2B5EF4-FFF2-40B4-BE49-F238E27FC236}">
                <a16:creationId xmlns:a16="http://schemas.microsoft.com/office/drawing/2014/main" id="{EA164D73-BE39-CCA6-091A-9C497DB294EE}"/>
              </a:ext>
            </a:extLst>
          </p:cNvPr>
          <p:cNvCxnSpPr>
            <a:cxnSpLocks/>
            <a:stCxn id="40" idx="2"/>
            <a:endCxn id="41" idx="0"/>
          </p:cNvCxnSpPr>
          <p:nvPr>
            <p:custDataLst>
              <p:tags r:id="rId3"/>
            </p:custDataLst>
          </p:nvPr>
        </p:nvCxnSpPr>
        <p:spPr>
          <a:xfrm>
            <a:off x="10388600" y="2578100"/>
            <a:ext cx="0" cy="139700"/>
          </a:xfrm>
          <a:prstGeom prst="straightConnector1">
            <a:avLst/>
          </a:prstGeom>
          <a:ln w="19050">
            <a:solidFill>
              <a:srgbClr val="C67A3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overy-detect">
            <a:extLst>
              <a:ext uri="{FF2B5EF4-FFF2-40B4-BE49-F238E27FC236}">
                <a16:creationId xmlns:a16="http://schemas.microsoft.com/office/drawing/2014/main" id="{2A111B08-9190-C372-0E99-BBFA8A733B09}"/>
              </a:ext>
            </a:extLst>
          </p:cNvPr>
          <p:cNvCxnSpPr>
            <a:cxnSpLocks/>
            <a:stCxn id="39" idx="2"/>
            <a:endCxn id="40" idx="0"/>
          </p:cNvCxnSpPr>
          <p:nvPr>
            <p:custDataLst>
              <p:tags r:id="rId4"/>
            </p:custDataLst>
          </p:nvPr>
        </p:nvCxnSpPr>
        <p:spPr>
          <a:xfrm>
            <a:off x="10388600" y="1905000"/>
            <a:ext cx="0" cy="190500"/>
          </a:xfrm>
          <a:prstGeom prst="straightConnector1">
            <a:avLst/>
          </a:prstGeom>
          <a:ln w="19050">
            <a:solidFill>
              <a:srgbClr val="C67A3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failure-flow">
            <a:extLst>
              <a:ext uri="{FF2B5EF4-FFF2-40B4-BE49-F238E27FC236}">
                <a16:creationId xmlns:a16="http://schemas.microsoft.com/office/drawing/2014/main" id="{08F991DD-5179-515C-CBCA-2C431B26ECD1}"/>
              </a:ext>
            </a:extLst>
          </p:cNvPr>
          <p:cNvCxnSpPr>
            <a:cxnSpLocks/>
            <a:stCxn id="18" idx="3"/>
            <a:endCxn id="39" idx="1"/>
          </p:cNvCxnSpPr>
          <p:nvPr>
            <p:custDataLst>
              <p:tags r:id="rId5"/>
            </p:custDataLst>
          </p:nvPr>
        </p:nvCxnSpPr>
        <p:spPr>
          <a:xfrm>
            <a:off x="8458200" y="1619250"/>
            <a:ext cx="431800" cy="0"/>
          </a:xfrm>
          <a:prstGeom prst="straightConnector1">
            <a:avLst/>
          </a:prstGeom>
          <a:ln w="2159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ose-flow">
            <a:extLst>
              <a:ext uri="{FF2B5EF4-FFF2-40B4-BE49-F238E27FC236}">
                <a16:creationId xmlns:a16="http://schemas.microsoft.com/office/drawing/2014/main" id="{721242E7-AAB0-6437-3427-46C10D1DCD4C}"/>
              </a:ext>
            </a:extLst>
          </p:cNvPr>
          <p:cNvCxnSpPr>
            <a:cxnSpLocks/>
            <a:stCxn id="11" idx="3"/>
            <a:endCxn id="18" idx="1"/>
          </p:cNvCxnSpPr>
          <p:nvPr>
            <p:custDataLst>
              <p:tags r:id="rId6"/>
            </p:custDataLst>
          </p:nvPr>
        </p:nvCxnSpPr>
        <p:spPr>
          <a:xfrm>
            <a:off x="4978400" y="1619250"/>
            <a:ext cx="406400" cy="0"/>
          </a:xfrm>
          <a:prstGeom prst="straightConnector1">
            <a:avLst/>
          </a:prstGeom>
          <a:ln w="2159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ensor-flow">
            <a:extLst>
              <a:ext uri="{FF2B5EF4-FFF2-40B4-BE49-F238E27FC236}">
                <a16:creationId xmlns:a16="http://schemas.microsoft.com/office/drawing/2014/main" id="{63FB648B-6E07-ACC2-9869-FF06C55EE6BE}"/>
              </a:ext>
            </a:extLst>
          </p:cNvPr>
          <p:cNvCxnSpPr>
            <a:cxnSpLocks/>
            <a:stCxn id="4" idx="3"/>
            <a:endCxn id="11" idx="1"/>
          </p:cNvCxnSpPr>
          <p:nvPr>
            <p:custDataLst>
              <p:tags r:id="rId7"/>
            </p:custDataLst>
          </p:nvPr>
        </p:nvCxnSpPr>
        <p:spPr>
          <a:xfrm>
            <a:off x="2527300" y="1619250"/>
            <a:ext cx="355600" cy="0"/>
          </a:xfrm>
          <a:prstGeom prst="straightConnector1">
            <a:avLst/>
          </a:prstGeom>
          <a:ln w="2159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">
            <a:extLst>
              <a:ext uri="{FF2B5EF4-FFF2-40B4-BE49-F238E27FC236}">
                <a16:creationId xmlns:a16="http://schemas.microsoft.com/office/drawing/2014/main" id="{87819F0A-3661-E6BE-86DF-747514F09A98}"/>
              </a:ext>
            </a:extLst>
          </p:cNvPr>
          <p:cNvSpPr txBox="1"/>
          <p:nvPr/>
        </p:nvSpPr>
        <p:spPr>
          <a:xfrm>
            <a:off x="304800" y="254000"/>
            <a:ext cx="11582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600" b="1">
                <a:solidFill>
                  <a:srgbClr val="17365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SLAM </a:t>
            </a:r>
            <a:r>
              <a:rPr lang="zh-CN" altLang="en-US" sz="2600" b="1">
                <a:solidFill>
                  <a:srgbClr val="17365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与动态鲁棒性：我们的开放问题在哪里？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4B85867-6EEE-D40C-B1BE-20A7D0DFD35A}"/>
              </a:ext>
            </a:extLst>
          </p:cNvPr>
          <p:cNvSpPr txBox="1"/>
          <p:nvPr/>
        </p:nvSpPr>
        <p:spPr>
          <a:xfrm>
            <a:off x="304800" y="850900"/>
            <a:ext cx="1158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SLAM </a:t>
            </a:r>
            <a:r>
              <a:rPr lang="zh-CN" altLang="en-US" sz="15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联合估计位姿与地图；开放问题关注跟踪失效后的定位恢复。</a:t>
            </a:r>
          </a:p>
        </p:txBody>
      </p:sp>
      <p:sp>
        <p:nvSpPr>
          <p:cNvPr id="4" name="platform">
            <a:extLst>
              <a:ext uri="{FF2B5EF4-FFF2-40B4-BE49-F238E27FC236}">
                <a16:creationId xmlns:a16="http://schemas.microsoft.com/office/drawing/2014/main" id="{EB44868B-8024-CB91-5D52-2AEE31B82742}"/>
              </a:ext>
            </a:extLst>
          </p:cNvPr>
          <p:cNvSpPr/>
          <p:nvPr/>
        </p:nvSpPr>
        <p:spPr>
          <a:xfrm>
            <a:off x="304800" y="1333500"/>
            <a:ext cx="2222500" cy="571500"/>
          </a:xfrm>
          <a:prstGeom prst="roundRect">
            <a:avLst/>
          </a:prstGeom>
          <a:solidFill>
            <a:srgbClr val="E9F2FF"/>
          </a:solidFill>
          <a:ln w="1651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zh-CN" altLang="en-US" sz="13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机器人平台</a:t>
            </a:r>
          </a:p>
        </p:txBody>
      </p:sp>
      <p:pic>
        <p:nvPicPr>
          <p:cNvPr id="6" name="chassis" descr="Raster-only visual evidence: One user-supplied photograph of the physical chassis">
            <a:extLst>
              <a:ext uri="{FF2B5EF4-FFF2-40B4-BE49-F238E27FC236}">
                <a16:creationId xmlns:a16="http://schemas.microsoft.com/office/drawing/2014/main" id="{22F2378D-3912-4C21-7883-179C7DA74CC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159000"/>
            <a:ext cx="2209800" cy="1657350"/>
          </a:xfrm>
          <a:prstGeom prst="rect">
            <a:avLst/>
          </a:prstGeom>
        </p:spPr>
      </p:pic>
      <p:sp>
        <p:nvSpPr>
          <p:cNvPr id="7" name="chassis-caption">
            <a:extLst>
              <a:ext uri="{FF2B5EF4-FFF2-40B4-BE49-F238E27FC236}">
                <a16:creationId xmlns:a16="http://schemas.microsoft.com/office/drawing/2014/main" id="{92016F39-14AC-E303-3511-CE19955297FB}"/>
              </a:ext>
            </a:extLst>
          </p:cNvPr>
          <p:cNvSpPr txBox="1"/>
          <p:nvPr/>
        </p:nvSpPr>
        <p:spPr>
          <a:xfrm>
            <a:off x="304800" y="38735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实体三轮全向底盘</a:t>
            </a:r>
          </a:p>
        </p:txBody>
      </p:sp>
      <p:pic>
        <p:nvPicPr>
          <p:cNvPr id="9" name="sensors" descr="Raster-only visual evidence: One user-supplied photograph of the actual sensors">
            <a:extLst>
              <a:ext uri="{FF2B5EF4-FFF2-40B4-BE49-F238E27FC236}">
                <a16:creationId xmlns:a16="http://schemas.microsoft.com/office/drawing/2014/main" id="{C7C0A628-C4A2-F93F-31D2-A262FB7A229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318000"/>
            <a:ext cx="2108200" cy="1495171"/>
          </a:xfrm>
          <a:prstGeom prst="rect">
            <a:avLst/>
          </a:prstGeom>
        </p:spPr>
      </p:pic>
      <p:sp>
        <p:nvSpPr>
          <p:cNvPr id="10" name="sensors-caption">
            <a:extLst>
              <a:ext uri="{FF2B5EF4-FFF2-40B4-BE49-F238E27FC236}">
                <a16:creationId xmlns:a16="http://schemas.microsoft.com/office/drawing/2014/main" id="{78260BBF-31C5-36EE-F5F9-5F8899096DFE}"/>
              </a:ext>
            </a:extLst>
          </p:cNvPr>
          <p:cNvSpPr txBox="1"/>
          <p:nvPr/>
        </p:nvSpPr>
        <p:spPr>
          <a:xfrm>
            <a:off x="304800" y="58801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二维激光＋深度相机</a:t>
            </a:r>
          </a:p>
        </p:txBody>
      </p:sp>
      <p:sp>
        <p:nvSpPr>
          <p:cNvPr id="11" name="observations">
            <a:extLst>
              <a:ext uri="{FF2B5EF4-FFF2-40B4-BE49-F238E27FC236}">
                <a16:creationId xmlns:a16="http://schemas.microsoft.com/office/drawing/2014/main" id="{097FA375-1906-67BE-2CCB-671C03159880}"/>
              </a:ext>
            </a:extLst>
          </p:cNvPr>
          <p:cNvSpPr/>
          <p:nvPr/>
        </p:nvSpPr>
        <p:spPr>
          <a:xfrm>
            <a:off x="2882900" y="1333500"/>
            <a:ext cx="2095500" cy="571500"/>
          </a:xfrm>
          <a:prstGeom prst="roundRect">
            <a:avLst/>
          </a:prstGeom>
          <a:solidFill>
            <a:srgbClr val="E9F2FF"/>
          </a:solidFill>
          <a:ln w="1651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zh-CN" altLang="en-US" sz="13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传感器观测</a:t>
            </a:r>
          </a:p>
        </p:txBody>
      </p:sp>
      <p:pic>
        <p:nvPicPr>
          <p:cNvPr id="13" name="scan2" descr="Raster-only visual evidence: One actual LaserScan geometric field from the recorded ROS bag; no axes or labels are rasterized">
            <a:extLst>
              <a:ext uri="{FF2B5EF4-FFF2-40B4-BE49-F238E27FC236}">
                <a16:creationId xmlns:a16="http://schemas.microsoft.com/office/drawing/2014/main" id="{5AAB5E46-EE13-F92C-1232-C49BD27815C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0" y="2222500"/>
            <a:ext cx="2095500" cy="1397000"/>
          </a:xfrm>
          <a:prstGeom prst="rect">
            <a:avLst/>
          </a:prstGeom>
        </p:spPr>
      </p:pic>
      <p:sp>
        <p:nvSpPr>
          <p:cNvPr id="14" name="scan2-caption">
            <a:extLst>
              <a:ext uri="{FF2B5EF4-FFF2-40B4-BE49-F238E27FC236}">
                <a16:creationId xmlns:a16="http://schemas.microsoft.com/office/drawing/2014/main" id="{60417FC5-5AE0-FFCE-16BB-5BC9BE99D34D}"/>
              </a:ext>
            </a:extLst>
          </p:cNvPr>
          <p:cNvSpPr txBox="1"/>
          <p:nvPr/>
        </p:nvSpPr>
        <p:spPr>
          <a:xfrm>
            <a:off x="2882900" y="36830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Gazebo </a:t>
            </a:r>
            <a:r>
              <a:rPr lang="zh-CN" altLang="en-US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二维激光扫描</a:t>
            </a:r>
          </a:p>
        </p:txBody>
      </p:sp>
      <p:pic>
        <p:nvPicPr>
          <p:cNvPr id="16" name="scan3" descr="Raster-only visual evidence: One dense actual 3D LiDAR scan, rendered from recorded point data">
            <a:extLst>
              <a:ext uri="{FF2B5EF4-FFF2-40B4-BE49-F238E27FC236}">
                <a16:creationId xmlns:a16="http://schemas.microsoft.com/office/drawing/2014/main" id="{C0CC4921-3EB5-2AAB-E5EB-982B82168C8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00" y="4318000"/>
            <a:ext cx="2095500" cy="1309688"/>
          </a:xfrm>
          <a:prstGeom prst="rect">
            <a:avLst/>
          </a:prstGeom>
        </p:spPr>
      </p:pic>
      <p:sp>
        <p:nvSpPr>
          <p:cNvPr id="17" name="scan3-caption">
            <a:extLst>
              <a:ext uri="{FF2B5EF4-FFF2-40B4-BE49-F238E27FC236}">
                <a16:creationId xmlns:a16="http://schemas.microsoft.com/office/drawing/2014/main" id="{149632CA-F063-EDE3-32D1-2F02134F4B96}"/>
              </a:ext>
            </a:extLst>
          </p:cNvPr>
          <p:cNvSpPr txBox="1"/>
          <p:nvPr/>
        </p:nvSpPr>
        <p:spPr>
          <a:xfrm>
            <a:off x="2882900" y="57404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Gazebo </a:t>
            </a:r>
            <a:r>
              <a:rPr lang="zh-CN" altLang="en-US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三维激光扫描</a:t>
            </a:r>
          </a:p>
        </p:txBody>
      </p:sp>
      <p:sp>
        <p:nvSpPr>
          <p:cNvPr id="18" name="pose">
            <a:extLst>
              <a:ext uri="{FF2B5EF4-FFF2-40B4-BE49-F238E27FC236}">
                <a16:creationId xmlns:a16="http://schemas.microsoft.com/office/drawing/2014/main" id="{392A30B3-09E2-EC3E-7461-97A01DA13DD1}"/>
              </a:ext>
            </a:extLst>
          </p:cNvPr>
          <p:cNvSpPr/>
          <p:nvPr/>
        </p:nvSpPr>
        <p:spPr>
          <a:xfrm>
            <a:off x="5384800" y="1333500"/>
            <a:ext cx="3073400" cy="571500"/>
          </a:xfrm>
          <a:prstGeom prst="roundRect">
            <a:avLst/>
          </a:prstGeom>
          <a:solidFill>
            <a:srgbClr val="E9F2FF"/>
          </a:solidFill>
          <a:ln w="1651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zh-CN" altLang="en-US" sz="13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位姿估计</a:t>
            </a:r>
          </a:p>
        </p:txBody>
      </p:sp>
      <p:sp>
        <p:nvSpPr>
          <p:cNvPr id="19" name="localizers">
            <a:extLst>
              <a:ext uri="{FF2B5EF4-FFF2-40B4-BE49-F238E27FC236}">
                <a16:creationId xmlns:a16="http://schemas.microsoft.com/office/drawing/2014/main" id="{E47A5BBD-4007-CF7C-3E5C-D8EEFDAE4BFE}"/>
              </a:ext>
            </a:extLst>
          </p:cNvPr>
          <p:cNvSpPr txBox="1"/>
          <p:nvPr/>
        </p:nvSpPr>
        <p:spPr>
          <a:xfrm>
            <a:off x="6007100" y="1930400"/>
            <a:ext cx="2197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altLang="zh-CN" sz="9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AMCL / IR-MCL / AdaM-MCL
NDT / GICP</a:t>
            </a:r>
            <a:endParaRPr lang="zh-CN" altLang="en-US" sz="900">
              <a:solidFill>
                <a:srgbClr val="22324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belief-caption">
            <a:extLst>
              <a:ext uri="{FF2B5EF4-FFF2-40B4-BE49-F238E27FC236}">
                <a16:creationId xmlns:a16="http://schemas.microsoft.com/office/drawing/2014/main" id="{B48B63E6-1115-2BC4-84AF-DB3CA09AD5BF}"/>
              </a:ext>
            </a:extLst>
          </p:cNvPr>
          <p:cNvSpPr txBox="1"/>
          <p:nvPr/>
        </p:nvSpPr>
        <p:spPr>
          <a:xfrm>
            <a:off x="6007100" y="2667000"/>
            <a:ext cx="21971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位姿假设（示意）</a:t>
            </a:r>
          </a:p>
        </p:txBody>
      </p:sp>
      <p:sp>
        <p:nvSpPr>
          <p:cNvPr id="21" name="mapping">
            <a:extLst>
              <a:ext uri="{FF2B5EF4-FFF2-40B4-BE49-F238E27FC236}">
                <a16:creationId xmlns:a16="http://schemas.microsoft.com/office/drawing/2014/main" id="{6798F8D5-6615-03AC-DB3D-3B5004981E57}"/>
              </a:ext>
            </a:extLst>
          </p:cNvPr>
          <p:cNvSpPr/>
          <p:nvPr/>
        </p:nvSpPr>
        <p:spPr>
          <a:xfrm>
            <a:off x="5384800" y="3200400"/>
            <a:ext cx="3073400" cy="571500"/>
          </a:xfrm>
          <a:prstGeom prst="roundRect">
            <a:avLst/>
          </a:prstGeom>
          <a:solidFill>
            <a:srgbClr val="E9F2FF"/>
          </a:solidFill>
          <a:ln w="16510">
            <a:solidFill>
              <a:srgbClr val="326B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zh-CN" altLang="en-US" sz="13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地图估计／更新</a:t>
            </a:r>
          </a:p>
        </p:txBody>
      </p:sp>
      <p:pic>
        <p:nvPicPr>
          <p:cNvPr id="23" name="map3" descr="Raster-only visual evidence: One dense recorded 3D map field from controlled provided-pose mapping A">
            <a:extLst>
              <a:ext uri="{FF2B5EF4-FFF2-40B4-BE49-F238E27FC236}">
                <a16:creationId xmlns:a16="http://schemas.microsoft.com/office/drawing/2014/main" id="{81023DF7-FD35-E0F3-4524-780DA12A35A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00" y="3873500"/>
            <a:ext cx="3073400" cy="1920875"/>
          </a:xfrm>
          <a:prstGeom prst="rect">
            <a:avLst/>
          </a:prstGeom>
        </p:spPr>
      </p:pic>
      <p:sp>
        <p:nvSpPr>
          <p:cNvPr id="24" name="map3-caption">
            <a:extLst>
              <a:ext uri="{FF2B5EF4-FFF2-40B4-BE49-F238E27FC236}">
                <a16:creationId xmlns:a16="http://schemas.microsoft.com/office/drawing/2014/main" id="{74ADD6C1-DC52-F36C-3F21-47135D46FEB9}"/>
              </a:ext>
            </a:extLst>
          </p:cNvPr>
          <p:cNvSpPr txBox="1"/>
          <p:nvPr/>
        </p:nvSpPr>
        <p:spPr>
          <a:xfrm>
            <a:off x="5384800" y="5880100"/>
            <a:ext cx="307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Gazebo </a:t>
            </a:r>
            <a:r>
              <a:rPr lang="zh-CN" altLang="en-US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三维地图（给定位姿）</a:t>
            </a:r>
          </a:p>
        </p:txBody>
      </p:sp>
      <p:sp>
        <p:nvSpPr>
          <p:cNvPr id="25" name="map-methods">
            <a:extLst>
              <a:ext uri="{FF2B5EF4-FFF2-40B4-BE49-F238E27FC236}">
                <a16:creationId xmlns:a16="http://schemas.microsoft.com/office/drawing/2014/main" id="{B9166725-062E-3A45-B117-37F06CC92B32}"/>
              </a:ext>
            </a:extLst>
          </p:cNvPr>
          <p:cNvSpPr txBox="1"/>
          <p:nvPr/>
        </p:nvSpPr>
        <p:spPr>
          <a:xfrm>
            <a:off x="5384800" y="6210300"/>
            <a:ext cx="3073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DUFOMap / BeautyMap</a:t>
            </a:r>
            <a:r>
              <a:rPr lang="zh-CN" altLang="en-US" sz="11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：地图清理</a:t>
            </a:r>
          </a:p>
        </p:txBody>
      </p:sp>
      <p:grpSp>
        <p:nvGrpSpPr>
          <p:cNvPr id="38" name="pose-belief-glyph">
            <a:extLst>
              <a:ext uri="{FF2B5EF4-FFF2-40B4-BE49-F238E27FC236}">
                <a16:creationId xmlns:a16="http://schemas.microsoft.com/office/drawing/2014/main" id="{A2043D90-16C4-1F5F-E05D-7FB6CB745040}"/>
              </a:ext>
            </a:extLst>
          </p:cNvPr>
          <p:cNvGrpSpPr/>
          <p:nvPr/>
        </p:nvGrpSpPr>
        <p:grpSpPr>
          <a:xfrm>
            <a:off x="6311900" y="2260600"/>
            <a:ext cx="1587500" cy="330200"/>
            <a:chOff x="6311900" y="2260600"/>
            <a:chExt cx="1587500" cy="330200"/>
          </a:xfrm>
        </p:grpSpPr>
        <p:sp>
          <p:nvSpPr>
            <p:cNvPr id="26" name="candidate-upper-west">
              <a:extLst>
                <a:ext uri="{FF2B5EF4-FFF2-40B4-BE49-F238E27FC236}">
                  <a16:creationId xmlns:a16="http://schemas.microsoft.com/office/drawing/2014/main" id="{7900DECC-EF6B-90AE-1F6F-87F0BA1A5257}"/>
                </a:ext>
              </a:extLst>
            </p:cNvPr>
            <p:cNvSpPr/>
            <p:nvPr/>
          </p:nvSpPr>
          <p:spPr>
            <a:xfrm>
              <a:off x="6311900" y="22987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candidate-mid-west">
              <a:extLst>
                <a:ext uri="{FF2B5EF4-FFF2-40B4-BE49-F238E27FC236}">
                  <a16:creationId xmlns:a16="http://schemas.microsoft.com/office/drawing/2014/main" id="{79423479-F936-C07F-0CDB-EF9FCA07CBB1}"/>
                </a:ext>
              </a:extLst>
            </p:cNvPr>
            <p:cNvSpPr/>
            <p:nvPr/>
          </p:nvSpPr>
          <p:spPr>
            <a:xfrm>
              <a:off x="6553200" y="24003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candidate-upper-centre">
              <a:extLst>
                <a:ext uri="{FF2B5EF4-FFF2-40B4-BE49-F238E27FC236}">
                  <a16:creationId xmlns:a16="http://schemas.microsoft.com/office/drawing/2014/main" id="{B9F79520-F7AC-FBE3-F340-4E2C3E15DD60}"/>
                </a:ext>
              </a:extLst>
            </p:cNvPr>
            <p:cNvSpPr/>
            <p:nvPr/>
          </p:nvSpPr>
          <p:spPr>
            <a:xfrm>
              <a:off x="6781800" y="22606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candidate-mid-centre">
              <a:extLst>
                <a:ext uri="{FF2B5EF4-FFF2-40B4-BE49-F238E27FC236}">
                  <a16:creationId xmlns:a16="http://schemas.microsoft.com/office/drawing/2014/main" id="{E5A1DFFE-3F02-904F-F4A7-A18BE2A34301}"/>
                </a:ext>
              </a:extLst>
            </p:cNvPr>
            <p:cNvSpPr/>
            <p:nvPr/>
          </p:nvSpPr>
          <p:spPr>
            <a:xfrm>
              <a:off x="7010400" y="23749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candidate-upper-near-east">
              <a:extLst>
                <a:ext uri="{FF2B5EF4-FFF2-40B4-BE49-F238E27FC236}">
                  <a16:creationId xmlns:a16="http://schemas.microsoft.com/office/drawing/2014/main" id="{9B55ACAE-F5FB-DD08-A59D-F96C15414EB4}"/>
                </a:ext>
              </a:extLst>
            </p:cNvPr>
            <p:cNvSpPr/>
            <p:nvPr/>
          </p:nvSpPr>
          <p:spPr>
            <a:xfrm>
              <a:off x="7188200" y="22987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candidate-lower-near-east">
              <a:extLst>
                <a:ext uri="{FF2B5EF4-FFF2-40B4-BE49-F238E27FC236}">
                  <a16:creationId xmlns:a16="http://schemas.microsoft.com/office/drawing/2014/main" id="{582C3245-99BA-3213-DDD6-77038D924E9C}"/>
                </a:ext>
              </a:extLst>
            </p:cNvPr>
            <p:cNvSpPr/>
            <p:nvPr/>
          </p:nvSpPr>
          <p:spPr>
            <a:xfrm>
              <a:off x="7391400" y="25019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candidate-upper-east">
              <a:extLst>
                <a:ext uri="{FF2B5EF4-FFF2-40B4-BE49-F238E27FC236}">
                  <a16:creationId xmlns:a16="http://schemas.microsoft.com/office/drawing/2014/main" id="{2D314DAC-D7C9-F6EF-B859-71E324A59139}"/>
                </a:ext>
              </a:extLst>
            </p:cNvPr>
            <p:cNvSpPr/>
            <p:nvPr/>
          </p:nvSpPr>
          <p:spPr>
            <a:xfrm>
              <a:off x="7670800" y="22987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candidate-mid-east">
              <a:extLst>
                <a:ext uri="{FF2B5EF4-FFF2-40B4-BE49-F238E27FC236}">
                  <a16:creationId xmlns:a16="http://schemas.microsoft.com/office/drawing/2014/main" id="{E31E5144-F25E-74D1-8681-E5D2355C93E2}"/>
                </a:ext>
              </a:extLst>
            </p:cNvPr>
            <p:cNvSpPr/>
            <p:nvPr/>
          </p:nvSpPr>
          <p:spPr>
            <a:xfrm>
              <a:off x="7835900" y="24638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candidate-lower-west">
              <a:extLst>
                <a:ext uri="{FF2B5EF4-FFF2-40B4-BE49-F238E27FC236}">
                  <a16:creationId xmlns:a16="http://schemas.microsoft.com/office/drawing/2014/main" id="{5FD96E9E-4F0F-FDF4-1CA2-94E00B619C51}"/>
                </a:ext>
              </a:extLst>
            </p:cNvPr>
            <p:cNvSpPr/>
            <p:nvPr/>
          </p:nvSpPr>
          <p:spPr>
            <a:xfrm>
              <a:off x="6400800" y="25273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candidate-lower-centre">
              <a:extLst>
                <a:ext uri="{FF2B5EF4-FFF2-40B4-BE49-F238E27FC236}">
                  <a16:creationId xmlns:a16="http://schemas.microsoft.com/office/drawing/2014/main" id="{946E6E85-BC3B-F8E0-B18F-20B6D1E17C98}"/>
                </a:ext>
              </a:extLst>
            </p:cNvPr>
            <p:cNvSpPr/>
            <p:nvPr/>
          </p:nvSpPr>
          <p:spPr>
            <a:xfrm>
              <a:off x="6845300" y="24892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candidate-bottom-centre">
              <a:extLst>
                <a:ext uri="{FF2B5EF4-FFF2-40B4-BE49-F238E27FC236}">
                  <a16:creationId xmlns:a16="http://schemas.microsoft.com/office/drawing/2014/main" id="{81DF50D0-B85C-67B3-FC09-1BD99B961CA8}"/>
                </a:ext>
              </a:extLst>
            </p:cNvPr>
            <p:cNvSpPr/>
            <p:nvPr/>
          </p:nvSpPr>
          <p:spPr>
            <a:xfrm>
              <a:off x="7175500" y="25273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candidate-inner-east">
              <a:extLst>
                <a:ext uri="{FF2B5EF4-FFF2-40B4-BE49-F238E27FC236}">
                  <a16:creationId xmlns:a16="http://schemas.microsoft.com/office/drawing/2014/main" id="{8761B704-1E3E-7E11-4E1C-3756C3880336}"/>
                </a:ext>
              </a:extLst>
            </p:cNvPr>
            <p:cNvSpPr/>
            <p:nvPr/>
          </p:nvSpPr>
          <p:spPr>
            <a:xfrm>
              <a:off x="7569200" y="2413000"/>
              <a:ext cx="63500" cy="63500"/>
            </a:xfrm>
            <a:prstGeom prst="ellipse">
              <a:avLst/>
            </a:prstGeom>
            <a:solidFill>
              <a:srgbClr val="69A4D8"/>
            </a:solidFill>
            <a:ln w="6350">
              <a:solidFill>
                <a:srgbClr val="326B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recovery">
            <a:extLst>
              <a:ext uri="{FF2B5EF4-FFF2-40B4-BE49-F238E27FC236}">
                <a16:creationId xmlns:a16="http://schemas.microsoft.com/office/drawing/2014/main" id="{B8E85FE9-2976-0737-47D6-E9DBBA4CA3F5}"/>
              </a:ext>
            </a:extLst>
          </p:cNvPr>
          <p:cNvSpPr/>
          <p:nvPr/>
        </p:nvSpPr>
        <p:spPr>
          <a:xfrm>
            <a:off x="8890000" y="1333500"/>
            <a:ext cx="2997200" cy="5715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zh-CN" altLang="en-US" sz="13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开放问题：定位如何自恢复？</a:t>
            </a:r>
          </a:p>
        </p:txBody>
      </p:sp>
      <p:sp>
        <p:nvSpPr>
          <p:cNvPr id="40" name="detect">
            <a:extLst>
              <a:ext uri="{FF2B5EF4-FFF2-40B4-BE49-F238E27FC236}">
                <a16:creationId xmlns:a16="http://schemas.microsoft.com/office/drawing/2014/main" id="{238C27D7-B576-6504-EACA-D01A70DF93A1}"/>
              </a:ext>
            </a:extLst>
          </p:cNvPr>
          <p:cNvSpPr/>
          <p:nvPr/>
        </p:nvSpPr>
        <p:spPr>
          <a:xfrm>
            <a:off x="8890000" y="2095500"/>
            <a:ext cx="2997200" cy="4826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检测
跟踪是否失效？残差／不确定性</a:t>
            </a:r>
          </a:p>
        </p:txBody>
      </p:sp>
      <p:sp>
        <p:nvSpPr>
          <p:cNvPr id="41" name="diagnose">
            <a:extLst>
              <a:ext uri="{FF2B5EF4-FFF2-40B4-BE49-F238E27FC236}">
                <a16:creationId xmlns:a16="http://schemas.microsoft.com/office/drawing/2014/main" id="{D318488E-90D6-7B2B-BEAF-19C211A387E5}"/>
              </a:ext>
            </a:extLst>
          </p:cNvPr>
          <p:cNvSpPr/>
          <p:nvPr/>
        </p:nvSpPr>
        <p:spPr>
          <a:xfrm>
            <a:off x="8890000" y="2717800"/>
            <a:ext cx="2997200" cy="4826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归因
几何约束不足／旧地图失配</a:t>
            </a:r>
          </a:p>
        </p:txBody>
      </p:sp>
      <p:sp>
        <p:nvSpPr>
          <p:cNvPr id="42" name="recover">
            <a:extLst>
              <a:ext uri="{FF2B5EF4-FFF2-40B4-BE49-F238E27FC236}">
                <a16:creationId xmlns:a16="http://schemas.microsoft.com/office/drawing/2014/main" id="{884C6AF9-8BDD-2DE8-446D-1CC7F3CFECEB}"/>
              </a:ext>
            </a:extLst>
          </p:cNvPr>
          <p:cNvSpPr/>
          <p:nvPr/>
        </p:nvSpPr>
        <p:spPr>
          <a:xfrm>
            <a:off x="8890000" y="3340100"/>
            <a:ext cx="2997200" cy="4826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恢复
重定位／重新获得稳定约束</a:t>
            </a:r>
          </a:p>
        </p:txBody>
      </p:sp>
      <p:sp>
        <p:nvSpPr>
          <p:cNvPr id="43" name="confirm">
            <a:extLst>
              <a:ext uri="{FF2B5EF4-FFF2-40B4-BE49-F238E27FC236}">
                <a16:creationId xmlns:a16="http://schemas.microsoft.com/office/drawing/2014/main" id="{5677D4F2-48F6-8C9E-7136-F8249DA124B0}"/>
              </a:ext>
            </a:extLst>
          </p:cNvPr>
          <p:cNvSpPr/>
          <p:nvPr/>
        </p:nvSpPr>
        <p:spPr>
          <a:xfrm>
            <a:off x="8890000" y="3962400"/>
            <a:ext cx="2997200" cy="482600"/>
          </a:xfrm>
          <a:prstGeom prst="roundRect">
            <a:avLst/>
          </a:prstGeom>
          <a:solidFill>
            <a:srgbClr val="FFF1E5"/>
          </a:solidFill>
          <a:ln w="16510">
            <a:solidFill>
              <a:srgbClr val="C67A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sz="12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确认
连续窗口内保持定位精度</a:t>
            </a:r>
          </a:p>
        </p:txBody>
      </p:sp>
      <p:pic>
        <p:nvPicPr>
          <p:cNvPr id="45" name="gazebo" descr="Raster-only visual evidence: One simulator-rendered corridor viewport from our genuine live video; UI, Terminal and RViz excluded">
            <a:extLst>
              <a:ext uri="{FF2B5EF4-FFF2-40B4-BE49-F238E27FC236}">
                <a16:creationId xmlns:a16="http://schemas.microsoft.com/office/drawing/2014/main" id="{B8D09F0D-9A91-CF1A-D7B1-0C12232BAC6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0" y="4660900"/>
            <a:ext cx="2997200" cy="1590802"/>
          </a:xfrm>
          <a:prstGeom prst="rect">
            <a:avLst/>
          </a:prstGeom>
        </p:spPr>
      </p:pic>
      <p:sp>
        <p:nvSpPr>
          <p:cNvPr id="46" name="gazebo-caption">
            <a:extLst>
              <a:ext uri="{FF2B5EF4-FFF2-40B4-BE49-F238E27FC236}">
                <a16:creationId xmlns:a16="http://schemas.microsoft.com/office/drawing/2014/main" id="{1679A34F-2F41-EE7B-90ED-CD2A372F683A}"/>
              </a:ext>
            </a:extLst>
          </p:cNvPr>
          <p:cNvSpPr txBox="1"/>
          <p:nvPr/>
        </p:nvSpPr>
        <p:spPr>
          <a:xfrm>
            <a:off x="8890000" y="6311900"/>
            <a:ext cx="2997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 </a:t>
            </a:r>
            <a:r>
              <a:rPr lang="en-US" altLang="zh-CN" sz="11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Gazebo </a:t>
            </a:r>
            <a:r>
              <a:rPr lang="zh-CN" altLang="en-US" sz="1100">
                <a:solidFill>
                  <a:srgbClr val="22324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退化场景</a:t>
            </a:r>
          </a:p>
        </p:txBody>
      </p:sp>
      <p:sp>
        <p:nvSpPr>
          <p:cNvPr id="50" name="failure-label">
            <a:extLst>
              <a:ext uri="{FF2B5EF4-FFF2-40B4-BE49-F238E27FC236}">
                <a16:creationId xmlns:a16="http://schemas.microsoft.com/office/drawing/2014/main" id="{1978E273-54EE-CD89-5BA7-B7FD9E3CE415}"/>
              </a:ext>
            </a:extLst>
          </p:cNvPr>
          <p:cNvSpPr txBox="1"/>
          <p:nvPr/>
        </p:nvSpPr>
        <p:spPr>
          <a:xfrm>
            <a:off x="8496300" y="1155700"/>
            <a:ext cx="3683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A867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失效</a:t>
            </a:r>
          </a:p>
        </p:txBody>
      </p:sp>
      <p:cxnSp>
        <p:nvCxnSpPr>
          <p:cNvPr id="55" name="pose-to-map">
            <a:extLst>
              <a:ext uri="{FF2B5EF4-FFF2-40B4-BE49-F238E27FC236}">
                <a16:creationId xmlns:a16="http://schemas.microsoft.com/office/drawing/2014/main" id="{712F9616-CE7E-4C48-9B71-39AD9C11CA87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8293100" y="1930400"/>
            <a:ext cx="0" cy="1244600"/>
          </a:xfrm>
          <a:prstGeom prst="line">
            <a:avLst/>
          </a:prstGeom>
          <a:ln w="19050">
            <a:solidFill>
              <a:srgbClr val="326BB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map-to-pose">
            <a:extLst>
              <a:ext uri="{FF2B5EF4-FFF2-40B4-BE49-F238E27FC236}">
                <a16:creationId xmlns:a16="http://schemas.microsoft.com/office/drawing/2014/main" id="{58A42E49-179A-9F9F-7973-537051895CA3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flipV="1">
            <a:off x="5588000" y="1930400"/>
            <a:ext cx="0" cy="1244600"/>
          </a:xfrm>
          <a:prstGeom prst="line">
            <a:avLst/>
          </a:prstGeom>
          <a:ln w="19050">
            <a:solidFill>
              <a:srgbClr val="418065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map-feedback-label">
            <a:extLst>
              <a:ext uri="{FF2B5EF4-FFF2-40B4-BE49-F238E27FC236}">
                <a16:creationId xmlns:a16="http://schemas.microsoft.com/office/drawing/2014/main" id="{A9CC5F64-230C-C911-3A36-40BCFD4A836F}"/>
              </a:ext>
            </a:extLst>
          </p:cNvPr>
          <p:cNvSpPr txBox="1"/>
          <p:nvPr/>
        </p:nvSpPr>
        <p:spPr>
          <a:xfrm>
            <a:off x="5676900" y="2908300"/>
            <a:ext cx="147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4180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地图约束位姿</a:t>
            </a:r>
          </a:p>
        </p:txBody>
      </p:sp>
      <p:sp>
        <p:nvSpPr>
          <p:cNvPr id="58" name="map-output-label">
            <a:extLst>
              <a:ext uri="{FF2B5EF4-FFF2-40B4-BE49-F238E27FC236}">
                <a16:creationId xmlns:a16="http://schemas.microsoft.com/office/drawing/2014/main" id="{B91F8393-F341-CC99-A504-D267E68B3F43}"/>
              </a:ext>
            </a:extLst>
          </p:cNvPr>
          <p:cNvSpPr txBox="1"/>
          <p:nvPr/>
        </p:nvSpPr>
        <p:spPr>
          <a:xfrm>
            <a:off x="7150100" y="2908300"/>
            <a:ext cx="104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326BB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位姿用于建图</a:t>
            </a:r>
          </a:p>
        </p:txBody>
      </p:sp>
      <p:sp>
        <p:nvSpPr>
          <p:cNvPr id="59" name="scope">
            <a:extLst>
              <a:ext uri="{FF2B5EF4-FFF2-40B4-BE49-F238E27FC236}">
                <a16:creationId xmlns:a16="http://schemas.microsoft.com/office/drawing/2014/main" id="{532C97CF-26D0-4102-1E54-3262DF032254}"/>
              </a:ext>
            </a:extLst>
          </p:cNvPr>
          <p:cNvSpPr txBox="1"/>
          <p:nvPr/>
        </p:nvSpPr>
        <p:spPr>
          <a:xfrm>
            <a:off x="304800" y="6578600"/>
            <a:ext cx="11582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5262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当前范围：二维 </a:t>
            </a:r>
            <a:r>
              <a:rPr lang="en-US" altLang="zh-CN" sz="1100">
                <a:solidFill>
                  <a:srgbClr val="5262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SLAM</a:t>
            </a:r>
            <a:r>
              <a:rPr lang="zh-CN" altLang="en-US" sz="1100">
                <a:solidFill>
                  <a:srgbClr val="5262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＋给定位姿三维建图＋固定地图定位；实体机器人测试待测。</a:t>
            </a:r>
          </a:p>
        </p:txBody>
      </p:sp>
    </p:spTree>
    <p:extLst>
      <p:ext uri="{BB962C8B-B14F-4D97-AF65-F5344CB8AC3E}">
        <p14:creationId xmlns:p14="http://schemas.microsoft.com/office/powerpoint/2010/main" val="36386562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recover"/>
  <p:tag name="SCIENTIFICILLUSTRATORTARGETNAME" val="confirm"/>
  <p:tag name="SCIENTIFICILLUSTRATORSOURCESITE" val="3"/>
  <p:tag name="SCIENTIFICILLUSTRATORTARGETSIT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diagnose"/>
  <p:tag name="SCIENTIFICILLUSTRATORTARGETNAME" val="recover"/>
  <p:tag name="SCIENTIFICILLUSTRATORSOURCESITE" val="3"/>
  <p:tag name="SCIENTIFICILLUSTRATORTARGETSIT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detect"/>
  <p:tag name="SCIENTIFICILLUSTRATORTARGETNAME" val="diagnose"/>
  <p:tag name="SCIENTIFICILLUSTRATORSOURCESITE" val="3"/>
  <p:tag name="SCIENTIFICILLUSTRATORTARGETSIT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recovery"/>
  <p:tag name="SCIENTIFICILLUSTRATORTARGETNAME" val="detect"/>
  <p:tag name="SCIENTIFICILLUSTRATORSOURCESITE" val="3"/>
  <p:tag name="SCIENTIFICILLUSTRATORTARGETSIT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pose"/>
  <p:tag name="SCIENTIFICILLUSTRATORTARGETNAME" val="recovery"/>
  <p:tag name="SCIENTIFICILLUSTRATORSOURCESITE" val="4"/>
  <p:tag name="SCIENTIFICILLUSTRATORTARGETSITE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observations"/>
  <p:tag name="SCIENTIFICILLUSTRATORTARGETNAME" val="pose"/>
  <p:tag name="SCIENTIFICILLUSTRATORSOURCESITE" val="4"/>
  <p:tag name="SCIENTIFICILLUSTRATORTARGETSITE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SOURCENAME" val="platform"/>
  <p:tag name="SCIENTIFICILLUSTRATORTARGETNAME" val="observations"/>
  <p:tag name="SCIENTIFICILLUSTRATORSOURCESITE" val="4"/>
  <p:tag name="SCIENTIFICILLUSTRATORTARGETSITE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user-supplied photograph of the physical chassis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robot\chassis.jp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user-supplied photograph of the actual sensors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robot\sensors.p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actual LaserScan geometric field from the recorded ROS bag; no axes or labels are rasterized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direction\scan-2d.p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dense actual 3D LiDAR scan, rendered from recorded point data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direction\scan-3d.p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dense recorded 3D map field from controlled provided-pose mapping A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direction\map-3d.p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RASTERREASON" val="One simulator-rendered corridor viewport from our genuine live video; UI, Terminal and RViz excluded"/>
  <p:tag name="SCIENTIFICILLUSTRATORSOURCETIGHTLYCROPPED" val="True"/>
  <p:tag name="SCIENTIFICILLUSTRATORATOMICRASTERUNIT" val="True"/>
  <p:tag name="SCIENTIFICILLUSTRATORCONTAINSRECONSTRUCTABLECONTENT" val="False"/>
  <p:tag name="SCIENTIFICILLUSTRATORDECOMPOSITIONNOTE" val="One independent photographic or dense geometric field; captions, process boxes and all arrows remain separate native objects."/>
  <p:tag name="SCIENTIFICILLUSTRATORSOURCEPATH" val="D:\workspace\be2\slam_learning_updated\docs\assets\direction\gazebo-corridor.p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53"/>
  <p:tag name="SCIENTIFICILLUSTRATORBEGINY" val="152"/>
  <p:tag name="SCIENTIFICILLUSTRATORENDX" val="653"/>
  <p:tag name="SCIENTIFICILLUSTRATORENDY" val="250"/>
  <p:tag name="SCIENTIFICILLUSTRATORSTARTCLEARANCE" val="2"/>
  <p:tag name="SCIENTIFICILLUSTRATORENDCLEARANC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40"/>
  <p:tag name="SCIENTIFICILLUSTRATORBEGINY" val="250"/>
  <p:tag name="SCIENTIFICILLUSTRATORENDX" val="440"/>
  <p:tag name="SCIENTIFICILLUSTRATORENDY" val="152"/>
  <p:tag name="SCIENTIFICILLUSTRATORSTARTCLEARANCE" val="2"/>
  <p:tag name="SCIENTIFICILLUSTRATORENDCLEARANCE" val="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269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Zilin Zhu</dc:creator>
  <cp:lastModifiedBy>Zilin Zhu</cp:lastModifiedBy>
  <cp:revision>2</cp:revision>
  <dcterms:created xsi:type="dcterms:W3CDTF">2026-10-14T19:36:22Z</dcterms:created>
  <dcterms:modified xsi:type="dcterms:W3CDTF">2026-10-14T19:37:28Z</dcterms:modified>
</cp:coreProperties>
</file>