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F6B38-3A64-4CC4-4961-24C3BC395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3BE4D0-6D21-642D-89D5-7C40770F9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E50F17-9DE6-91AC-A29C-B207506D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F072-AC21-4C80-98E9-D21021CF104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4A9E56-6012-9748-BB94-CB6EB6A8A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FFA6C7-1B99-17AD-C9BF-4F575A82B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6D2D-AD46-4F9F-84F1-17F81D7E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71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B40BB-14B3-F7DA-016B-48036F8A4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C66DD7-973C-8387-537C-EE016B737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5C300F-FBD3-CF04-AB3D-E0C0C0EA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F072-AC21-4C80-98E9-D21021CF104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872730-6F9F-C14E-62F9-D2E029A77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4036D-0663-957D-51CD-2CACDB3C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6D2D-AD46-4F9F-84F1-17F81D7E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51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C5E88-AA2D-306E-52C5-C5EAC58D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ACAC2B-1CC5-3D02-C224-737218185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EB626E-E8F5-05DD-BB4F-E6AD6A44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F072-AC21-4C80-98E9-D21021CF104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07B72D-C6FF-5C39-B679-AF655CC0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281180-B627-6E55-8A9F-823D594E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6D2D-AD46-4F9F-84F1-17F81D7E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653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3D420-6528-7DB2-06B1-9C0821EF0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2D4F88-7D10-23FD-DE66-454A76A2B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21E0AA-7795-1343-B90E-F7278B61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23CD38-8338-C9AB-E369-030A9FB34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F072-AC21-4C80-98E9-D21021CF104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7E6D16-48E1-BC5D-80FB-E47BFAB57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6E8177-CB0F-1563-A44F-9E5B6055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6D2D-AD46-4F9F-84F1-17F81D7E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432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D8C347-1327-46E1-147B-CE307F317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700741-495C-3993-ADE6-D3251C3DE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46FB36-54E1-9C0F-BB1A-83488A5AF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924886-4857-0DFF-95EE-F61DA674B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E06A23-4C74-4EBE-2D6B-5C489DD16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15B3D3-F290-FF85-4342-D1558591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F072-AC21-4C80-98E9-D21021CF104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E4A01DC-ECF1-F8A6-2130-66BBAD8E5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C2042F-8BA3-43E6-4F44-320B3058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6D2D-AD46-4F9F-84F1-17F81D7E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79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09874-EA83-5468-9D5E-421476DF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763EF4-BFAB-7164-8FDB-BFE819E5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F072-AC21-4C80-98E9-D21021CF104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3F7988-7E2A-80B9-A3E4-4163847DB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5F1E6B-000F-5F9B-8E6A-F6710E97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6D2D-AD46-4F9F-84F1-17F81D7E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90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CA791A-C97E-D915-C12E-BE600777B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F072-AC21-4C80-98E9-D21021CF104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38DD7C-BFCD-4D02-ADF9-7066EFE5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F1B1FC-59BB-05FB-4B6C-8B4D421A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6D2D-AD46-4F9F-84F1-17F81D7E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18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7DFC1-B5E5-BB4B-6B75-A7DA63AA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B0CB25-BDFE-1F7C-BC32-F30046FD0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2B21F-F969-F5CD-032F-507A333DA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56DA3C-0800-7D3A-3C88-E017E7E7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F072-AC21-4C80-98E9-D21021CF104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B59D10-4703-2A12-769E-18C4610C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AB98EF-61A1-7F7A-9D9D-5ED938C6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6D2D-AD46-4F9F-84F1-17F81D7E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001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C14D5-D7AE-BB50-527D-BAE565917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F8D542-664C-7753-8B8C-C1756CD3345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D87A54-E372-EDBF-5AB8-7F04AF8F9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5CE41A-E614-CB23-8086-E9764815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F072-AC21-4C80-98E9-D21021CF104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395891-9288-EFA0-2CC9-634D0596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A737C4-69EE-D092-4EE9-BA90E3519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6D2D-AD46-4F9F-84F1-17F81D7E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429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FA45A-D80A-1569-77F3-7D529C08D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7EB66B-405F-1703-5443-B20689DC7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E04DEC-D63F-F28D-6ADF-3D73A41C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F072-AC21-4C80-98E9-D21021CF104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23E603-F423-6602-BB77-9DD598382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6C03B9-DB27-AAD7-764C-D66E0B8A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6D2D-AD46-4F9F-84F1-17F81D7E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04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B3ECC4F-FCF3-3317-050C-542B8EDCC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F83485-928F-BF1A-AC81-59AD28124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1CBB9B-D3A7-8724-EBE4-CE148772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F072-AC21-4C80-98E9-D21021CF104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AF541-4E18-650E-0925-D718187FB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BC383D-86DA-0824-9865-CBACE5D9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6D2D-AD46-4F9F-84F1-17F81D7E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98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30B854-7BDA-5E52-1A5E-F8BC00FD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48EC39-1742-ABC8-E701-AC742FDBA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6A304E-E118-1A2B-5F4C-8DD410915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FF072-AC21-4C80-98E9-D21021CF104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1BF7C5-E50B-30DD-90A4-C0550C947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8C5369-7065-FF54-93AB-590BC0798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B6D2D-AD46-4F9F-84F1-17F81D7E5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23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jp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check">
            <a:extLst>
              <a:ext uri="{FF2B5EF4-FFF2-40B4-BE49-F238E27FC236}">
                <a16:creationId xmlns:a16="http://schemas.microsoft.com/office/drawing/2014/main" id="{986CD256-B6BA-D45E-4CB1-5167E9D4B369}"/>
              </a:ext>
            </a:extLst>
          </p:cNvPr>
          <p:cNvCxnSpPr>
            <a:cxnSpLocks/>
            <a:stCxn id="18" idx="2"/>
            <a:endCxn id="19" idx="0"/>
          </p:cNvCxnSpPr>
          <p:nvPr>
            <p:custDataLst>
              <p:tags r:id="rId1"/>
            </p:custDataLst>
          </p:nvPr>
        </p:nvCxnSpPr>
        <p:spPr>
          <a:xfrm>
            <a:off x="10033000" y="4572000"/>
            <a:ext cx="0" cy="444500"/>
          </a:xfrm>
          <a:prstGeom prst="straightConnector1">
            <a:avLst/>
          </a:prstGeom>
          <a:ln w="2540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ct">
            <a:extLst>
              <a:ext uri="{FF2B5EF4-FFF2-40B4-BE49-F238E27FC236}">
                <a16:creationId xmlns:a16="http://schemas.microsoft.com/office/drawing/2014/main" id="{14E57758-E1A4-0FB3-0A38-38265EDE6566}"/>
              </a:ext>
            </a:extLst>
          </p:cNvPr>
          <p:cNvCxnSpPr>
            <a:cxnSpLocks/>
            <a:stCxn id="17" idx="2"/>
            <a:endCxn id="18" idx="0"/>
          </p:cNvCxnSpPr>
          <p:nvPr>
            <p:custDataLst>
              <p:tags r:id="rId2"/>
            </p:custDataLst>
          </p:nvPr>
        </p:nvCxnSpPr>
        <p:spPr>
          <a:xfrm>
            <a:off x="10033000" y="3365500"/>
            <a:ext cx="0" cy="444500"/>
          </a:xfrm>
          <a:prstGeom prst="straightConnector1">
            <a:avLst/>
          </a:prstGeom>
          <a:ln w="2540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iagnose">
            <a:extLst>
              <a:ext uri="{FF2B5EF4-FFF2-40B4-BE49-F238E27FC236}">
                <a16:creationId xmlns:a16="http://schemas.microsoft.com/office/drawing/2014/main" id="{D1ACB3B0-F6C2-9F8E-3539-43320E48D475}"/>
              </a:ext>
            </a:extLst>
          </p:cNvPr>
          <p:cNvCxnSpPr>
            <a:cxnSpLocks/>
            <a:stCxn id="16" idx="2"/>
            <a:endCxn id="17" idx="0"/>
          </p:cNvCxnSpPr>
          <p:nvPr>
            <p:custDataLst>
              <p:tags r:id="rId3"/>
            </p:custDataLst>
          </p:nvPr>
        </p:nvCxnSpPr>
        <p:spPr>
          <a:xfrm>
            <a:off x="10033000" y="2159000"/>
            <a:ext cx="0" cy="444500"/>
          </a:xfrm>
          <a:prstGeom prst="straightConnector1">
            <a:avLst/>
          </a:prstGeom>
          <a:ln w="2540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ailure">
            <a:extLst>
              <a:ext uri="{FF2B5EF4-FFF2-40B4-BE49-F238E27FC236}">
                <a16:creationId xmlns:a16="http://schemas.microsoft.com/office/drawing/2014/main" id="{0E3258E9-926B-0713-F20E-65B48D378201}"/>
              </a:ext>
            </a:extLst>
          </p:cNvPr>
          <p:cNvCxnSpPr>
            <a:cxnSpLocks/>
            <a:stCxn id="8" idx="3"/>
            <a:endCxn id="16" idx="1"/>
          </p:cNvCxnSpPr>
          <p:nvPr>
            <p:custDataLst>
              <p:tags r:id="rId4"/>
            </p:custDataLst>
          </p:nvPr>
        </p:nvCxnSpPr>
        <p:spPr>
          <a:xfrm>
            <a:off x="7556500" y="1778000"/>
            <a:ext cx="698500" cy="0"/>
          </a:xfrm>
          <a:prstGeom prst="straightConnector1">
            <a:avLst/>
          </a:prstGeom>
          <a:ln w="2540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bserve">
            <a:extLst>
              <a:ext uri="{FF2B5EF4-FFF2-40B4-BE49-F238E27FC236}">
                <a16:creationId xmlns:a16="http://schemas.microsoft.com/office/drawing/2014/main" id="{DEB13F8F-16C2-45C3-F264-370971F549E1}"/>
              </a:ext>
            </a:extLst>
          </p:cNvPr>
          <p:cNvCxnSpPr>
            <a:cxnSpLocks/>
            <a:stCxn id="4" idx="3"/>
            <a:endCxn id="8" idx="1"/>
          </p:cNvCxnSpPr>
          <p:nvPr>
            <p:custDataLst>
              <p:tags r:id="rId5"/>
            </p:custDataLst>
          </p:nvPr>
        </p:nvCxnSpPr>
        <p:spPr>
          <a:xfrm>
            <a:off x="3111500" y="1778000"/>
            <a:ext cx="889000" cy="0"/>
          </a:xfrm>
          <a:prstGeom prst="straightConnector1">
            <a:avLst/>
          </a:prstGeom>
          <a:ln w="2540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">
            <a:extLst>
              <a:ext uri="{FF2B5EF4-FFF2-40B4-BE49-F238E27FC236}">
                <a16:creationId xmlns:a16="http://schemas.microsoft.com/office/drawing/2014/main" id="{70EC84B2-133B-91A6-6D3B-F9525DFFB5A2}"/>
              </a:ext>
            </a:extLst>
          </p:cNvPr>
          <p:cNvSpPr txBox="1"/>
          <p:nvPr/>
        </p:nvSpPr>
        <p:spPr>
          <a:xfrm>
            <a:off x="330200" y="254000"/>
            <a:ext cx="1143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173653"/>
                </a:solidFill>
                <a:latin typeface="Microsoft YaHei" panose="020B0503020204020204" pitchFamily="34" charset="-122"/>
              </a:rPr>
              <a:t>SLAM</a:t>
            </a:r>
            <a:r>
              <a:rPr lang="zh-CN" altLang="en-US" sz="2800" b="1">
                <a:solidFill>
                  <a:srgbClr val="173653"/>
                </a:solidFill>
                <a:latin typeface="Microsoft YaHei" panose="020B0503020204020204" pitchFamily="34" charset="-122"/>
              </a:rPr>
              <a:t>：同时估计位姿与地图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5CC6D13-5303-C8DF-B14C-A8FD6933884F}"/>
              </a:ext>
            </a:extLst>
          </p:cNvPr>
          <p:cNvSpPr txBox="1"/>
          <p:nvPr/>
        </p:nvSpPr>
        <p:spPr>
          <a:xfrm>
            <a:off x="330200" y="838200"/>
            <a:ext cx="11430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>
                <a:solidFill>
                  <a:srgbClr val="22324A"/>
                </a:solidFill>
                <a:latin typeface="Microsoft YaHei" panose="020B0503020204020204" pitchFamily="34" charset="-122"/>
              </a:rPr>
              <a:t>开放问题位于定位失效后的恢复闭环；动态地图清理是可检验的影响因素</a:t>
            </a:r>
          </a:p>
        </p:txBody>
      </p:sp>
      <p:sp>
        <p:nvSpPr>
          <p:cNvPr id="4" name="inputs">
            <a:extLst>
              <a:ext uri="{FF2B5EF4-FFF2-40B4-BE49-F238E27FC236}">
                <a16:creationId xmlns:a16="http://schemas.microsoft.com/office/drawing/2014/main" id="{69784C65-8FB2-E618-AA8D-F148618CB3E1}"/>
              </a:ext>
            </a:extLst>
          </p:cNvPr>
          <p:cNvSpPr/>
          <p:nvPr/>
        </p:nvSpPr>
        <p:spPr>
          <a:xfrm>
            <a:off x="381000" y="1397000"/>
            <a:ext cx="2730500" cy="762000"/>
          </a:xfrm>
          <a:prstGeom prst="roundRect">
            <a:avLst/>
          </a:prstGeom>
          <a:solidFill>
            <a:srgbClr val="E9F2FF"/>
          </a:solidFill>
          <a:ln w="17780">
            <a:solidFill>
              <a:srgbClr val="326B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>
                <a:solidFill>
                  <a:srgbClr val="22324A"/>
                </a:solidFill>
                <a:latin typeface="Microsoft YaHei" panose="020B0503020204020204" pitchFamily="34" charset="-122"/>
              </a:rPr>
              <a:t>激光 </a:t>
            </a:r>
            <a:r>
              <a:rPr lang="en-US" altLang="zh-CN" sz="1600">
                <a:solidFill>
                  <a:srgbClr val="22324A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22324A"/>
                </a:solidFill>
                <a:latin typeface="Microsoft YaHei" panose="020B0503020204020204" pitchFamily="34" charset="-122"/>
              </a:rPr>
              <a:t>相机观测 </a:t>
            </a:r>
            <a:r>
              <a:rPr lang="en-US" altLang="zh-CN" sz="1600">
                <a:solidFill>
                  <a:srgbClr val="22324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600">
                <a:solidFill>
                  <a:srgbClr val="22324A"/>
                </a:solidFill>
                <a:latin typeface="Microsoft YaHei" panose="020B0503020204020204" pitchFamily="34" charset="-122"/>
              </a:rPr>
              <a:t>轮速里程计</a:t>
            </a:r>
          </a:p>
        </p:txBody>
      </p:sp>
      <p:sp>
        <p:nvSpPr>
          <p:cNvPr id="5" name="physical-heading">
            <a:extLst>
              <a:ext uri="{FF2B5EF4-FFF2-40B4-BE49-F238E27FC236}">
                <a16:creationId xmlns:a16="http://schemas.microsoft.com/office/drawing/2014/main" id="{2B2D64CF-068B-B730-F2BB-DE376C15C39D}"/>
              </a:ext>
            </a:extLst>
          </p:cNvPr>
          <p:cNvSpPr txBox="1"/>
          <p:nvPr/>
        </p:nvSpPr>
        <p:spPr>
          <a:xfrm>
            <a:off x="381000" y="2413000"/>
            <a:ext cx="2730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b="1">
                <a:solidFill>
                  <a:srgbClr val="173653"/>
                </a:solidFill>
                <a:latin typeface="Microsoft YaHei" panose="020B0503020204020204" pitchFamily="34" charset="-122"/>
              </a:rPr>
              <a:t>已有实体硬件</a:t>
            </a:r>
          </a:p>
        </p:txBody>
      </p:sp>
      <p:sp>
        <p:nvSpPr>
          <p:cNvPr id="6" name="photo-chassis-label">
            <a:extLst>
              <a:ext uri="{FF2B5EF4-FFF2-40B4-BE49-F238E27FC236}">
                <a16:creationId xmlns:a16="http://schemas.microsoft.com/office/drawing/2014/main" id="{DA3A7715-C55B-9879-A463-7713F1DF8B2B}"/>
              </a:ext>
            </a:extLst>
          </p:cNvPr>
          <p:cNvSpPr txBox="1"/>
          <p:nvPr/>
        </p:nvSpPr>
        <p:spPr>
          <a:xfrm>
            <a:off x="381000" y="4610100"/>
            <a:ext cx="273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22324A"/>
                </a:solidFill>
                <a:latin typeface="Microsoft YaHei" panose="020B0503020204020204" pitchFamily="34" charset="-122"/>
              </a:rPr>
              <a:t>三轮全向底盘</a:t>
            </a:r>
          </a:p>
        </p:txBody>
      </p:sp>
      <p:sp>
        <p:nvSpPr>
          <p:cNvPr id="7" name="photo-sensor-label">
            <a:extLst>
              <a:ext uri="{FF2B5EF4-FFF2-40B4-BE49-F238E27FC236}">
                <a16:creationId xmlns:a16="http://schemas.microsoft.com/office/drawing/2014/main" id="{4E608BE2-2D74-8249-776F-0382C6FB90B5}"/>
              </a:ext>
            </a:extLst>
          </p:cNvPr>
          <p:cNvSpPr txBox="1"/>
          <p:nvPr/>
        </p:nvSpPr>
        <p:spPr>
          <a:xfrm>
            <a:off x="381000" y="6261100"/>
            <a:ext cx="273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22324A"/>
                </a:solidFill>
                <a:latin typeface="Microsoft YaHei" panose="020B0503020204020204" pitchFamily="34" charset="-122"/>
              </a:rPr>
              <a:t>二维激光 </a:t>
            </a:r>
            <a:r>
              <a:rPr lang="en-US" altLang="zh-CN" sz="1400">
                <a:solidFill>
                  <a:srgbClr val="22324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22324A"/>
                </a:solidFill>
                <a:latin typeface="Microsoft YaHei" panose="020B0503020204020204" pitchFamily="34" charset="-122"/>
              </a:rPr>
              <a:t>深度相机</a:t>
            </a:r>
          </a:p>
        </p:txBody>
      </p:sp>
      <p:sp>
        <p:nvSpPr>
          <p:cNvPr id="8" name="pose">
            <a:extLst>
              <a:ext uri="{FF2B5EF4-FFF2-40B4-BE49-F238E27FC236}">
                <a16:creationId xmlns:a16="http://schemas.microsoft.com/office/drawing/2014/main" id="{CA24D47C-B752-5577-F436-DDC5F51AF9EB}"/>
              </a:ext>
            </a:extLst>
          </p:cNvPr>
          <p:cNvSpPr/>
          <p:nvPr/>
        </p:nvSpPr>
        <p:spPr>
          <a:xfrm>
            <a:off x="4000500" y="1397000"/>
            <a:ext cx="3556000" cy="762000"/>
          </a:xfrm>
          <a:prstGeom prst="roundRect">
            <a:avLst/>
          </a:prstGeom>
          <a:solidFill>
            <a:srgbClr val="E9F2FF"/>
          </a:solidFill>
          <a:ln w="17780">
            <a:solidFill>
              <a:srgbClr val="326B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>
                <a:solidFill>
                  <a:srgbClr val="22324A"/>
                </a:solidFill>
                <a:latin typeface="Microsoft YaHei" panose="020B0503020204020204" pitchFamily="34" charset="-122"/>
              </a:rPr>
              <a:t>位姿估计 </a:t>
            </a:r>
            <a:r>
              <a:rPr lang="en-US" altLang="zh-CN" sz="1600">
                <a:solidFill>
                  <a:srgbClr val="22324A"/>
                </a:solidFill>
                <a:latin typeface="Microsoft YaHei" panose="020B0503020204020204" pitchFamily="34" charset="-122"/>
              </a:rPr>
              <a:t>/ Localization
</a:t>
            </a:r>
            <a:r>
              <a:rPr lang="zh-CN" altLang="en-US" sz="1600">
                <a:solidFill>
                  <a:srgbClr val="22324A"/>
                </a:solidFill>
                <a:latin typeface="Microsoft YaHei" panose="020B0503020204020204" pitchFamily="34" charset="-122"/>
              </a:rPr>
              <a:t>扫描与地图匹配 → 机器人位置</a:t>
            </a:r>
          </a:p>
        </p:txBody>
      </p:sp>
      <p:sp>
        <p:nvSpPr>
          <p:cNvPr id="9" name="mapping">
            <a:extLst>
              <a:ext uri="{FF2B5EF4-FFF2-40B4-BE49-F238E27FC236}">
                <a16:creationId xmlns:a16="http://schemas.microsoft.com/office/drawing/2014/main" id="{B0439555-59C2-CE3C-388D-4DFAE434B7C6}"/>
              </a:ext>
            </a:extLst>
          </p:cNvPr>
          <p:cNvSpPr/>
          <p:nvPr/>
        </p:nvSpPr>
        <p:spPr>
          <a:xfrm>
            <a:off x="4000500" y="3619500"/>
            <a:ext cx="3556000" cy="762000"/>
          </a:xfrm>
          <a:prstGeom prst="roundRect">
            <a:avLst/>
          </a:prstGeom>
          <a:solidFill>
            <a:srgbClr val="EAF5EF"/>
          </a:solidFill>
          <a:ln w="17780">
            <a:solidFill>
              <a:srgbClr val="4180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600">
                <a:solidFill>
                  <a:srgbClr val="22324A"/>
                </a:solidFill>
                <a:latin typeface="Microsoft YaHei" panose="020B0503020204020204" pitchFamily="34" charset="-122"/>
              </a:rPr>
              <a:t>地图更新 </a:t>
            </a:r>
            <a:r>
              <a:rPr lang="en-US" altLang="zh-CN" sz="1600">
                <a:solidFill>
                  <a:srgbClr val="22324A"/>
                </a:solidFill>
                <a:latin typeface="Microsoft YaHei" panose="020B0503020204020204" pitchFamily="34" charset="-122"/>
              </a:rPr>
              <a:t>/ Mapping
</a:t>
            </a:r>
            <a:r>
              <a:rPr lang="zh-CN" altLang="en-US" sz="1600">
                <a:solidFill>
                  <a:srgbClr val="22324A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600">
                <a:solidFill>
                  <a:srgbClr val="22324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600">
                <a:solidFill>
                  <a:srgbClr val="22324A"/>
                </a:solidFill>
                <a:latin typeface="Microsoft YaHei" panose="020B0503020204020204" pitchFamily="34" charset="-122"/>
              </a:rPr>
              <a:t>观测 → 环境地图</a:t>
            </a:r>
          </a:p>
        </p:txBody>
      </p:sp>
      <p:sp>
        <p:nvSpPr>
          <p:cNvPr id="10" name="joint-definition">
            <a:extLst>
              <a:ext uri="{FF2B5EF4-FFF2-40B4-BE49-F238E27FC236}">
                <a16:creationId xmlns:a16="http://schemas.microsoft.com/office/drawing/2014/main" id="{F4178D00-7FCA-A93D-84A8-D259472D5AD1}"/>
              </a:ext>
            </a:extLst>
          </p:cNvPr>
          <p:cNvSpPr txBox="1"/>
          <p:nvPr/>
        </p:nvSpPr>
        <p:spPr>
          <a:xfrm>
            <a:off x="4000500" y="4826000"/>
            <a:ext cx="3556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b="1">
                <a:solidFill>
                  <a:srgbClr val="173653"/>
                </a:solidFill>
                <a:latin typeface="Microsoft YaHei" panose="020B0503020204020204" pitchFamily="34" charset="-122"/>
              </a:rPr>
              <a:t>二者联合估计 </a:t>
            </a:r>
            <a:r>
              <a:rPr lang="en-US" altLang="zh-CN" sz="1700" b="1">
                <a:solidFill>
                  <a:srgbClr val="173653"/>
                </a:solidFill>
                <a:latin typeface="Microsoft YaHei" panose="020B0503020204020204" pitchFamily="34" charset="-122"/>
              </a:rPr>
              <a:t>= SLAM
</a:t>
            </a:r>
            <a:r>
              <a:rPr lang="zh-CN" altLang="en-US" sz="1700" b="1">
                <a:solidFill>
                  <a:srgbClr val="173653"/>
                </a:solidFill>
                <a:latin typeface="Microsoft YaHei" panose="020B0503020204020204" pitchFamily="34" charset="-122"/>
              </a:rPr>
              <a:t>使用固定地图只定位 ≠ 同时建图</a:t>
            </a:r>
          </a:p>
        </p:txBody>
      </p:sp>
      <p:sp>
        <p:nvSpPr>
          <p:cNvPr id="11" name="hypothesis-link">
            <a:extLst>
              <a:ext uri="{FF2B5EF4-FFF2-40B4-BE49-F238E27FC236}">
                <a16:creationId xmlns:a16="http://schemas.microsoft.com/office/drawing/2014/main" id="{0D70BF9F-A140-6844-32CA-4F9C8E006702}"/>
              </a:ext>
            </a:extLst>
          </p:cNvPr>
          <p:cNvSpPr txBox="1"/>
          <p:nvPr/>
        </p:nvSpPr>
        <p:spPr>
          <a:xfrm>
            <a:off x="4000500" y="5715000"/>
            <a:ext cx="355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>
                <a:solidFill>
                  <a:srgbClr val="22324A"/>
                </a:solidFill>
                <a:latin typeface="Microsoft YaHei" panose="020B0503020204020204" pitchFamily="34" charset="-122"/>
              </a:rPr>
              <a:t>DUFOMap / BeautyMap → </a:t>
            </a:r>
            <a:r>
              <a:rPr lang="zh-CN" altLang="en-US" sz="1400">
                <a:solidFill>
                  <a:srgbClr val="22324A"/>
                </a:solidFill>
                <a:latin typeface="Microsoft YaHei" panose="020B0503020204020204" pitchFamily="34" charset="-122"/>
              </a:rPr>
              <a:t>地图质量
</a:t>
            </a:r>
            <a:r>
              <a:rPr lang="en-US" altLang="zh-CN" sz="1400">
                <a:solidFill>
                  <a:srgbClr val="22324A"/>
                </a:solidFill>
                <a:latin typeface="Microsoft YaHei" panose="020B0503020204020204" pitchFamily="34" charset="-122"/>
              </a:rPr>
              <a:t>IR-MCL / AdaM-MCL → </a:t>
            </a:r>
            <a:r>
              <a:rPr lang="zh-CN" altLang="en-US" sz="1400">
                <a:solidFill>
                  <a:srgbClr val="22324A"/>
                </a:solidFill>
                <a:latin typeface="Microsoft YaHei" panose="020B0503020204020204" pitchFamily="34" charset="-122"/>
              </a:rPr>
              <a:t>观测与位姿假设</a:t>
            </a:r>
          </a:p>
        </p:txBody>
      </p:sp>
      <p:pic>
        <p:nvPicPr>
          <p:cNvPr id="13" name="chassis-photo" descr="Raster-only visual evidence: User-supplied photograph of the actual omnidirectional robot chassis">
            <a:extLst>
              <a:ext uri="{FF2B5EF4-FFF2-40B4-BE49-F238E27FC236}">
                <a16:creationId xmlns:a16="http://schemas.microsoft.com/office/drawing/2014/main" id="{E5356E72-9939-962B-D926-30F43A93B81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832100"/>
            <a:ext cx="2235200" cy="1676400"/>
          </a:xfrm>
          <a:prstGeom prst="rect">
            <a:avLst/>
          </a:prstGeom>
        </p:spPr>
      </p:pic>
      <p:pic>
        <p:nvPicPr>
          <p:cNvPr id="15" name="sensor-photo" descr="Raster-only visual evidence: User-supplied photograph of the actual sensor hardware">
            <a:extLst>
              <a:ext uri="{FF2B5EF4-FFF2-40B4-BE49-F238E27FC236}">
                <a16:creationId xmlns:a16="http://schemas.microsoft.com/office/drawing/2014/main" id="{10AFAD8C-B946-2399-E16E-7968ADE3E19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016500"/>
            <a:ext cx="1739900" cy="1233805"/>
          </a:xfrm>
          <a:prstGeom prst="rect">
            <a:avLst/>
          </a:prstGeom>
        </p:spPr>
      </p:pic>
      <p:sp>
        <p:nvSpPr>
          <p:cNvPr id="16" name="detect">
            <a:extLst>
              <a:ext uri="{FF2B5EF4-FFF2-40B4-BE49-F238E27FC236}">
                <a16:creationId xmlns:a16="http://schemas.microsoft.com/office/drawing/2014/main" id="{BC3E0135-138D-9EC3-14E8-DFA83BA7A7C2}"/>
              </a:ext>
            </a:extLst>
          </p:cNvPr>
          <p:cNvSpPr/>
          <p:nvPr/>
        </p:nvSpPr>
        <p:spPr>
          <a:xfrm>
            <a:off x="8255000" y="1397000"/>
            <a:ext cx="3556000" cy="762000"/>
          </a:xfrm>
          <a:prstGeom prst="roundRect">
            <a:avLst/>
          </a:prstGeom>
          <a:solidFill>
            <a:srgbClr val="FFF1E5"/>
          </a:solidFill>
          <a:ln w="1778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600">
                <a:solidFill>
                  <a:srgbClr val="583D25"/>
                </a:solidFill>
                <a:latin typeface="Microsoft YaHei" panose="020B0503020204020204" pitchFamily="34" charset="-122"/>
              </a:rPr>
              <a:t>1  </a:t>
            </a:r>
            <a:r>
              <a:rPr lang="zh-CN" altLang="en-US" sz="1600">
                <a:solidFill>
                  <a:srgbClr val="583D25"/>
                </a:solidFill>
                <a:latin typeface="Microsoft YaHei" panose="020B0503020204020204" pitchFamily="34" charset="-122"/>
              </a:rPr>
              <a:t>检测：定位是否失效？
残差 </a:t>
            </a:r>
            <a:r>
              <a:rPr lang="en-US" altLang="zh-CN" sz="1600">
                <a:solidFill>
                  <a:srgbClr val="583D2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583D25"/>
                </a:solidFill>
                <a:latin typeface="Microsoft YaHei" panose="020B0503020204020204" pitchFamily="34" charset="-122"/>
              </a:rPr>
              <a:t>不确定性 </a:t>
            </a:r>
            <a:r>
              <a:rPr lang="en-US" altLang="zh-CN" sz="1600">
                <a:solidFill>
                  <a:srgbClr val="583D2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583D25"/>
                </a:solidFill>
                <a:latin typeface="Microsoft YaHei" panose="020B0503020204020204" pitchFamily="34" charset="-122"/>
              </a:rPr>
              <a:t>连续异常</a:t>
            </a:r>
          </a:p>
        </p:txBody>
      </p:sp>
      <p:sp>
        <p:nvSpPr>
          <p:cNvPr id="17" name="attribute">
            <a:extLst>
              <a:ext uri="{FF2B5EF4-FFF2-40B4-BE49-F238E27FC236}">
                <a16:creationId xmlns:a16="http://schemas.microsoft.com/office/drawing/2014/main" id="{FBFCBC13-D632-9B1A-7C9F-E1F351064974}"/>
              </a:ext>
            </a:extLst>
          </p:cNvPr>
          <p:cNvSpPr/>
          <p:nvPr/>
        </p:nvSpPr>
        <p:spPr>
          <a:xfrm>
            <a:off x="8255000" y="2603500"/>
            <a:ext cx="3556000" cy="762000"/>
          </a:xfrm>
          <a:prstGeom prst="roundRect">
            <a:avLst/>
          </a:prstGeom>
          <a:solidFill>
            <a:srgbClr val="FFF1E5"/>
          </a:solidFill>
          <a:ln w="1778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600">
                <a:solidFill>
                  <a:srgbClr val="583D25"/>
                </a:solidFill>
                <a:latin typeface="Microsoft YaHei" panose="020B0503020204020204" pitchFamily="34" charset="-122"/>
              </a:rPr>
              <a:t>2  </a:t>
            </a:r>
            <a:r>
              <a:rPr lang="zh-CN" altLang="en-US" sz="1600">
                <a:solidFill>
                  <a:srgbClr val="583D25"/>
                </a:solidFill>
                <a:latin typeface="Microsoft YaHei" panose="020B0503020204020204" pitchFamily="34" charset="-122"/>
              </a:rPr>
              <a:t>归因：为什么失效？
几何约束不足 </a:t>
            </a:r>
            <a:r>
              <a:rPr lang="en-US" altLang="zh-CN" sz="1600">
                <a:solidFill>
                  <a:srgbClr val="583D2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583D25"/>
                </a:solidFill>
                <a:latin typeface="Microsoft YaHei" panose="020B0503020204020204" pitchFamily="34" charset="-122"/>
              </a:rPr>
              <a:t>地图失配</a:t>
            </a:r>
          </a:p>
        </p:txBody>
      </p:sp>
      <p:sp>
        <p:nvSpPr>
          <p:cNvPr id="18" name="recover">
            <a:extLst>
              <a:ext uri="{FF2B5EF4-FFF2-40B4-BE49-F238E27FC236}">
                <a16:creationId xmlns:a16="http://schemas.microsoft.com/office/drawing/2014/main" id="{10AE1AC0-A930-838F-076C-F9136F522EE3}"/>
              </a:ext>
            </a:extLst>
          </p:cNvPr>
          <p:cNvSpPr/>
          <p:nvPr/>
        </p:nvSpPr>
        <p:spPr>
          <a:xfrm>
            <a:off x="8255000" y="3810000"/>
            <a:ext cx="3556000" cy="762000"/>
          </a:xfrm>
          <a:prstGeom prst="roundRect">
            <a:avLst/>
          </a:prstGeom>
          <a:solidFill>
            <a:srgbClr val="FFF1E5"/>
          </a:solidFill>
          <a:ln w="1778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600">
                <a:solidFill>
                  <a:srgbClr val="583D25"/>
                </a:solidFill>
                <a:latin typeface="Microsoft YaHei" panose="020B0503020204020204" pitchFamily="34" charset="-122"/>
              </a:rPr>
              <a:t>3  </a:t>
            </a:r>
            <a:r>
              <a:rPr lang="zh-CN" altLang="en-US" sz="1600">
                <a:solidFill>
                  <a:srgbClr val="583D25"/>
                </a:solidFill>
                <a:latin typeface="Microsoft YaHei" panose="020B0503020204020204" pitchFamily="34" charset="-122"/>
              </a:rPr>
              <a:t>恢复：怎样重新找回位置？
重定位 </a:t>
            </a:r>
            <a:r>
              <a:rPr lang="en-US" altLang="zh-CN" sz="1600">
                <a:solidFill>
                  <a:srgbClr val="583D2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583D25"/>
                </a:solidFill>
                <a:latin typeface="Microsoft YaHei" panose="020B0503020204020204" pitchFamily="34" charset="-122"/>
              </a:rPr>
              <a:t>恢复观测 </a:t>
            </a:r>
            <a:r>
              <a:rPr lang="en-US" altLang="zh-CN" sz="1600">
                <a:solidFill>
                  <a:srgbClr val="583D2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583D25"/>
                </a:solidFill>
                <a:latin typeface="Microsoft YaHei" panose="020B0503020204020204" pitchFamily="34" charset="-122"/>
              </a:rPr>
              <a:t>稳定结构</a:t>
            </a:r>
          </a:p>
        </p:txBody>
      </p:sp>
      <p:sp>
        <p:nvSpPr>
          <p:cNvPr id="19" name="confirm">
            <a:extLst>
              <a:ext uri="{FF2B5EF4-FFF2-40B4-BE49-F238E27FC236}">
                <a16:creationId xmlns:a16="http://schemas.microsoft.com/office/drawing/2014/main" id="{3D6B7007-9759-8D23-4882-527C23455F6C}"/>
              </a:ext>
            </a:extLst>
          </p:cNvPr>
          <p:cNvSpPr/>
          <p:nvPr/>
        </p:nvSpPr>
        <p:spPr>
          <a:xfrm>
            <a:off x="8255000" y="5016500"/>
            <a:ext cx="3556000" cy="762000"/>
          </a:xfrm>
          <a:prstGeom prst="roundRect">
            <a:avLst/>
          </a:prstGeom>
          <a:solidFill>
            <a:srgbClr val="FFF1E5"/>
          </a:solidFill>
          <a:ln w="1778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600">
                <a:solidFill>
                  <a:srgbClr val="583D25"/>
                </a:solidFill>
                <a:latin typeface="Microsoft YaHei" panose="020B0503020204020204" pitchFamily="34" charset="-122"/>
              </a:rPr>
              <a:t>4  </a:t>
            </a:r>
            <a:r>
              <a:rPr lang="zh-CN" altLang="en-US" sz="1600">
                <a:solidFill>
                  <a:srgbClr val="583D25"/>
                </a:solidFill>
                <a:latin typeface="Microsoft YaHei" panose="020B0503020204020204" pitchFamily="34" charset="-122"/>
              </a:rPr>
              <a:t>确认：是否持续正确？
独立真值评分 </a:t>
            </a:r>
            <a:r>
              <a:rPr lang="en-US" altLang="zh-CN" sz="1600">
                <a:solidFill>
                  <a:srgbClr val="583D2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583D25"/>
                </a:solidFill>
                <a:latin typeface="Microsoft YaHei" panose="020B0503020204020204" pitchFamily="34" charset="-122"/>
              </a:rPr>
              <a:t>连续窗口</a:t>
            </a:r>
          </a:p>
        </p:txBody>
      </p:sp>
      <p:cxnSp>
        <p:nvCxnSpPr>
          <p:cNvPr id="25" name="pose-to-map">
            <a:extLst>
              <a:ext uri="{FF2B5EF4-FFF2-40B4-BE49-F238E27FC236}">
                <a16:creationId xmlns:a16="http://schemas.microsoft.com/office/drawing/2014/main" id="{98D32CF4-1B0A-900D-8F77-4E61BD5AFC0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4953000" y="2184400"/>
            <a:ext cx="0" cy="1409700"/>
          </a:xfrm>
          <a:prstGeom prst="line">
            <a:avLst/>
          </a:prstGeom>
          <a:ln w="2540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map-to-pose">
            <a:extLst>
              <a:ext uri="{FF2B5EF4-FFF2-40B4-BE49-F238E27FC236}">
                <a16:creationId xmlns:a16="http://schemas.microsoft.com/office/drawing/2014/main" id="{BCCBF4FA-4E9B-5D08-290B-64BEF48777A7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V="1">
            <a:off x="6604000" y="2184400"/>
            <a:ext cx="0" cy="1409700"/>
          </a:xfrm>
          <a:prstGeom prst="line">
            <a:avLst/>
          </a:prstGeom>
          <a:ln w="25400">
            <a:solidFill>
              <a:srgbClr val="418065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map-down-label">
            <a:extLst>
              <a:ext uri="{FF2B5EF4-FFF2-40B4-BE49-F238E27FC236}">
                <a16:creationId xmlns:a16="http://schemas.microsoft.com/office/drawing/2014/main" id="{DFFBF88E-3F2A-0D4A-E17F-0EA39C27A507}"/>
              </a:ext>
            </a:extLst>
          </p:cNvPr>
          <p:cNvSpPr txBox="1"/>
          <p:nvPr/>
        </p:nvSpPr>
        <p:spPr>
          <a:xfrm>
            <a:off x="4089400" y="2667000"/>
            <a:ext cx="8128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326BB7"/>
                </a:solidFill>
                <a:latin typeface="Microsoft YaHei" panose="020B0503020204020204" pitchFamily="34" charset="-122"/>
              </a:rPr>
              <a:t>位姿
用于建图</a:t>
            </a:r>
          </a:p>
        </p:txBody>
      </p:sp>
      <p:sp>
        <p:nvSpPr>
          <p:cNvPr id="28" name="map-up-label">
            <a:extLst>
              <a:ext uri="{FF2B5EF4-FFF2-40B4-BE49-F238E27FC236}">
                <a16:creationId xmlns:a16="http://schemas.microsoft.com/office/drawing/2014/main" id="{AC7D8C33-55BC-E52E-7B9E-80EB47094575}"/>
              </a:ext>
            </a:extLst>
          </p:cNvPr>
          <p:cNvSpPr txBox="1"/>
          <p:nvPr/>
        </p:nvSpPr>
        <p:spPr>
          <a:xfrm>
            <a:off x="6743700" y="2667000"/>
            <a:ext cx="8128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418065"/>
                </a:solidFill>
                <a:latin typeface="Microsoft YaHei" panose="020B0503020204020204" pitchFamily="34" charset="-122"/>
              </a:rPr>
              <a:t>地图
约束定位</a:t>
            </a:r>
          </a:p>
        </p:txBody>
      </p:sp>
      <p:sp>
        <p:nvSpPr>
          <p:cNvPr id="29" name="hardware-status">
            <a:extLst>
              <a:ext uri="{FF2B5EF4-FFF2-40B4-BE49-F238E27FC236}">
                <a16:creationId xmlns:a16="http://schemas.microsoft.com/office/drawing/2014/main" id="{3AF935BD-1EEF-EE11-1FE2-D82EE5324F5B}"/>
              </a:ext>
            </a:extLst>
          </p:cNvPr>
          <p:cNvSpPr txBox="1"/>
          <p:nvPr/>
        </p:nvSpPr>
        <p:spPr>
          <a:xfrm>
            <a:off x="381000" y="6591300"/>
            <a:ext cx="7239000" cy="261610"/>
          </a:xfrm>
          <a:prstGeom prst="rect">
            <a:avLst/>
          </a:prstGeom>
          <a:noFill/>
        </p:spPr>
        <p:txBody>
          <a:bodyPr vert="horz" wrap="square" lIns="0" tIns="0" rtlCol="0">
            <a:noAutofit/>
          </a:bodyPr>
          <a:lstStyle/>
          <a:p>
            <a:r>
              <a:rPr lang="zh-CN" altLang="en-US" sz="1100">
                <a:solidFill>
                  <a:srgbClr val="526277"/>
                </a:solidFill>
                <a:latin typeface="Microsoft YaHei" panose="020B0503020204020204" pitchFamily="34" charset="-122"/>
              </a:rPr>
              <a:t>实体测试：待测；仿真另有独立 </a:t>
            </a:r>
            <a:r>
              <a:rPr lang="en-US" altLang="zh-CN" sz="1100">
                <a:solidFill>
                  <a:srgbClr val="526277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1100">
                <a:solidFill>
                  <a:srgbClr val="526277"/>
                </a:solidFill>
                <a:latin typeface="Microsoft YaHei" panose="020B0503020204020204" pitchFamily="34" charset="-122"/>
              </a:rPr>
              <a:t>激光版本</a:t>
            </a:r>
          </a:p>
        </p:txBody>
      </p:sp>
      <p:sp>
        <p:nvSpPr>
          <p:cNvPr id="30" name="narrow-question">
            <a:extLst>
              <a:ext uri="{FF2B5EF4-FFF2-40B4-BE49-F238E27FC236}">
                <a16:creationId xmlns:a16="http://schemas.microsoft.com/office/drawing/2014/main" id="{2CD8D2F3-1473-56BF-4BA0-2939E834F55E}"/>
              </a:ext>
            </a:extLst>
          </p:cNvPr>
          <p:cNvSpPr txBox="1"/>
          <p:nvPr/>
        </p:nvSpPr>
        <p:spPr>
          <a:xfrm>
            <a:off x="8255000" y="6096000"/>
            <a:ext cx="3556000" cy="523220"/>
          </a:xfrm>
          <a:prstGeom prst="rect">
            <a:avLst/>
          </a:prstGeom>
          <a:noFill/>
        </p:spPr>
        <p:txBody>
          <a:bodyPr vert="horz" wrap="square" lIns="0" tIns="0" rtlCol="0">
            <a:noAutofit/>
          </a:bodyPr>
          <a:lstStyle/>
          <a:p>
            <a:r>
              <a:rPr lang="zh-CN" altLang="en-US" sz="1400">
                <a:solidFill>
                  <a:srgbClr val="583D25"/>
                </a:solidFill>
                <a:latin typeface="Microsoft YaHei" panose="020B0503020204020204" pitchFamily="34" charset="-122"/>
              </a:rPr>
              <a:t>候选收窄：固定地图定位在观测恢复后，
如何减少错误收敛并确认恢复？</a:t>
            </a:r>
          </a:p>
        </p:txBody>
      </p:sp>
    </p:spTree>
    <p:extLst>
      <p:ext uri="{BB962C8B-B14F-4D97-AF65-F5344CB8AC3E}">
        <p14:creationId xmlns:p14="http://schemas.microsoft.com/office/powerpoint/2010/main" val="26414346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recover"/>
  <p:tag name="SCIENTIFICILLUSTRATORTARGETNAME" val="confirm"/>
  <p:tag name="SCIENTIFICILLUSTRATORSOURCESITE" val="3"/>
  <p:tag name="SCIENTIFICILLUSTRATORTARGETSIT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attribute"/>
  <p:tag name="SCIENTIFICILLUSTRATORTARGETNAME" val="recover"/>
  <p:tag name="SCIENTIFICILLUSTRATORSOURCESITE" val="3"/>
  <p:tag name="SCIENTIFICILLUSTRATORTARGETSIT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detect"/>
  <p:tag name="SCIENTIFICILLUSTRATORTARGETNAME" val="attribute"/>
  <p:tag name="SCIENTIFICILLUSTRATORSOURCESITE" val="3"/>
  <p:tag name="SCIENTIFICILLUSTRATORTARGETSIT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pose"/>
  <p:tag name="SCIENTIFICILLUSTRATORTARGETNAME" val="detect"/>
  <p:tag name="SCIENTIFICILLUSTRATORSOURCESITE" val="4"/>
  <p:tag name="SCIENTIFICILLUSTRATORTARGETSITE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inputs"/>
  <p:tag name="SCIENTIFICILLUSTRATORTARGETNAME" val="pose"/>
  <p:tag name="SCIENTIFICILLUSTRATORSOURCESITE" val="4"/>
  <p:tag name="SCIENTIFICILLUSTRATORTARGETSITE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User-supplied photograph of the actual omnidirectional robot chassis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hardware photograph; caption and all diagram arrows are separate native objects"/>
  <p:tag name="SCIENTIFICILLUSTRATORSOURCEPATH" val="D:\workspace\be2\slam_learning_updated\docs\assets\robot\chassis.jp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User-supplied photograph of the actual sensor hardware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sensor photograph; caption and flow objects are separate native objects"/>
  <p:tag name="SCIENTIFICILLUSTRATORSOURCEPATH" val="D:\workspace\be2\slam_learning_updated\docs\assets\robot\sensors.p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90"/>
  <p:tag name="SCIENTIFICILLUSTRATORBEGINY" val="172"/>
  <p:tag name="SCIENTIFICILLUSTRATORENDX" val="390"/>
  <p:tag name="SCIENTIFICILLUSTRATORENDY" val="283"/>
  <p:tag name="SCIENTIFICILLUSTRATORSTARTCLEARANCE" val="2"/>
  <p:tag name="SCIENTIFICILLUSTRATORENDCLEARANCE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20"/>
  <p:tag name="SCIENTIFICILLUSTRATORBEGINY" val="283"/>
  <p:tag name="SCIENTIFICILLUSTRATORENDX" val="520"/>
  <p:tag name="SCIENTIFICILLUSTRATORENDY" val="172"/>
  <p:tag name="SCIENTIFICILLUSTRATORSTARTCLEARANCE" val="2"/>
  <p:tag name="SCIENTIFICILLUSTRATORENDCLEARANCE" val="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Microsoft Office PowerPoint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Zilin Zhu</dc:creator>
  <cp:lastModifiedBy>Zilin Zhu</cp:lastModifiedBy>
  <cp:revision>1</cp:revision>
  <dcterms:created xsi:type="dcterms:W3CDTF">2026-10-14T18:35:02Z</dcterms:created>
  <dcterms:modified xsi:type="dcterms:W3CDTF">2026-10-14T18:35:02Z</dcterms:modified>
</cp:coreProperties>
</file>