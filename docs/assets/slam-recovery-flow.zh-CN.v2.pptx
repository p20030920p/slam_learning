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62D24-0E95-4661-9423-E82DD21FC7DA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FE032D-D255-4673-9636-1605A3BA8A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856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Conceptual SLAM pose-map loop. Localizers: AMCL, IR-MCL, AdaM-MCL, NDT and GICP. Map cleaners: DUFOMap and BeautyMap. These have different roles; the sketch does not imply all these methods jointly implement SLAM. Mapping A uses provided poses; physical tests pending. Pose glyph is schematic, not measured particles. All raster sources: docs/assets/direction/sources.json. Style reference only: D:\workspace\semantic\output\ITMO_Thesis_Proposal_Simple_Talk_Illustrated.pptx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FE032D-D255-4673-9636-1605A3BA8A0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280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74AAA5-16EC-C2D9-802C-50158D1D8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25A375-7D37-B672-4EF1-8CCDE115A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7969E0-32DF-0F37-AFA6-34D19B22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FCCC7D-53DA-0BB2-444F-CCA866049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4EF615-24A2-92D2-9B60-D10A7B07A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881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D3AB7-0ABF-E43B-F475-1C6A1B72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9F0DD3-696F-38A1-CF20-C2E6D074A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A31A4-DD22-8C5C-FF89-43D4B4610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AB57CC-B621-1E64-4F0F-ACA589CB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D40C4-FB33-8D57-1A28-F290F681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02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F560D-1B2E-B7C6-C421-F1BAF6F33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3DB49F-B039-2F35-446E-75ABB7D7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A01633-9140-DE46-5AF9-2B56A1A6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ECCE8F-8E15-9C9A-2C63-B8C973735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79C077-7AE1-D0A5-18FC-DB708929F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9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06C80-E206-7527-60F2-E41BA6C6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B17FB0-8C25-E176-4674-42A808049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F087A8-DFEC-0D5B-05C7-A19D85F77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A6E75C-C877-34ED-BAFF-FB8E706A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11B181-F47D-FB78-7A35-121D9CAA5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9B720E-2A46-2FEA-8D86-2AD8842F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17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5DC760-16A7-75A8-C462-8C646244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6D2F64-39A3-6C25-0C88-F5B4E5194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C29B27-C0FA-CF0C-375D-A23A0F02F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50FFE6-6DF9-9D83-7D9B-4CC1CC4B31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94DFEF3-65A0-090B-A62C-F9E6596EE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3D721DF-B65F-A28D-6B29-BD4BB85B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89575B-D83F-59D1-8B95-CD47D8B8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8FA507-6948-69D6-33A5-9A01F989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312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53C9E2-E8B1-10B7-2E8E-8D1B08E9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656225-7547-4189-814B-77F8D00A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FA3757-A20E-47C0-2483-098BB1F97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82B972-3D59-F218-0167-D05EB430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321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0CEBCB9-2AF5-4EFB-9EA5-C2C985236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6FB6CB-0886-0554-E1D4-D751D872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531C4B-2628-AE51-B9E2-DC673186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949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81F3C-E683-4D8F-BB42-51FEE8F6D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AF9F2F-A866-F571-3C50-58434A7A4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EACD88-48CC-7E83-307E-006B62DCF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955BF6-9447-B0B3-DB09-9F97C7FF4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3FF15B-4C73-F35B-A39C-6B6622D36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E958F4-4870-2DF7-D17D-B9340F278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852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E993D-FE9E-63AA-56CD-5A4DF9A5A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8603C6-10E8-CAAD-3FB0-38E1585D08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568612-5897-251F-250E-66943BBE4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210DDD-875A-FA87-74EB-9FC0BCA9B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AFF6FF-D1AF-2195-ABCC-FE7E63AB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685CBE-C920-9FF4-F961-49BECC50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44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0CCBF6-AFDA-33CB-552E-87BB4B7BD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1F0E7A-912B-FDD7-F897-498C1AAE6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111127-656E-B670-1A72-1D4F3C69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04D93A-6749-DAE6-DCA5-92553945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5CC14E-A150-5CA0-A95A-AA871F01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15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E8F7AC2-A677-3A0C-6C05-70CFCC544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BE2B54-9D11-13E7-9523-C647498C5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43896-0E07-48A8-2E29-EDEB6DC1E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EDCF6-B703-C1E4-847E-69321A67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26559-1307-808D-B9D9-0E90EC3E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279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D5F64D-DFF2-9ADA-D305-54B176FB1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8F0B0E-BFAC-6B51-FDC4-F9A0BEBBB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AFEA3B-30E8-23DE-D6FA-972EE5AB2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D78DE-E6E5-4B93-87F1-B93483AC899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9529E8-A0BF-981A-DE19-D79E85FAE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4D6A4B-473A-60B8-77BD-B10FAF920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2EAC62-DD22-498D-BD9C-AD6E33A344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54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image" Target="../media/image2.png"/><Relationship Id="rId7" Type="http://schemas.openxmlformats.org/officeDocument/2006/relationships/tags" Target="../tags/tag7.xml"/><Relationship Id="rId71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notesSlide" Target="../notesSlides/notesSlide1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image" Target="../media/image3.png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image" Target="../media/image6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image" Target="../media/image1.jpg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0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>
            <a:extLst>
              <a:ext uri="{FF2B5EF4-FFF2-40B4-BE49-F238E27FC236}">
                <a16:creationId xmlns:a16="http://schemas.microsoft.com/office/drawing/2014/main" id="{16E6EE3B-49EB-C236-F5A2-4B0960D747A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06400" y="1397000"/>
            <a:ext cx="11379200" cy="520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CC7B2D5-CE16-7FA0-FBF2-36E2B7C2435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36600" y="279400"/>
            <a:ext cx="107950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3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动态环境中的鲁棒定位与 </a:t>
            </a:r>
            <a:r>
              <a:rPr lang="en-US" altLang="zh-CN" sz="3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SLAM</a:t>
            </a:r>
            <a:endParaRPr lang="zh-CN" altLang="en-US" sz="36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5D3D27B-81F3-AED5-9291-9912C66BF1C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736600" y="952500"/>
            <a:ext cx="10795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7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同时估计位姿与地图，研究定位失效后的持续恢复</a:t>
            </a:r>
          </a:p>
        </p:txBody>
      </p:sp>
      <p:sp>
        <p:nvSpPr>
          <p:cNvPr id="5" name="stage-1">
            <a:extLst>
              <a:ext uri="{FF2B5EF4-FFF2-40B4-BE49-F238E27FC236}">
                <a16:creationId xmlns:a16="http://schemas.microsoft.com/office/drawing/2014/main" id="{E4F168A7-27BB-A970-2656-501034BAF8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36600" y="1727200"/>
            <a:ext cx="241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30" b="1">
                <a:solidFill>
                  <a:srgbClr val="9307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 </a:t>
            </a:r>
            <a:r>
              <a:rPr lang="zh-CN" altLang="en-US" sz="1730" b="1">
                <a:solidFill>
                  <a:srgbClr val="9307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机器人平台</a:t>
            </a:r>
          </a:p>
        </p:txBody>
      </p:sp>
      <p:sp>
        <p:nvSpPr>
          <p:cNvPr id="6" name="stage-2">
            <a:extLst>
              <a:ext uri="{FF2B5EF4-FFF2-40B4-BE49-F238E27FC236}">
                <a16:creationId xmlns:a16="http://schemas.microsoft.com/office/drawing/2014/main" id="{26F849D3-0009-942F-C29E-9DE876F933BF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505200" y="1727200"/>
            <a:ext cx="241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30" b="1">
                <a:solidFill>
                  <a:srgbClr val="9307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 </a:t>
            </a:r>
            <a:r>
              <a:rPr lang="zh-CN" altLang="en-US" sz="1730" b="1">
                <a:solidFill>
                  <a:srgbClr val="9307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传感器观测</a:t>
            </a:r>
          </a:p>
        </p:txBody>
      </p:sp>
      <p:sp>
        <p:nvSpPr>
          <p:cNvPr id="7" name="stage-3">
            <a:extLst>
              <a:ext uri="{FF2B5EF4-FFF2-40B4-BE49-F238E27FC236}">
                <a16:creationId xmlns:a16="http://schemas.microsoft.com/office/drawing/2014/main" id="{86D63FE0-91B2-9547-D12B-5D2603C7367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273800" y="1727200"/>
            <a:ext cx="241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30" b="1">
                <a:solidFill>
                  <a:srgbClr val="9307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 </a:t>
            </a:r>
            <a:r>
              <a:rPr lang="zh-CN" altLang="en-US" sz="1730" b="1">
                <a:solidFill>
                  <a:srgbClr val="9307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位姿与地图</a:t>
            </a:r>
          </a:p>
        </p:txBody>
      </p:sp>
      <p:sp>
        <p:nvSpPr>
          <p:cNvPr id="8" name="stage-4">
            <a:extLst>
              <a:ext uri="{FF2B5EF4-FFF2-40B4-BE49-F238E27FC236}">
                <a16:creationId xmlns:a16="http://schemas.microsoft.com/office/drawing/2014/main" id="{1D3B3685-6B70-7AB8-0EF0-24D1BBD9E8D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042400" y="1727200"/>
            <a:ext cx="24130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30" b="1">
                <a:solidFill>
                  <a:srgbClr val="9307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 </a:t>
            </a:r>
            <a:r>
              <a:rPr lang="zh-CN" altLang="en-US" sz="1730" b="1">
                <a:solidFill>
                  <a:srgbClr val="9307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开放问题</a:t>
            </a:r>
          </a:p>
        </p:txBody>
      </p:sp>
      <p:pic>
        <p:nvPicPr>
          <p:cNvPr id="10" name="chassis" descr="One user-supplied photograph of the physical omnidirectional chassis.">
            <a:extLst>
              <a:ext uri="{FF2B5EF4-FFF2-40B4-BE49-F238E27FC236}">
                <a16:creationId xmlns:a16="http://schemas.microsoft.com/office/drawing/2014/main" id="{FF8BEABD-D82B-E8BF-BC0A-CEB7272E1C2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6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3150" y="2236532"/>
            <a:ext cx="1739900" cy="1305435"/>
          </a:xfrm>
          <a:prstGeom prst="rect">
            <a:avLst/>
          </a:prstGeom>
        </p:spPr>
      </p:pic>
      <p:sp>
        <p:nvSpPr>
          <p:cNvPr id="11" name="chassis-caption">
            <a:extLst>
              <a:ext uri="{FF2B5EF4-FFF2-40B4-BE49-F238E27FC236}">
                <a16:creationId xmlns:a16="http://schemas.microsoft.com/office/drawing/2014/main" id="{4588A296-6565-667B-E0DA-B6CA8E3023D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36600" y="36068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8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实体三轮全向底盘</a:t>
            </a:r>
          </a:p>
        </p:txBody>
      </p:sp>
      <p:pic>
        <p:nvPicPr>
          <p:cNvPr id="13" name="sensors" descr="One user-supplied photograph of the physical sensors.">
            <a:extLst>
              <a:ext uri="{FF2B5EF4-FFF2-40B4-BE49-F238E27FC236}">
                <a16:creationId xmlns:a16="http://schemas.microsoft.com/office/drawing/2014/main" id="{B25CD2B3-20C3-E63F-AD47-84352582469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17600" y="3935402"/>
            <a:ext cx="1651000" cy="1184296"/>
          </a:xfrm>
          <a:prstGeom prst="rect">
            <a:avLst/>
          </a:prstGeom>
        </p:spPr>
      </p:pic>
      <p:sp>
        <p:nvSpPr>
          <p:cNvPr id="14" name="sensors-caption">
            <a:extLst>
              <a:ext uri="{FF2B5EF4-FFF2-40B4-BE49-F238E27FC236}">
                <a16:creationId xmlns:a16="http://schemas.microsoft.com/office/drawing/2014/main" id="{F65C16A8-98C2-2FB8-6F26-C49679C04A5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36600" y="52070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28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二维激光 </a:t>
            </a:r>
            <a:r>
              <a:rPr lang="en-US" altLang="zh-CN" sz="128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28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深度相机</a:t>
            </a:r>
          </a:p>
        </p:txBody>
      </p:sp>
      <p:pic>
        <p:nvPicPr>
          <p:cNvPr id="16" name="scan2" descr="One measured 2D LaserScan geometric field from the declared recorded bag, with no rasterized axes or labels.">
            <a:extLst>
              <a:ext uri="{FF2B5EF4-FFF2-40B4-BE49-F238E27FC236}">
                <a16:creationId xmlns:a16="http://schemas.microsoft.com/office/drawing/2014/main" id="{51B365A4-4088-6D78-BE16-2D21F8600F67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0" t="3000" r="16000" b="2000"/>
          <a:stretch>
            <a:fillRect/>
          </a:stretch>
        </p:blipFill>
        <p:spPr>
          <a:xfrm>
            <a:off x="3975100" y="2234951"/>
            <a:ext cx="1473200" cy="1372098"/>
          </a:xfrm>
          <a:prstGeom prst="rect">
            <a:avLst/>
          </a:prstGeom>
        </p:spPr>
      </p:pic>
      <p:sp>
        <p:nvSpPr>
          <p:cNvPr id="17" name="scan2-caption">
            <a:extLst>
              <a:ext uri="{FF2B5EF4-FFF2-40B4-BE49-F238E27FC236}">
                <a16:creationId xmlns:a16="http://schemas.microsoft.com/office/drawing/2014/main" id="{30B45C38-469B-EB10-1507-7B8CCE0086C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505200" y="36830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8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Gazebo</a:t>
            </a:r>
            <a:r>
              <a:rPr lang="zh-CN" altLang="en-US" sz="128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：二维激光扫描</a:t>
            </a:r>
          </a:p>
        </p:txBody>
      </p:sp>
      <p:pic>
        <p:nvPicPr>
          <p:cNvPr id="19" name="scan3" descr="One dense actual 3D LiDAR scan from the declared recording, with no labels or axes.">
            <a:extLst>
              <a:ext uri="{FF2B5EF4-FFF2-40B4-BE49-F238E27FC236}">
                <a16:creationId xmlns:a16="http://schemas.microsoft.com/office/drawing/2014/main" id="{E1D8908D-A30A-B5DC-F1CF-FB9888E8D53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0" t="20000" r="17000" b="8000"/>
          <a:stretch>
            <a:fillRect/>
          </a:stretch>
        </p:blipFill>
        <p:spPr>
          <a:xfrm>
            <a:off x="3873500" y="3975100"/>
            <a:ext cx="1676400" cy="1143000"/>
          </a:xfrm>
          <a:prstGeom prst="rect">
            <a:avLst/>
          </a:prstGeom>
        </p:spPr>
      </p:pic>
      <p:sp>
        <p:nvSpPr>
          <p:cNvPr id="20" name="scan3-caption">
            <a:extLst>
              <a:ext uri="{FF2B5EF4-FFF2-40B4-BE49-F238E27FC236}">
                <a16:creationId xmlns:a16="http://schemas.microsoft.com/office/drawing/2014/main" id="{B18C037E-7AF0-2626-16BB-AA5F9251A88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505200" y="52070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8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Gazebo</a:t>
            </a:r>
            <a:r>
              <a:rPr lang="zh-CN" altLang="en-US" sz="128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：三维激光扫描</a:t>
            </a:r>
          </a:p>
        </p:txBody>
      </p:sp>
      <p:sp>
        <p:nvSpPr>
          <p:cNvPr id="21" name="pose-node">
            <a:extLst>
              <a:ext uri="{FF2B5EF4-FFF2-40B4-BE49-F238E27FC236}">
                <a16:creationId xmlns:a16="http://schemas.microsoft.com/office/drawing/2014/main" id="{3EC74336-FA09-2D18-CBFC-D57077D131E8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489700" y="2247900"/>
            <a:ext cx="2032000" cy="4699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pose-title">
            <a:extLst>
              <a:ext uri="{FF2B5EF4-FFF2-40B4-BE49-F238E27FC236}">
                <a16:creationId xmlns:a16="http://schemas.microsoft.com/office/drawing/2014/main" id="{4080BB5D-718A-E7F3-D6EF-A4B4BAC2FF40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6540500" y="2324100"/>
            <a:ext cx="19304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65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位姿估计</a:t>
            </a:r>
          </a:p>
        </p:txBody>
      </p:sp>
      <p:grpSp>
        <p:nvGrpSpPr>
          <p:cNvPr id="35" name="pose-hypotheses-schematic">
            <a:extLst>
              <a:ext uri="{FF2B5EF4-FFF2-40B4-BE49-F238E27FC236}">
                <a16:creationId xmlns:a16="http://schemas.microsoft.com/office/drawing/2014/main" id="{B734B3E3-D7CF-DEE2-D237-155A3A854F70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6921500" y="2921000"/>
            <a:ext cx="1174750" cy="323850"/>
            <a:chOff x="6921500" y="2921000"/>
            <a:chExt cx="1174750" cy="323850"/>
          </a:xfrm>
        </p:grpSpPr>
        <p:sp>
          <p:nvSpPr>
            <p:cNvPr id="23" name="hypothesis-0">
              <a:extLst>
                <a:ext uri="{FF2B5EF4-FFF2-40B4-BE49-F238E27FC236}">
                  <a16:creationId xmlns:a16="http://schemas.microsoft.com/office/drawing/2014/main" id="{E7BCC228-548C-CB76-845D-C77816B6BE22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6921500" y="29591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hypothesis-1">
              <a:extLst>
                <a:ext uri="{FF2B5EF4-FFF2-40B4-BE49-F238E27FC236}">
                  <a16:creationId xmlns:a16="http://schemas.microsoft.com/office/drawing/2014/main" id="{D80099D9-7A85-D105-D2BA-34261115CB8F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7099300" y="29210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hypothesis-2">
              <a:extLst>
                <a:ext uri="{FF2B5EF4-FFF2-40B4-BE49-F238E27FC236}">
                  <a16:creationId xmlns:a16="http://schemas.microsoft.com/office/drawing/2014/main" id="{DEB2DE91-59C2-F253-CB88-CD04018EF736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7289800" y="30099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hypothesis-3">
              <a:extLst>
                <a:ext uri="{FF2B5EF4-FFF2-40B4-BE49-F238E27FC236}">
                  <a16:creationId xmlns:a16="http://schemas.microsoft.com/office/drawing/2014/main" id="{9BD9F91A-B68A-F1E1-0F69-7BEFA7AE8C16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7480300" y="29337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hypothesis-4">
              <a:extLst>
                <a:ext uri="{FF2B5EF4-FFF2-40B4-BE49-F238E27FC236}">
                  <a16:creationId xmlns:a16="http://schemas.microsoft.com/office/drawing/2014/main" id="{F7D586DC-B7A0-2F72-584E-3113E45B7DDF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7670800" y="30480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hypothesis-5">
              <a:extLst>
                <a:ext uri="{FF2B5EF4-FFF2-40B4-BE49-F238E27FC236}">
                  <a16:creationId xmlns:a16="http://schemas.microsoft.com/office/drawing/2014/main" id="{E5DB913A-1988-B88A-5B9C-08F390665749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7886700" y="29591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hypothesis-6">
              <a:extLst>
                <a:ext uri="{FF2B5EF4-FFF2-40B4-BE49-F238E27FC236}">
                  <a16:creationId xmlns:a16="http://schemas.microsoft.com/office/drawing/2014/main" id="{43B1E324-4783-2557-CA1F-0178D083EEAD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039100" y="30607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hypothesis-7">
              <a:extLst>
                <a:ext uri="{FF2B5EF4-FFF2-40B4-BE49-F238E27FC236}">
                  <a16:creationId xmlns:a16="http://schemas.microsoft.com/office/drawing/2014/main" id="{79EF7139-4981-6E6A-2ED4-F95C420C770B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7035800" y="31115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hypothesis-8">
              <a:extLst>
                <a:ext uri="{FF2B5EF4-FFF2-40B4-BE49-F238E27FC236}">
                  <a16:creationId xmlns:a16="http://schemas.microsoft.com/office/drawing/2014/main" id="{F86722D7-2E55-1A8A-023C-34E5822E310A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7251700" y="31496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hypothesis-9">
              <a:extLst>
                <a:ext uri="{FF2B5EF4-FFF2-40B4-BE49-F238E27FC236}">
                  <a16:creationId xmlns:a16="http://schemas.microsoft.com/office/drawing/2014/main" id="{53D0DF62-479C-B7FD-7735-4714130AF5B5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7467600" y="31115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hypothesis-10">
              <a:extLst>
                <a:ext uri="{FF2B5EF4-FFF2-40B4-BE49-F238E27FC236}">
                  <a16:creationId xmlns:a16="http://schemas.microsoft.com/office/drawing/2014/main" id="{F97785C5-CEB5-5DE9-1811-FA2920B419F0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7734300" y="31877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hypothesis-11">
              <a:extLst>
                <a:ext uri="{FF2B5EF4-FFF2-40B4-BE49-F238E27FC236}">
                  <a16:creationId xmlns:a16="http://schemas.microsoft.com/office/drawing/2014/main" id="{A67B209E-A9B2-4D29-4AF4-CFB2858FE3EF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7937500" y="3187700"/>
              <a:ext cx="57150" cy="57150"/>
            </a:xfrm>
            <a:prstGeom prst="ellipse">
              <a:avLst/>
            </a:prstGeom>
            <a:solidFill>
              <a:srgbClr val="9307FE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hypotheses-caption">
            <a:extLst>
              <a:ext uri="{FF2B5EF4-FFF2-40B4-BE49-F238E27FC236}">
                <a16:creationId xmlns:a16="http://schemas.microsoft.com/office/drawing/2014/main" id="{7AFF806D-7266-8456-CCE3-27841C1F32D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438900" y="3263900"/>
            <a:ext cx="2133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1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位姿假设（示意）</a:t>
            </a:r>
          </a:p>
        </p:txBody>
      </p:sp>
      <p:pic>
        <p:nvPicPr>
          <p:cNvPr id="38" name="map3" descr="One dense recorded 3D map field from controlled mapping A with supplied sensor poses.">
            <a:extLst>
              <a:ext uri="{FF2B5EF4-FFF2-40B4-BE49-F238E27FC236}">
                <a16:creationId xmlns:a16="http://schemas.microsoft.com/office/drawing/2014/main" id="{BCDB52CC-1D94-FB5D-9198-59E00CB565D0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00" t="10000" r="17000" b="23000"/>
          <a:stretch>
            <a:fillRect/>
          </a:stretch>
        </p:blipFill>
        <p:spPr>
          <a:xfrm>
            <a:off x="6724650" y="3568856"/>
            <a:ext cx="1562100" cy="1168088"/>
          </a:xfrm>
          <a:prstGeom prst="rect">
            <a:avLst/>
          </a:prstGeom>
        </p:spPr>
      </p:pic>
      <p:sp>
        <p:nvSpPr>
          <p:cNvPr id="39" name="map-scope">
            <a:extLst>
              <a:ext uri="{FF2B5EF4-FFF2-40B4-BE49-F238E27FC236}">
                <a16:creationId xmlns:a16="http://schemas.microsoft.com/office/drawing/2014/main" id="{518B5CE8-D374-1211-4CCC-A7247BF7889D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38900" y="4813300"/>
            <a:ext cx="213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17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建图 </a:t>
            </a:r>
            <a:r>
              <a:rPr lang="en-US" altLang="zh-CN" sz="117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117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：使用给定位姿</a:t>
            </a:r>
          </a:p>
        </p:txBody>
      </p:sp>
      <p:sp>
        <p:nvSpPr>
          <p:cNvPr id="40" name="map-node">
            <a:extLst>
              <a:ext uri="{FF2B5EF4-FFF2-40B4-BE49-F238E27FC236}">
                <a16:creationId xmlns:a16="http://schemas.microsoft.com/office/drawing/2014/main" id="{0B4055D4-6695-0626-589A-B374599E9497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489700" y="5130800"/>
            <a:ext cx="2032000" cy="3302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map-title">
            <a:extLst>
              <a:ext uri="{FF2B5EF4-FFF2-40B4-BE49-F238E27FC236}">
                <a16:creationId xmlns:a16="http://schemas.microsoft.com/office/drawing/2014/main" id="{BC38A69C-AB67-FBB0-3BFA-D1EA1CCE13A6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40500" y="5143500"/>
            <a:ext cx="19304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54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地图估计</a:t>
            </a:r>
          </a:p>
        </p:txBody>
      </p:sp>
      <p:sp>
        <p:nvSpPr>
          <p:cNvPr id="42" name="pose-right">
            <a:extLst>
              <a:ext uri="{FF2B5EF4-FFF2-40B4-BE49-F238E27FC236}">
                <a16:creationId xmlns:a16="http://schemas.microsoft.com/office/drawing/2014/main" id="{D42FED53-51C4-F530-076C-848AFEE585D2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712200" y="2470150"/>
            <a:ext cx="25400" cy="25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map-right">
            <a:extLst>
              <a:ext uri="{FF2B5EF4-FFF2-40B4-BE49-F238E27FC236}">
                <a16:creationId xmlns:a16="http://schemas.microsoft.com/office/drawing/2014/main" id="{A5703985-E3EF-F7B3-D8AF-2FB8A9AF0CA7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8712200" y="5283200"/>
            <a:ext cx="25400" cy="25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map-left">
            <a:extLst>
              <a:ext uri="{FF2B5EF4-FFF2-40B4-BE49-F238E27FC236}">
                <a16:creationId xmlns:a16="http://schemas.microsoft.com/office/drawing/2014/main" id="{1A8F6216-D89A-95DA-B6FF-A4F3EB2709C2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6299200" y="5283200"/>
            <a:ext cx="25400" cy="25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pose-left">
            <a:extLst>
              <a:ext uri="{FF2B5EF4-FFF2-40B4-BE49-F238E27FC236}">
                <a16:creationId xmlns:a16="http://schemas.microsoft.com/office/drawing/2014/main" id="{8B6409EE-2563-5C0B-6988-8DE57001434D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299200" y="2470150"/>
            <a:ext cx="25400" cy="25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pose-to-map-out">
            <a:extLst>
              <a:ext uri="{FF2B5EF4-FFF2-40B4-BE49-F238E27FC236}">
                <a16:creationId xmlns:a16="http://schemas.microsoft.com/office/drawing/2014/main" id="{A88CD1E2-A3D1-C896-CD8C-E273BE853B39}"/>
              </a:ext>
            </a:extLst>
          </p:cNvPr>
          <p:cNvCxnSpPr>
            <a:cxnSpLocks/>
            <a:stCxn id="21" idx="3"/>
            <a:endCxn id="42" idx="1"/>
          </p:cNvCxnSpPr>
          <p:nvPr>
            <p:custDataLst>
              <p:tags r:id="rId28"/>
            </p:custDataLst>
          </p:nvPr>
        </p:nvCxnSpPr>
        <p:spPr>
          <a:xfrm>
            <a:off x="8521700" y="2482850"/>
            <a:ext cx="190500" cy="0"/>
          </a:xfrm>
          <a:prstGeom prst="straightConnector1">
            <a:avLst/>
          </a:prstGeom>
          <a:ln w="16510">
            <a:solidFill>
              <a:srgbClr val="9307F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pose-to-map-rail">
            <a:extLst>
              <a:ext uri="{FF2B5EF4-FFF2-40B4-BE49-F238E27FC236}">
                <a16:creationId xmlns:a16="http://schemas.microsoft.com/office/drawing/2014/main" id="{1F9A776F-AA3F-3582-3285-9FE587347F3A}"/>
              </a:ext>
            </a:extLst>
          </p:cNvPr>
          <p:cNvCxnSpPr>
            <a:cxnSpLocks/>
            <a:stCxn id="42" idx="2"/>
            <a:endCxn id="43" idx="0"/>
          </p:cNvCxnSpPr>
          <p:nvPr>
            <p:custDataLst>
              <p:tags r:id="rId29"/>
            </p:custDataLst>
          </p:nvPr>
        </p:nvCxnSpPr>
        <p:spPr>
          <a:xfrm>
            <a:off x="8724900" y="2495550"/>
            <a:ext cx="0" cy="2787650"/>
          </a:xfrm>
          <a:prstGeom prst="straightConnector1">
            <a:avLst/>
          </a:prstGeom>
          <a:ln w="16510">
            <a:solidFill>
              <a:srgbClr val="9307FE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ose-to-map-in">
            <a:extLst>
              <a:ext uri="{FF2B5EF4-FFF2-40B4-BE49-F238E27FC236}">
                <a16:creationId xmlns:a16="http://schemas.microsoft.com/office/drawing/2014/main" id="{75C27E89-54A1-F6F6-C4E2-853B5671B7A8}"/>
              </a:ext>
            </a:extLst>
          </p:cNvPr>
          <p:cNvCxnSpPr>
            <a:cxnSpLocks/>
            <a:stCxn id="43" idx="1"/>
            <a:endCxn id="40" idx="3"/>
          </p:cNvCxnSpPr>
          <p:nvPr>
            <p:custDataLst>
              <p:tags r:id="rId30"/>
            </p:custDataLst>
          </p:nvPr>
        </p:nvCxnSpPr>
        <p:spPr>
          <a:xfrm flipH="1">
            <a:off x="8521700" y="5295900"/>
            <a:ext cx="190500" cy="0"/>
          </a:xfrm>
          <a:prstGeom prst="straightConnector1">
            <a:avLst/>
          </a:prstGeom>
          <a:ln w="16510">
            <a:solidFill>
              <a:srgbClr val="9307F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map-to-pose-out">
            <a:extLst>
              <a:ext uri="{FF2B5EF4-FFF2-40B4-BE49-F238E27FC236}">
                <a16:creationId xmlns:a16="http://schemas.microsoft.com/office/drawing/2014/main" id="{A2A19865-1E50-F321-2E90-9F57DA4EE3BE}"/>
              </a:ext>
            </a:extLst>
          </p:cNvPr>
          <p:cNvCxnSpPr>
            <a:cxnSpLocks/>
            <a:stCxn id="40" idx="1"/>
            <a:endCxn id="44" idx="3"/>
          </p:cNvCxnSpPr>
          <p:nvPr>
            <p:custDataLst>
              <p:tags r:id="rId31"/>
            </p:custDataLst>
          </p:nvPr>
        </p:nvCxnSpPr>
        <p:spPr>
          <a:xfrm flipH="1">
            <a:off x="6324600" y="5295900"/>
            <a:ext cx="165100" cy="0"/>
          </a:xfrm>
          <a:prstGeom prst="straightConnector1">
            <a:avLst/>
          </a:prstGeom>
          <a:ln w="16510">
            <a:solidFill>
              <a:srgbClr val="17664B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map-to-pose-rail">
            <a:extLst>
              <a:ext uri="{FF2B5EF4-FFF2-40B4-BE49-F238E27FC236}">
                <a16:creationId xmlns:a16="http://schemas.microsoft.com/office/drawing/2014/main" id="{D92571D8-67DB-640D-3341-E590E66720DE}"/>
              </a:ext>
            </a:extLst>
          </p:cNvPr>
          <p:cNvCxnSpPr>
            <a:cxnSpLocks/>
            <a:stCxn id="44" idx="0"/>
            <a:endCxn id="45" idx="2"/>
          </p:cNvCxnSpPr>
          <p:nvPr>
            <p:custDataLst>
              <p:tags r:id="rId32"/>
            </p:custDataLst>
          </p:nvPr>
        </p:nvCxnSpPr>
        <p:spPr>
          <a:xfrm flipV="1">
            <a:off x="6311900" y="2495550"/>
            <a:ext cx="0" cy="2787650"/>
          </a:xfrm>
          <a:prstGeom prst="straightConnector1">
            <a:avLst/>
          </a:prstGeom>
          <a:ln w="16510">
            <a:solidFill>
              <a:srgbClr val="17664B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map-to-pose-in">
            <a:extLst>
              <a:ext uri="{FF2B5EF4-FFF2-40B4-BE49-F238E27FC236}">
                <a16:creationId xmlns:a16="http://schemas.microsoft.com/office/drawing/2014/main" id="{DDF6620B-F36F-19D3-73A0-C297186E4968}"/>
              </a:ext>
            </a:extLst>
          </p:cNvPr>
          <p:cNvCxnSpPr>
            <a:cxnSpLocks/>
            <a:stCxn id="45" idx="3"/>
            <a:endCxn id="21" idx="1"/>
          </p:cNvCxnSpPr>
          <p:nvPr>
            <p:custDataLst>
              <p:tags r:id="rId33"/>
            </p:custDataLst>
          </p:nvPr>
        </p:nvCxnSpPr>
        <p:spPr>
          <a:xfrm>
            <a:off x="6324600" y="2482850"/>
            <a:ext cx="165100" cy="0"/>
          </a:xfrm>
          <a:prstGeom prst="straightConnector1">
            <a:avLst/>
          </a:prstGeom>
          <a:ln w="16510">
            <a:solidFill>
              <a:srgbClr val="17664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gazebo" descr="One simulator-rendered corridor viewport from the genuine native execution recording; window chrome, RViz and Terminal excluded.">
            <a:extLst>
              <a:ext uri="{FF2B5EF4-FFF2-40B4-BE49-F238E27FC236}">
                <a16:creationId xmlns:a16="http://schemas.microsoft.com/office/drawing/2014/main" id="{ED8FFCDB-08E0-0169-BE14-40CB3AE3EEF5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42400" y="2250733"/>
            <a:ext cx="2413000" cy="1277034"/>
          </a:xfrm>
          <a:prstGeom prst="rect">
            <a:avLst/>
          </a:prstGeom>
        </p:spPr>
      </p:pic>
      <p:sp>
        <p:nvSpPr>
          <p:cNvPr id="54" name="corridor-caption">
            <a:extLst>
              <a:ext uri="{FF2B5EF4-FFF2-40B4-BE49-F238E27FC236}">
                <a16:creationId xmlns:a16="http://schemas.microsoft.com/office/drawing/2014/main" id="{D13736D9-13A7-5058-8D72-F9FAB542E0AB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9042400" y="3606800"/>
            <a:ext cx="241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4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Gazebo</a:t>
            </a:r>
            <a:r>
              <a:rPr lang="zh-CN" altLang="en-US" sz="1240">
                <a:solidFill>
                  <a:srgbClr val="54545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：走廊退化场景</a:t>
            </a:r>
          </a:p>
        </p:txBody>
      </p:sp>
      <p:sp>
        <p:nvSpPr>
          <p:cNvPr id="55" name="recovery-step-1">
            <a:extLst>
              <a:ext uri="{FF2B5EF4-FFF2-40B4-BE49-F238E27FC236}">
                <a16:creationId xmlns:a16="http://schemas.microsoft.com/office/drawing/2014/main" id="{71D6939F-2154-B71D-3E97-B0C30B4DCA77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9144000" y="3949700"/>
            <a:ext cx="2273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1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sz="141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检测定位失效</a:t>
            </a:r>
          </a:p>
        </p:txBody>
      </p:sp>
      <p:sp>
        <p:nvSpPr>
          <p:cNvPr id="56" name="recovery-step-2">
            <a:extLst>
              <a:ext uri="{FF2B5EF4-FFF2-40B4-BE49-F238E27FC236}">
                <a16:creationId xmlns:a16="http://schemas.microsoft.com/office/drawing/2014/main" id="{403D68DD-B04E-2E7D-D44F-959C740AA619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9144000" y="4318000"/>
            <a:ext cx="2273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1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sz="141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诊断失效原因</a:t>
            </a:r>
          </a:p>
        </p:txBody>
      </p:sp>
      <p:sp>
        <p:nvSpPr>
          <p:cNvPr id="57" name="recovery-step-3">
            <a:extLst>
              <a:ext uri="{FF2B5EF4-FFF2-40B4-BE49-F238E27FC236}">
                <a16:creationId xmlns:a16="http://schemas.microsoft.com/office/drawing/2014/main" id="{655AFA14-338D-F4C4-94C1-78EDC4D2E521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9144000" y="4686300"/>
            <a:ext cx="2273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1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sz="141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恢复位姿估计</a:t>
            </a:r>
          </a:p>
        </p:txBody>
      </p:sp>
      <p:sp>
        <p:nvSpPr>
          <p:cNvPr id="58" name="recovery-step-4">
            <a:extLst>
              <a:ext uri="{FF2B5EF4-FFF2-40B4-BE49-F238E27FC236}">
                <a16:creationId xmlns:a16="http://schemas.microsoft.com/office/drawing/2014/main" id="{4D7D5CF9-6CA4-8389-A8D9-8CA3FE8C5BCD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9144000" y="5054600"/>
            <a:ext cx="22733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410" b="1">
                <a:solidFill>
                  <a:srgbClr val="1766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sz="1410" b="1">
                <a:solidFill>
                  <a:srgbClr val="1766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确认持续恢复</a:t>
            </a:r>
          </a:p>
        </p:txBody>
      </p:sp>
      <p:sp>
        <p:nvSpPr>
          <p:cNvPr id="59" name="process-node-1">
            <a:extLst>
              <a:ext uri="{FF2B5EF4-FFF2-40B4-BE49-F238E27FC236}">
                <a16:creationId xmlns:a16="http://schemas.microsoft.com/office/drawing/2014/main" id="{288D56B3-F3D9-C2B5-BEA7-F99CAEFF3AF7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736600" y="5613400"/>
            <a:ext cx="2413000" cy="5461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process-text-1">
            <a:extLst>
              <a:ext uri="{FF2B5EF4-FFF2-40B4-BE49-F238E27FC236}">
                <a16:creationId xmlns:a16="http://schemas.microsoft.com/office/drawing/2014/main" id="{A8C9070A-C73C-A4E6-26EF-7FD08C84B5A6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787400" y="5689600"/>
            <a:ext cx="23114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三轮全向底盘
二维 </a:t>
            </a:r>
            <a:r>
              <a:rPr lang="en-US" altLang="zh-CN" sz="135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35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独立三维激光</a:t>
            </a:r>
          </a:p>
        </p:txBody>
      </p:sp>
      <p:sp>
        <p:nvSpPr>
          <p:cNvPr id="61" name="process-node-2">
            <a:extLst>
              <a:ext uri="{FF2B5EF4-FFF2-40B4-BE49-F238E27FC236}">
                <a16:creationId xmlns:a16="http://schemas.microsoft.com/office/drawing/2014/main" id="{665EAD5B-BDAA-738A-82CE-04ED9235412C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3505200" y="5613400"/>
            <a:ext cx="2413000" cy="5461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process-text-2">
            <a:extLst>
              <a:ext uri="{FF2B5EF4-FFF2-40B4-BE49-F238E27FC236}">
                <a16:creationId xmlns:a16="http://schemas.microsoft.com/office/drawing/2014/main" id="{5B298506-A7A4-CDFD-A400-99A0C78787F4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3556000" y="5689600"/>
            <a:ext cx="23114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激光扫描
与运动输入</a:t>
            </a:r>
          </a:p>
        </p:txBody>
      </p:sp>
      <p:sp>
        <p:nvSpPr>
          <p:cNvPr id="63" name="process-node-3">
            <a:extLst>
              <a:ext uri="{FF2B5EF4-FFF2-40B4-BE49-F238E27FC236}">
                <a16:creationId xmlns:a16="http://schemas.microsoft.com/office/drawing/2014/main" id="{41051364-2852-5842-9618-59E8249D13E4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6273800" y="5613400"/>
            <a:ext cx="2413000" cy="5461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process-text-3">
            <a:extLst>
              <a:ext uri="{FF2B5EF4-FFF2-40B4-BE49-F238E27FC236}">
                <a16:creationId xmlns:a16="http://schemas.microsoft.com/office/drawing/2014/main" id="{4C46630A-7BF0-ED45-5831-C4234BB56996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6324600" y="5689600"/>
            <a:ext cx="23114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联合估计
位姿与地图</a:t>
            </a:r>
          </a:p>
        </p:txBody>
      </p:sp>
      <p:sp>
        <p:nvSpPr>
          <p:cNvPr id="65" name="process-node-4">
            <a:extLst>
              <a:ext uri="{FF2B5EF4-FFF2-40B4-BE49-F238E27FC236}">
                <a16:creationId xmlns:a16="http://schemas.microsoft.com/office/drawing/2014/main" id="{EE74E054-9F1B-E683-4EC1-36D40DC791D8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9042400" y="5613400"/>
            <a:ext cx="2413000" cy="546100"/>
          </a:xfrm>
          <a:prstGeom prst="rect">
            <a:avLst/>
          </a:prstGeom>
          <a:solidFill>
            <a:srgbClr val="F7F1FD"/>
          </a:solidFill>
          <a:ln w="13970">
            <a:solidFill>
              <a:srgbClr val="9307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process-text-4">
            <a:extLst>
              <a:ext uri="{FF2B5EF4-FFF2-40B4-BE49-F238E27FC236}">
                <a16:creationId xmlns:a16="http://schemas.microsoft.com/office/drawing/2014/main" id="{9B6AC3A2-55D8-889B-2B65-36F595158A56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9093200" y="5689600"/>
            <a:ext cx="23114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1350">
                <a:solidFill>
                  <a:srgbClr val="17171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定位失效后
恢复并持续确认</a:t>
            </a:r>
          </a:p>
        </p:txBody>
      </p:sp>
      <p:cxnSp>
        <p:nvCxnSpPr>
          <p:cNvPr id="67" name="pipeline-1">
            <a:extLst>
              <a:ext uri="{FF2B5EF4-FFF2-40B4-BE49-F238E27FC236}">
                <a16:creationId xmlns:a16="http://schemas.microsoft.com/office/drawing/2014/main" id="{DC21857E-0C19-68FE-46BB-66494840B17A}"/>
              </a:ext>
            </a:extLst>
          </p:cNvPr>
          <p:cNvCxnSpPr>
            <a:cxnSpLocks/>
            <a:stCxn id="59" idx="3"/>
            <a:endCxn id="61" idx="1"/>
          </p:cNvCxnSpPr>
          <p:nvPr>
            <p:custDataLst>
              <p:tags r:id="rId48"/>
            </p:custDataLst>
          </p:nvPr>
        </p:nvCxnSpPr>
        <p:spPr>
          <a:xfrm>
            <a:off x="3149600" y="5886450"/>
            <a:ext cx="355600" cy="0"/>
          </a:xfrm>
          <a:prstGeom prst="straightConnector1">
            <a:avLst/>
          </a:prstGeom>
          <a:ln w="16510">
            <a:solidFill>
              <a:srgbClr val="9307F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pipeline-2">
            <a:extLst>
              <a:ext uri="{FF2B5EF4-FFF2-40B4-BE49-F238E27FC236}">
                <a16:creationId xmlns:a16="http://schemas.microsoft.com/office/drawing/2014/main" id="{A16E5587-BD8A-58BC-3588-19BE7B3AD524}"/>
              </a:ext>
            </a:extLst>
          </p:cNvPr>
          <p:cNvCxnSpPr>
            <a:cxnSpLocks/>
            <a:stCxn id="61" idx="3"/>
            <a:endCxn id="63" idx="1"/>
          </p:cNvCxnSpPr>
          <p:nvPr>
            <p:custDataLst>
              <p:tags r:id="rId49"/>
            </p:custDataLst>
          </p:nvPr>
        </p:nvCxnSpPr>
        <p:spPr>
          <a:xfrm>
            <a:off x="5918200" y="5886450"/>
            <a:ext cx="355600" cy="0"/>
          </a:xfrm>
          <a:prstGeom prst="straightConnector1">
            <a:avLst/>
          </a:prstGeom>
          <a:ln w="16510">
            <a:solidFill>
              <a:srgbClr val="9307FE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pipeline-3">
            <a:extLst>
              <a:ext uri="{FF2B5EF4-FFF2-40B4-BE49-F238E27FC236}">
                <a16:creationId xmlns:a16="http://schemas.microsoft.com/office/drawing/2014/main" id="{AE100D4B-A273-8FD4-4E6C-8C826DF40663}"/>
              </a:ext>
            </a:extLst>
          </p:cNvPr>
          <p:cNvCxnSpPr>
            <a:cxnSpLocks/>
            <a:stCxn id="63" idx="3"/>
            <a:endCxn id="65" idx="1"/>
          </p:cNvCxnSpPr>
          <p:nvPr>
            <p:custDataLst>
              <p:tags r:id="rId50"/>
            </p:custDataLst>
          </p:nvPr>
        </p:nvCxnSpPr>
        <p:spPr>
          <a:xfrm>
            <a:off x="8686800" y="5886450"/>
            <a:ext cx="355600" cy="0"/>
          </a:xfrm>
          <a:prstGeom prst="straightConnector1">
            <a:avLst/>
          </a:prstGeom>
          <a:ln w="16510">
            <a:solidFill>
              <a:srgbClr val="9307FE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andidate-question">
            <a:extLst>
              <a:ext uri="{FF2B5EF4-FFF2-40B4-BE49-F238E27FC236}">
                <a16:creationId xmlns:a16="http://schemas.microsoft.com/office/drawing/2014/main" id="{8FDF4288-78F7-6C75-6061-05FC0A619688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736600" y="6261100"/>
            <a:ext cx="107188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550" b="1">
                <a:solidFill>
                  <a:srgbClr val="9307F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候选问题：观测重新充分后，如何避免错误收敛并确认持续恢复？</a:t>
            </a:r>
          </a:p>
        </p:txBody>
      </p:sp>
      <p:sp>
        <p:nvSpPr>
          <p:cNvPr id="71" name="scope-footer">
            <a:extLst>
              <a:ext uri="{FF2B5EF4-FFF2-40B4-BE49-F238E27FC236}">
                <a16:creationId xmlns:a16="http://schemas.microsoft.com/office/drawing/2014/main" id="{02AD4127-A93C-8583-9956-CDDC8A63751C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736600" y="6667500"/>
            <a:ext cx="107950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zh-CN" altLang="en-US" sz="107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实体照片；</a:t>
            </a:r>
            <a:r>
              <a:rPr lang="en-US" altLang="zh-CN" sz="107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Gazebo </a:t>
            </a:r>
            <a:r>
              <a:rPr lang="zh-CN" altLang="en-US" sz="107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扫描、给定位姿三维地图与走廊。实体机器人测试待测。</a:t>
            </a:r>
          </a:p>
        </p:txBody>
      </p:sp>
    </p:spTree>
    <p:extLst>
      <p:ext uri="{BB962C8B-B14F-4D97-AF65-F5344CB8AC3E}">
        <p14:creationId xmlns:p14="http://schemas.microsoft.com/office/powerpoint/2010/main" val="16194392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canva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user-supplied photograph of the physical omnidirectional chassis."/>
  <p:tag name="SCIENTIFICILLUSTRATORRASTERREASON" val="One user-supplied photograph of the physical omnidirectional chassis."/>
  <p:tag name="SOURCE_IS_TIGHTLY_CROPPED" val="true"/>
  <p:tag name="SCIENTIFICILLUSTRATORSOURCETIGHTLYCROPPED" val="true"/>
  <p:tag name="ATOMIC_RASTER_UNIT" val="true"/>
  <p:tag name="SCIENTIFICILLUSTRATORATOMICRASTERUNIT" val="true"/>
  <p:tag name="CONTAINS_RECONSTRUCTABLE_CONTENT" val="false"/>
  <p:tag name="SCIENTIFICILLUSTRATORCONTAINSRECONSTRUCTABLECONTENT" val="false"/>
  <p:tag name="DECOMPOSITION_NOTE" val="One independent photographic or dense measured geometric field. Captions, nodes, arrows and pose-hypothesis glyphs are separate native objects."/>
  <p:tag name="SCIENTIFICILLUSTRATORDECOMPOSITIONNOTE" val="One independent photographic or dense measured geometric field. Captions, nodes, arrows and pose-hypothesis glyphs are separate native objects."/>
  <p:tag name="SOURCE_CROP_LTRB_FRACTION" val="0,0,0,0"/>
  <p:tag name="SCIENTIFICILLUSTRATORSOURCEPATH" val="D:\workspace\be2\slam_learning_updated\docs\assets\robot\chassis.jpg"/>
  <p:tag name="REGION" val="platfor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platfor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user-supplied photograph of the physical sensors."/>
  <p:tag name="SCIENTIFICILLUSTRATORRASTERREASON" val="One user-supplied photograph of the physical sensors."/>
  <p:tag name="SOURCE_IS_TIGHTLY_CROPPED" val="true"/>
  <p:tag name="SCIENTIFICILLUSTRATORSOURCETIGHTLYCROPPED" val="true"/>
  <p:tag name="ATOMIC_RASTER_UNIT" val="true"/>
  <p:tag name="SCIENTIFICILLUSTRATORATOMICRASTERUNIT" val="true"/>
  <p:tag name="CONTAINS_RECONSTRUCTABLE_CONTENT" val="false"/>
  <p:tag name="SCIENTIFICILLUSTRATORCONTAINSRECONSTRUCTABLECONTENT" val="false"/>
  <p:tag name="DECOMPOSITION_NOTE" val="One independent photographic or dense measured geometric field. Captions, nodes, arrows and pose-hypothesis glyphs are separate native objects."/>
  <p:tag name="SCIENTIFICILLUSTRATORDECOMPOSITIONNOTE" val="One independent photographic or dense measured geometric field. Captions, nodes, arrows and pose-hypothesis glyphs are separate native objects."/>
  <p:tag name="SOURCE_CROP_LTRB_FRACTION" val="0,0,0,0"/>
  <p:tag name="SCIENTIFICILLUSTRATORSOURCEPATH" val="D:\workspace\be2\slam_learning_updated\docs\assets\robot\sensors.png"/>
  <p:tag name="REGION" val="platfor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platform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measured 2D LaserScan geometric field from the declared recorded bag, with no rasterized axes or labels."/>
  <p:tag name="SCIENTIFICILLUSTRATORRASTERREASON" val="One measured 2D LaserScan geometric field from the declared recorded bag, with no rasterized axes or labels."/>
  <p:tag name="SOURCE_IS_TIGHTLY_CROPPED" val="true"/>
  <p:tag name="SCIENTIFICILLUSTRATORSOURCETIGHTLYCROPPED" val="true"/>
  <p:tag name="ATOMIC_RASTER_UNIT" val="true"/>
  <p:tag name="SCIENTIFICILLUSTRATORATOMICRASTERUNIT" val="true"/>
  <p:tag name="CONTAINS_RECONSTRUCTABLE_CONTENT" val="false"/>
  <p:tag name="SCIENTIFICILLUSTRATORCONTAINSRECONSTRUCTABLECONTENT" val="false"/>
  <p:tag name="DECOMPOSITION_NOTE" val="One independent photographic or dense measured geometric field. Captions, nodes, arrows and pose-hypothesis glyphs are separate native objects."/>
  <p:tag name="SCIENTIFICILLUSTRATORDECOMPOSITIONNOTE" val="One independent photographic or dense measured geometric field. Captions, nodes, arrows and pose-hypothesis glyphs are separate native objects."/>
  <p:tag name="SOURCE_CROP_LTRB_FRACTION" val="0.16,0.03,0.16,0.02"/>
  <p:tag name="SCIENTIFICILLUSTRATORSOURCEPATH" val="D:\workspace\be2\slam_learning_updated\docs\assets\direction\scan-2d.png"/>
  <p:tag name="REGION" val="observations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observations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dense actual 3D LiDAR scan from the declared recording, with no labels or axes."/>
  <p:tag name="SCIENTIFICILLUSTRATORRASTERREASON" val="One dense actual 3D LiDAR scan from the declared recording, with no labels or axes."/>
  <p:tag name="SOURCE_IS_TIGHTLY_CROPPED" val="true"/>
  <p:tag name="SCIENTIFICILLUSTRATORSOURCETIGHTLYCROPPED" val="true"/>
  <p:tag name="ATOMIC_RASTER_UNIT" val="true"/>
  <p:tag name="SCIENTIFICILLUSTRATORATOMICRASTERUNIT" val="true"/>
  <p:tag name="CONTAINS_RECONSTRUCTABLE_CONTENT" val="false"/>
  <p:tag name="SCIENTIFICILLUSTRATORCONTAINSRECONSTRUCTABLECONTENT" val="false"/>
  <p:tag name="DECOMPOSITION_NOTE" val="One independent photographic or dense measured geometric field. Captions, nodes, arrows and pose-hypothesis glyphs are separate native objects."/>
  <p:tag name="SCIENTIFICILLUSTRATORDECOMPOSITIONNOTE" val="One independent photographic or dense measured geometric field. Captions, nodes, arrows and pose-hypothesis glyphs are separate native objects."/>
  <p:tag name="SOURCE_CROP_LTRB_FRACTION" val="0.17,0.2,0.17,0.08"/>
  <p:tag name="SCIENTIFICILLUSTRATORSOURCEPATH" val="D:\workspace\be2\slam_learning_updated\docs\assets\direction\scan-3d.png"/>
  <p:tag name="REGION" val="observation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observations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HEMATIC_NOT_MEASURED" val="true"/>
  <p:tag name="REGION" val="sla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dense recorded 3D map field from controlled mapping A with supplied sensor poses."/>
  <p:tag name="SCIENTIFICILLUSTRATORRASTERREASON" val="One dense recorded 3D map field from controlled mapping A with supplied sensor poses."/>
  <p:tag name="SOURCE_IS_TIGHTLY_CROPPED" val="true"/>
  <p:tag name="SCIENTIFICILLUSTRATORSOURCETIGHTLYCROPPED" val="true"/>
  <p:tag name="ATOMIC_RASTER_UNIT" val="true"/>
  <p:tag name="SCIENTIFICILLUSTRATORATOMICRASTERUNIT" val="true"/>
  <p:tag name="CONTAINS_RECONSTRUCTABLE_CONTENT" val="false"/>
  <p:tag name="SCIENTIFICILLUSTRATORCONTAINSRECONSTRUCTABLECONTENT" val="false"/>
  <p:tag name="DECOMPOSITION_NOTE" val="One independent photographic or dense measured geometric field. Captions, nodes, arrows and pose-hypothesis glyphs are separate native objects."/>
  <p:tag name="SCIENTIFICILLUSTRATORDECOMPOSITIONNOTE" val="One independent photographic or dense measured geometric field. Captions, nodes, arrows and pose-hypothesis glyphs are separate native objects."/>
  <p:tag name="SOURCE_CROP_LTRB_FRACTION" val="0.27,0.1,0.17,0.23"/>
  <p:tag name="SCIENTIFICILLUSTRATORSOURCEPATH" val="D:\workspace\be2\slam_learning_updated\docs\assets\direction\map-3d.png"/>
  <p:tag name="REGION" val="sla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STER_REASON" val="One simulator-rendered corridor viewport from the genuine native execution recording; window chrome, RViz and Terminal excluded."/>
  <p:tag name="SCIENTIFICILLUSTRATORRASTERREASON" val="One simulator-rendered corridor viewport from the genuine native execution recording; window chrome, RViz and Terminal excluded."/>
  <p:tag name="SOURCE_IS_TIGHTLY_CROPPED" val="true"/>
  <p:tag name="SCIENTIFICILLUSTRATORSOURCETIGHTLYCROPPED" val="true"/>
  <p:tag name="ATOMIC_RASTER_UNIT" val="true"/>
  <p:tag name="SCIENTIFICILLUSTRATORATOMICRASTERUNIT" val="true"/>
  <p:tag name="CONTAINS_RECONSTRUCTABLE_CONTENT" val="false"/>
  <p:tag name="SCIENTIFICILLUSTRATORCONTAINSRECONSTRUCTABLECONTENT" val="false"/>
  <p:tag name="DECOMPOSITION_NOTE" val="One independent photographic or dense measured geometric field. Captions, nodes, arrows and pose-hypothesis glyphs are separate native objects."/>
  <p:tag name="SCIENTIFICILLUSTRATORDECOMPOSITIONNOTE" val="One independent photographic or dense measured geometric field. Captions, nodes, arrows and pose-hypothesis glyphs are separate native objects."/>
  <p:tag name="SOURCE_CROP_LTRB_FRACTION" val="0,0,0,0"/>
  <p:tag name="SCIENTIFICILLUSTRATORSOURCEPATH" val="D:\workspace\be2\slam_learning_updated\docs\assets\direction\gazebo-corridor.png"/>
  <p:tag name="REGION" val="recover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recovery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flo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GION" val="slam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361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Zilin Zhu</dc:creator>
  <cp:lastModifiedBy>Zilin Zhu</cp:lastModifiedBy>
  <cp:revision>10</cp:revision>
  <dcterms:created xsi:type="dcterms:W3CDTF">2026-10-14T20:13:57Z</dcterms:created>
  <dcterms:modified xsi:type="dcterms:W3CDTF">2026-10-14T20:16:58Z</dcterms:modified>
</cp:coreProperties>
</file>