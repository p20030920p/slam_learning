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D0A36F-4E27-39AB-06BF-B7A0EDAE6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991FA84-C2E1-68F6-95C9-CEC91AC030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A151F7-A749-1D8E-A067-9C7E24CDA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F25E7-6D9D-4D0E-8BD7-5A05075FE4C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59CC92-A3FD-713B-566D-684CCAAAA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FB147E-B86C-1A9F-0B6A-6E8644755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DCE09-C22C-4622-9E5D-45F8EB0AB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7380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1049C5-4BB4-C626-B1F9-552462E31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56FEC6-5912-7F18-FD0E-5A571E680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8F9F9B-9C33-C62A-67E9-31FE8FFB6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F25E7-6D9D-4D0E-8BD7-5A05075FE4C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509693-98B0-2D66-633C-5B80E276A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455556-2BE8-8111-6FAA-7086EAC26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DCE09-C22C-4622-9E5D-45F8EB0AB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174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BC8DF9-72A8-0561-2CBB-EFFD09112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382FAF-A420-21C8-35A6-5FEBDA97F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A59095-8059-287F-C350-1EE6FE9E3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F25E7-6D9D-4D0E-8BD7-5A05075FE4C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AEE675-E8C9-BBE2-DBCE-FA3CC5FFC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95BC93-25E7-D785-271D-87F047C29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DCE09-C22C-4622-9E5D-45F8EB0AB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018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FDC73A-18CC-F843-78EC-4C3EEBFB3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5EB788-6449-13A7-BF74-D7A95578C4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6F8FC4-4B30-9241-606E-1C0DEF6FD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D2C9E1-26F1-9ED9-4425-C4F2B946D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F25E7-6D9D-4D0E-8BD7-5A05075FE4C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8D4AE5-7861-197C-C224-D0CEEFAB5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824466-7E88-F915-E488-0AEE301BE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DCE09-C22C-4622-9E5D-45F8EB0AB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908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EDD168-FC0A-4A27-31D9-8361A78B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1121A7-40B0-F8E0-5D64-A9507B437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89188B-CD7F-15D2-BDF7-F2E098386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6C63C0F-1523-7994-2CF1-0E5B39281A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F794A0-1F9C-A1CE-E68C-694C1C1B86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98ACE88-18A5-4160-1F91-093E71C12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F25E7-6D9D-4D0E-8BD7-5A05075FE4C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EAC5F96-A5A9-D8DE-4FCA-8C5871D90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72342DF-9F5A-C006-A7F3-1B2B97E7A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DCE09-C22C-4622-9E5D-45F8EB0AB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976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FE82C2-FBF8-8FAC-3B81-5272269AB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CA0AF79-47D7-7563-C591-C05735691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F25E7-6D9D-4D0E-8BD7-5A05075FE4C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AC75E2-EE72-BBE5-7214-074020E1E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0AB73F-6124-3C95-6930-8C4CCD275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DCE09-C22C-4622-9E5D-45F8EB0AB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779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71C878-DDC9-ABFB-F10B-138A81FBD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F25E7-6D9D-4D0E-8BD7-5A05075FE4C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92B6684-70E2-4120-6C30-9AC7C61C5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B074C5-DA0A-8DE5-98C4-214FF53C5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DCE09-C22C-4622-9E5D-45F8EB0AB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277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AA62B5-A8B0-7433-192C-F676A247F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2C1F82-19A5-AB0C-4610-E59719FB1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F67FCD-23ED-315F-EB24-F361B6BAD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B5B3A1-4ECE-2EA9-931C-514BE6029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F25E7-6D9D-4D0E-8BD7-5A05075FE4C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19D527-548C-E17F-9BF1-DE95E7D50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345FA1-8523-F8DB-F498-701F24977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DCE09-C22C-4622-9E5D-45F8EB0AB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372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6147F2-6B4D-881D-AE80-2E404E27B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FC4A1A6-23F0-DB39-DD7E-A4B99ED2224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ECB3F3-EC64-D56B-1F2E-B7A64A2D8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40263B-25A2-B0AB-F0E3-849C8EA4A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F25E7-6D9D-4D0E-8BD7-5A05075FE4C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C2C2C3-5A63-447F-6428-8A6ED86FB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5FF7EF-DBBC-D416-AA48-F00D53215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DCE09-C22C-4622-9E5D-45F8EB0AB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859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4B00F5-8692-2410-1110-68B1B55E4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E6F92B-E436-E22F-3328-8FD298856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4CE428-1B87-BE41-6C3B-75540F9FA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F25E7-6D9D-4D0E-8BD7-5A05075FE4C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2A8596-A3BC-8B85-8C22-FA9B45C83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B9C3D0-7FD6-94E0-2D33-4D9DBF7C8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DCE09-C22C-4622-9E5D-45F8EB0AB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502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E092E66-5E23-305A-D631-3390C809DF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668174-E2BA-593D-35FF-467C626A54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87B58E-B60C-015E-FC6A-D9B288D3B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F25E7-6D9D-4D0E-8BD7-5A05075FE4C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1F1D63-4AC4-DF49-D86E-EDAAB7734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5C02B7-4FC4-8796-0245-11B218F8C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DCE09-C22C-4622-9E5D-45F8EB0AB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856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7F4202C-2255-B064-B8FF-D3FB83928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9C93A5-247A-D639-4187-E8F836440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42CECB-B4FC-4967-BD01-2DECE4BE9E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4F25E7-6D9D-4D0E-8BD7-5A05075FE4CD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56B8DF-C816-B5F8-64A4-52CD62C04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D0A2AC-BC18-13B3-D858-15986E72F8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2DCE09-C22C-4622-9E5D-45F8EB0ABD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822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2.png"/><Relationship Id="rId3" Type="http://schemas.openxmlformats.org/officeDocument/2006/relationships/tags" Target="../tags/tag3.xml"/><Relationship Id="rId21" Type="http://schemas.openxmlformats.org/officeDocument/2006/relationships/image" Target="../media/image5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1.jpg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7.xml"/><Relationship Id="rId20" Type="http://schemas.openxmlformats.org/officeDocument/2006/relationships/image" Target="../media/image4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3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recover-confirm">
            <a:extLst>
              <a:ext uri="{FF2B5EF4-FFF2-40B4-BE49-F238E27FC236}">
                <a16:creationId xmlns:a16="http://schemas.microsoft.com/office/drawing/2014/main" id="{E904182D-29CE-DCA3-E23C-ED550A63BC05}"/>
              </a:ext>
            </a:extLst>
          </p:cNvPr>
          <p:cNvCxnSpPr>
            <a:cxnSpLocks/>
            <a:stCxn id="44" idx="2"/>
            <a:endCxn id="45" idx="0"/>
          </p:cNvCxnSpPr>
          <p:nvPr>
            <p:custDataLst>
              <p:tags r:id="rId1"/>
            </p:custDataLst>
          </p:nvPr>
        </p:nvCxnSpPr>
        <p:spPr>
          <a:xfrm>
            <a:off x="10388600" y="3822700"/>
            <a:ext cx="0" cy="139700"/>
          </a:xfrm>
          <a:prstGeom prst="straightConnector1">
            <a:avLst/>
          </a:prstGeom>
          <a:ln w="19050">
            <a:solidFill>
              <a:srgbClr val="C67A3D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diagnose-recover">
            <a:extLst>
              <a:ext uri="{FF2B5EF4-FFF2-40B4-BE49-F238E27FC236}">
                <a16:creationId xmlns:a16="http://schemas.microsoft.com/office/drawing/2014/main" id="{C91582A4-96B2-260E-3A8A-2F105E2443C3}"/>
              </a:ext>
            </a:extLst>
          </p:cNvPr>
          <p:cNvCxnSpPr>
            <a:cxnSpLocks/>
            <a:stCxn id="43" idx="2"/>
            <a:endCxn id="44" idx="0"/>
          </p:cNvCxnSpPr>
          <p:nvPr>
            <p:custDataLst>
              <p:tags r:id="rId2"/>
            </p:custDataLst>
          </p:nvPr>
        </p:nvCxnSpPr>
        <p:spPr>
          <a:xfrm>
            <a:off x="10388600" y="3200400"/>
            <a:ext cx="0" cy="139700"/>
          </a:xfrm>
          <a:prstGeom prst="straightConnector1">
            <a:avLst/>
          </a:prstGeom>
          <a:ln w="19050">
            <a:solidFill>
              <a:srgbClr val="C67A3D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detect-diagnose">
            <a:extLst>
              <a:ext uri="{FF2B5EF4-FFF2-40B4-BE49-F238E27FC236}">
                <a16:creationId xmlns:a16="http://schemas.microsoft.com/office/drawing/2014/main" id="{7B0161EB-7E93-7355-30B2-ABBA50EDE017}"/>
              </a:ext>
            </a:extLst>
          </p:cNvPr>
          <p:cNvCxnSpPr>
            <a:cxnSpLocks/>
            <a:stCxn id="42" idx="2"/>
            <a:endCxn id="43" idx="0"/>
          </p:cNvCxnSpPr>
          <p:nvPr>
            <p:custDataLst>
              <p:tags r:id="rId3"/>
            </p:custDataLst>
          </p:nvPr>
        </p:nvCxnSpPr>
        <p:spPr>
          <a:xfrm>
            <a:off x="10388600" y="2578100"/>
            <a:ext cx="0" cy="139700"/>
          </a:xfrm>
          <a:prstGeom prst="straightConnector1">
            <a:avLst/>
          </a:prstGeom>
          <a:ln w="19050">
            <a:solidFill>
              <a:srgbClr val="C67A3D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recovery-detect">
            <a:extLst>
              <a:ext uri="{FF2B5EF4-FFF2-40B4-BE49-F238E27FC236}">
                <a16:creationId xmlns:a16="http://schemas.microsoft.com/office/drawing/2014/main" id="{5C2CAA5A-9757-2DB4-DF75-185CD7C22161}"/>
              </a:ext>
            </a:extLst>
          </p:cNvPr>
          <p:cNvCxnSpPr>
            <a:cxnSpLocks/>
            <a:stCxn id="41" idx="2"/>
            <a:endCxn id="42" idx="0"/>
          </p:cNvCxnSpPr>
          <p:nvPr>
            <p:custDataLst>
              <p:tags r:id="rId4"/>
            </p:custDataLst>
          </p:nvPr>
        </p:nvCxnSpPr>
        <p:spPr>
          <a:xfrm>
            <a:off x="10388600" y="1905000"/>
            <a:ext cx="0" cy="190500"/>
          </a:xfrm>
          <a:prstGeom prst="straightConnector1">
            <a:avLst/>
          </a:prstGeom>
          <a:ln w="19050">
            <a:solidFill>
              <a:srgbClr val="C67A3D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failure-flow">
            <a:extLst>
              <a:ext uri="{FF2B5EF4-FFF2-40B4-BE49-F238E27FC236}">
                <a16:creationId xmlns:a16="http://schemas.microsoft.com/office/drawing/2014/main" id="{055E6D0B-F5FA-5D65-9B62-953FD07DCD8B}"/>
              </a:ext>
            </a:extLst>
          </p:cNvPr>
          <p:cNvCxnSpPr>
            <a:cxnSpLocks/>
            <a:stCxn id="20" idx="3"/>
            <a:endCxn id="41" idx="1"/>
          </p:cNvCxnSpPr>
          <p:nvPr>
            <p:custDataLst>
              <p:tags r:id="rId5"/>
            </p:custDataLst>
          </p:nvPr>
        </p:nvCxnSpPr>
        <p:spPr>
          <a:xfrm>
            <a:off x="8458200" y="1619250"/>
            <a:ext cx="431800" cy="0"/>
          </a:xfrm>
          <a:prstGeom prst="straightConnector1">
            <a:avLst/>
          </a:prstGeom>
          <a:ln w="21590">
            <a:solidFill>
              <a:srgbClr val="326BB7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pose-flow">
            <a:extLst>
              <a:ext uri="{FF2B5EF4-FFF2-40B4-BE49-F238E27FC236}">
                <a16:creationId xmlns:a16="http://schemas.microsoft.com/office/drawing/2014/main" id="{78FA6092-51D8-82C1-8147-87D93D86B450}"/>
              </a:ext>
            </a:extLst>
          </p:cNvPr>
          <p:cNvCxnSpPr>
            <a:cxnSpLocks/>
            <a:stCxn id="11" idx="3"/>
            <a:endCxn id="20" idx="1"/>
          </p:cNvCxnSpPr>
          <p:nvPr>
            <p:custDataLst>
              <p:tags r:id="rId6"/>
            </p:custDataLst>
          </p:nvPr>
        </p:nvCxnSpPr>
        <p:spPr>
          <a:xfrm>
            <a:off x="4978400" y="1619250"/>
            <a:ext cx="406400" cy="0"/>
          </a:xfrm>
          <a:prstGeom prst="straightConnector1">
            <a:avLst/>
          </a:prstGeom>
          <a:ln w="21590">
            <a:solidFill>
              <a:srgbClr val="326BB7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ensor-flow">
            <a:extLst>
              <a:ext uri="{FF2B5EF4-FFF2-40B4-BE49-F238E27FC236}">
                <a16:creationId xmlns:a16="http://schemas.microsoft.com/office/drawing/2014/main" id="{9EC94739-D69D-D431-D9DA-DEA126788BCD}"/>
              </a:ext>
            </a:extLst>
          </p:cNvPr>
          <p:cNvCxnSpPr>
            <a:cxnSpLocks/>
            <a:stCxn id="4" idx="3"/>
            <a:endCxn id="11" idx="1"/>
          </p:cNvCxnSpPr>
          <p:nvPr>
            <p:custDataLst>
              <p:tags r:id="rId7"/>
            </p:custDataLst>
          </p:nvPr>
        </p:nvCxnSpPr>
        <p:spPr>
          <a:xfrm>
            <a:off x="2527300" y="1619250"/>
            <a:ext cx="355600" cy="0"/>
          </a:xfrm>
          <a:prstGeom prst="straightConnector1">
            <a:avLst/>
          </a:prstGeom>
          <a:ln w="21590">
            <a:solidFill>
              <a:srgbClr val="326BB7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">
            <a:extLst>
              <a:ext uri="{FF2B5EF4-FFF2-40B4-BE49-F238E27FC236}">
                <a16:creationId xmlns:a16="http://schemas.microsoft.com/office/drawing/2014/main" id="{049F0246-552D-EAA2-D917-56F7410BB770}"/>
              </a:ext>
            </a:extLst>
          </p:cNvPr>
          <p:cNvSpPr txBox="1"/>
          <p:nvPr/>
        </p:nvSpPr>
        <p:spPr>
          <a:xfrm>
            <a:off x="304800" y="254000"/>
            <a:ext cx="11582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600" b="1">
                <a:solidFill>
                  <a:srgbClr val="173653"/>
                </a:solidFill>
                <a:latin typeface="Arial" panose="020B0604020202020204" pitchFamily="34" charset="0"/>
              </a:rPr>
              <a:t>SLAM and dynamic robustness: where is our open question?</a:t>
            </a:r>
            <a:endParaRPr lang="zh-CN" altLang="en-US" sz="2600" b="1">
              <a:solidFill>
                <a:srgbClr val="173653"/>
              </a:solidFill>
              <a:latin typeface="Arial" panose="020B0604020202020204" pitchFamily="34" charset="0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C87B1BB9-0C57-F10D-9F3F-5B0622BC053F}"/>
              </a:ext>
            </a:extLst>
          </p:cNvPr>
          <p:cNvSpPr txBox="1"/>
          <p:nvPr/>
        </p:nvSpPr>
        <p:spPr>
          <a:xfrm>
            <a:off x="304800" y="850900"/>
            <a:ext cx="11582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500">
                <a:solidFill>
                  <a:srgbClr val="22324A"/>
                </a:solidFill>
                <a:latin typeface="Arial" panose="020B0604020202020204" pitchFamily="34" charset="0"/>
              </a:rPr>
              <a:t>SLAM estimates pose and map jointly. Recovery concerns pose estimation after tracking fails.</a:t>
            </a:r>
            <a:endParaRPr lang="zh-CN" altLang="en-US" sz="1500">
              <a:solidFill>
                <a:srgbClr val="22324A"/>
              </a:solidFill>
              <a:latin typeface="Arial" panose="020B0604020202020204" pitchFamily="34" charset="0"/>
            </a:endParaRPr>
          </a:p>
        </p:txBody>
      </p:sp>
      <p:sp>
        <p:nvSpPr>
          <p:cNvPr id="4" name="platform">
            <a:extLst>
              <a:ext uri="{FF2B5EF4-FFF2-40B4-BE49-F238E27FC236}">
                <a16:creationId xmlns:a16="http://schemas.microsoft.com/office/drawing/2014/main" id="{31B6D4C1-BDB1-D08C-F34C-DC42FD26F81B}"/>
              </a:ext>
            </a:extLst>
          </p:cNvPr>
          <p:cNvSpPr/>
          <p:nvPr/>
        </p:nvSpPr>
        <p:spPr>
          <a:xfrm>
            <a:off x="304800" y="1333500"/>
            <a:ext cx="2222500" cy="571500"/>
          </a:xfrm>
          <a:prstGeom prst="roundRect">
            <a:avLst/>
          </a:prstGeom>
          <a:solidFill>
            <a:srgbClr val="E9F2FF"/>
          </a:solidFill>
          <a:ln w="16510">
            <a:solidFill>
              <a:srgbClr val="326B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lstStyle/>
          <a:p>
            <a:pPr algn="ctr"/>
            <a:r>
              <a:rPr lang="en-US" altLang="zh-CN" sz="1300">
                <a:solidFill>
                  <a:srgbClr val="22324A"/>
                </a:solidFill>
                <a:latin typeface="Arial" panose="020B0604020202020204" pitchFamily="34" charset="0"/>
              </a:rPr>
              <a:t>Robot platform</a:t>
            </a:r>
            <a:endParaRPr lang="zh-CN" altLang="en-US" sz="1300">
              <a:solidFill>
                <a:srgbClr val="22324A"/>
              </a:solidFill>
              <a:latin typeface="Arial" panose="020B0604020202020204" pitchFamily="34" charset="0"/>
            </a:endParaRPr>
          </a:p>
        </p:txBody>
      </p:sp>
      <p:pic>
        <p:nvPicPr>
          <p:cNvPr id="6" name="chassis" descr="Raster-only visual evidence: One user-supplied photograph of the physical chassis">
            <a:extLst>
              <a:ext uri="{FF2B5EF4-FFF2-40B4-BE49-F238E27FC236}">
                <a16:creationId xmlns:a16="http://schemas.microsoft.com/office/drawing/2014/main" id="{F84B4449-AEDA-16C7-1EFA-57D8957DF58A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59000"/>
            <a:ext cx="2209800" cy="1657350"/>
          </a:xfrm>
          <a:prstGeom prst="rect">
            <a:avLst/>
          </a:prstGeom>
        </p:spPr>
      </p:pic>
      <p:sp>
        <p:nvSpPr>
          <p:cNvPr id="7" name="chassis-caption">
            <a:extLst>
              <a:ext uri="{FF2B5EF4-FFF2-40B4-BE49-F238E27FC236}">
                <a16:creationId xmlns:a16="http://schemas.microsoft.com/office/drawing/2014/main" id="{BF639B58-8BBE-98D2-DF7F-49569EF8B128}"/>
              </a:ext>
            </a:extLst>
          </p:cNvPr>
          <p:cNvSpPr txBox="1"/>
          <p:nvPr/>
        </p:nvSpPr>
        <p:spPr>
          <a:xfrm>
            <a:off x="304800" y="3873500"/>
            <a:ext cx="222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>
                <a:solidFill>
                  <a:srgbClr val="22324A"/>
                </a:solidFill>
                <a:latin typeface="Arial" panose="020B0604020202020204" pitchFamily="34" charset="0"/>
              </a:rPr>
              <a:t>Physical omni chassis</a:t>
            </a:r>
            <a:endParaRPr lang="zh-CN" altLang="en-US" sz="1200">
              <a:solidFill>
                <a:srgbClr val="22324A"/>
              </a:solidFill>
              <a:latin typeface="Arial" panose="020B0604020202020204" pitchFamily="34" charset="0"/>
            </a:endParaRPr>
          </a:p>
        </p:txBody>
      </p:sp>
      <p:pic>
        <p:nvPicPr>
          <p:cNvPr id="9" name="sensors" descr="Raster-only visual evidence: One user-supplied photograph of the actual sensors">
            <a:extLst>
              <a:ext uri="{FF2B5EF4-FFF2-40B4-BE49-F238E27FC236}">
                <a16:creationId xmlns:a16="http://schemas.microsoft.com/office/drawing/2014/main" id="{F4CF536A-0976-E4FC-F810-B2178D7D9DAC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4318000"/>
            <a:ext cx="2108200" cy="1495171"/>
          </a:xfrm>
          <a:prstGeom prst="rect">
            <a:avLst/>
          </a:prstGeom>
        </p:spPr>
      </p:pic>
      <p:sp>
        <p:nvSpPr>
          <p:cNvPr id="10" name="sensors-caption">
            <a:extLst>
              <a:ext uri="{FF2B5EF4-FFF2-40B4-BE49-F238E27FC236}">
                <a16:creationId xmlns:a16="http://schemas.microsoft.com/office/drawing/2014/main" id="{3A28705C-7A9A-9A9F-6C5B-7582E4C87FBA}"/>
              </a:ext>
            </a:extLst>
          </p:cNvPr>
          <p:cNvSpPr txBox="1"/>
          <p:nvPr/>
        </p:nvSpPr>
        <p:spPr>
          <a:xfrm>
            <a:off x="304800" y="5880100"/>
            <a:ext cx="222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>
                <a:solidFill>
                  <a:srgbClr val="22324A"/>
                </a:solidFill>
                <a:latin typeface="Arial" panose="020B0604020202020204" pitchFamily="34" charset="0"/>
              </a:rPr>
              <a:t>2D LiDAR + depth camera</a:t>
            </a:r>
            <a:endParaRPr lang="zh-CN" altLang="en-US" sz="1200">
              <a:solidFill>
                <a:srgbClr val="22324A"/>
              </a:solidFill>
              <a:latin typeface="Arial" panose="020B0604020202020204" pitchFamily="34" charset="0"/>
            </a:endParaRPr>
          </a:p>
        </p:txBody>
      </p:sp>
      <p:sp>
        <p:nvSpPr>
          <p:cNvPr id="11" name="observations">
            <a:extLst>
              <a:ext uri="{FF2B5EF4-FFF2-40B4-BE49-F238E27FC236}">
                <a16:creationId xmlns:a16="http://schemas.microsoft.com/office/drawing/2014/main" id="{C62FCE6B-E100-8C5C-3761-CAD0C234C764}"/>
              </a:ext>
            </a:extLst>
          </p:cNvPr>
          <p:cNvSpPr/>
          <p:nvPr/>
        </p:nvSpPr>
        <p:spPr>
          <a:xfrm>
            <a:off x="2882900" y="1333500"/>
            <a:ext cx="2095500" cy="571500"/>
          </a:xfrm>
          <a:prstGeom prst="roundRect">
            <a:avLst/>
          </a:prstGeom>
          <a:solidFill>
            <a:srgbClr val="E9F2FF"/>
          </a:solidFill>
          <a:ln w="16510">
            <a:solidFill>
              <a:srgbClr val="326B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lstStyle/>
          <a:p>
            <a:pPr algn="ctr"/>
            <a:r>
              <a:rPr lang="en-US" altLang="zh-CN" sz="1300">
                <a:solidFill>
                  <a:srgbClr val="22324A"/>
                </a:solidFill>
                <a:latin typeface="Arial" panose="020B0604020202020204" pitchFamily="34" charset="0"/>
              </a:rPr>
              <a:t>Sensor observations</a:t>
            </a:r>
            <a:endParaRPr lang="zh-CN" altLang="en-US" sz="1300">
              <a:solidFill>
                <a:srgbClr val="22324A"/>
              </a:solidFill>
              <a:latin typeface="Arial" panose="020B0604020202020204" pitchFamily="34" charset="0"/>
            </a:endParaRPr>
          </a:p>
        </p:txBody>
      </p:sp>
      <p:pic>
        <p:nvPicPr>
          <p:cNvPr id="13" name="scan2" descr="Raster-only visual evidence: One actual LaserScan geometric field from the recorded ROS bag; no axes or labels are rasterized">
            <a:extLst>
              <a:ext uri="{FF2B5EF4-FFF2-40B4-BE49-F238E27FC236}">
                <a16:creationId xmlns:a16="http://schemas.microsoft.com/office/drawing/2014/main" id="{8EF9648B-A3C2-9C68-D53A-84A28F65A3ED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900" y="2222500"/>
            <a:ext cx="2095500" cy="1397000"/>
          </a:xfrm>
          <a:prstGeom prst="rect">
            <a:avLst/>
          </a:prstGeom>
        </p:spPr>
      </p:pic>
      <p:sp>
        <p:nvSpPr>
          <p:cNvPr id="14" name="scan2-caption">
            <a:extLst>
              <a:ext uri="{FF2B5EF4-FFF2-40B4-BE49-F238E27FC236}">
                <a16:creationId xmlns:a16="http://schemas.microsoft.com/office/drawing/2014/main" id="{0FA06859-97EF-EC11-7BF5-149B6033ECC9}"/>
              </a:ext>
            </a:extLst>
          </p:cNvPr>
          <p:cNvSpPr txBox="1"/>
          <p:nvPr/>
        </p:nvSpPr>
        <p:spPr>
          <a:xfrm>
            <a:off x="2882900" y="36830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>
                <a:solidFill>
                  <a:srgbClr val="22324A"/>
                </a:solidFill>
                <a:latin typeface="Arial" panose="020B0604020202020204" pitchFamily="34" charset="0"/>
              </a:rPr>
              <a:t>Gazebo: 2D laser scan</a:t>
            </a:r>
            <a:endParaRPr lang="zh-CN" altLang="en-US" sz="1200">
              <a:solidFill>
                <a:srgbClr val="22324A"/>
              </a:solidFill>
              <a:latin typeface="Arial" panose="020B0604020202020204" pitchFamily="34" charset="0"/>
            </a:endParaRPr>
          </a:p>
        </p:txBody>
      </p:sp>
      <p:sp>
        <p:nvSpPr>
          <p:cNvPr id="17" name="scan3-caption">
            <a:extLst>
              <a:ext uri="{FF2B5EF4-FFF2-40B4-BE49-F238E27FC236}">
                <a16:creationId xmlns:a16="http://schemas.microsoft.com/office/drawing/2014/main" id="{95C45387-34E6-CBEE-1EBD-C1634710A0C4}"/>
              </a:ext>
            </a:extLst>
          </p:cNvPr>
          <p:cNvSpPr txBox="1"/>
          <p:nvPr/>
        </p:nvSpPr>
        <p:spPr>
          <a:xfrm>
            <a:off x="2882900" y="57404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>
                <a:solidFill>
                  <a:srgbClr val="22324A"/>
                </a:solidFill>
                <a:latin typeface="Arial" panose="020B0604020202020204" pitchFamily="34" charset="0"/>
              </a:rPr>
              <a:t>Gazebo: 3D laser scan</a:t>
            </a:r>
            <a:endParaRPr lang="zh-CN" altLang="en-US" sz="1200">
              <a:solidFill>
                <a:srgbClr val="22324A"/>
              </a:solidFill>
              <a:latin typeface="Arial" panose="020B0604020202020204" pitchFamily="34" charset="0"/>
            </a:endParaRPr>
          </a:p>
        </p:txBody>
      </p:sp>
      <p:pic>
        <p:nvPicPr>
          <p:cNvPr id="19" name="scan3" descr="Raster-only visual evidence: One dense actual 3D LiDAR scan, rendered from recorded point data">
            <a:extLst>
              <a:ext uri="{FF2B5EF4-FFF2-40B4-BE49-F238E27FC236}">
                <a16:creationId xmlns:a16="http://schemas.microsoft.com/office/drawing/2014/main" id="{57C29DE6-FBBC-CD8F-B014-E2D59E84BE4E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900" y="4318000"/>
            <a:ext cx="2095500" cy="1309688"/>
          </a:xfrm>
          <a:prstGeom prst="rect">
            <a:avLst/>
          </a:prstGeom>
        </p:spPr>
      </p:pic>
      <p:sp>
        <p:nvSpPr>
          <p:cNvPr id="20" name="pose">
            <a:extLst>
              <a:ext uri="{FF2B5EF4-FFF2-40B4-BE49-F238E27FC236}">
                <a16:creationId xmlns:a16="http://schemas.microsoft.com/office/drawing/2014/main" id="{0190EDE5-1870-EFEC-6F1C-1F618FFB5B1A}"/>
              </a:ext>
            </a:extLst>
          </p:cNvPr>
          <p:cNvSpPr/>
          <p:nvPr/>
        </p:nvSpPr>
        <p:spPr>
          <a:xfrm>
            <a:off x="5384800" y="1333500"/>
            <a:ext cx="3073400" cy="571500"/>
          </a:xfrm>
          <a:prstGeom prst="roundRect">
            <a:avLst/>
          </a:prstGeom>
          <a:solidFill>
            <a:srgbClr val="E9F2FF"/>
          </a:solidFill>
          <a:ln w="16510">
            <a:solidFill>
              <a:srgbClr val="326B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lstStyle/>
          <a:p>
            <a:pPr algn="ctr"/>
            <a:r>
              <a:rPr lang="en-US" altLang="zh-CN" sz="1300">
                <a:solidFill>
                  <a:srgbClr val="22324A"/>
                </a:solidFill>
                <a:latin typeface="Arial" panose="020B0604020202020204" pitchFamily="34" charset="0"/>
              </a:rPr>
              <a:t>Pose estimation</a:t>
            </a:r>
            <a:endParaRPr lang="zh-CN" altLang="en-US" sz="1300">
              <a:solidFill>
                <a:srgbClr val="22324A"/>
              </a:solidFill>
              <a:latin typeface="Arial" panose="020B0604020202020204" pitchFamily="34" charset="0"/>
            </a:endParaRPr>
          </a:p>
        </p:txBody>
      </p:sp>
      <p:sp>
        <p:nvSpPr>
          <p:cNvPr id="21" name="localizers">
            <a:extLst>
              <a:ext uri="{FF2B5EF4-FFF2-40B4-BE49-F238E27FC236}">
                <a16:creationId xmlns:a16="http://schemas.microsoft.com/office/drawing/2014/main" id="{1478BE76-51B1-B87D-E839-EE1ABB00653D}"/>
              </a:ext>
            </a:extLst>
          </p:cNvPr>
          <p:cNvSpPr txBox="1"/>
          <p:nvPr/>
        </p:nvSpPr>
        <p:spPr>
          <a:xfrm>
            <a:off x="6007100" y="1930399"/>
            <a:ext cx="21971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altLang="zh-CN" sz="900">
                <a:solidFill>
                  <a:srgbClr val="22324A"/>
                </a:solidFill>
                <a:latin typeface="Arial" panose="020B0604020202020204" pitchFamily="34" charset="0"/>
              </a:rPr>
              <a:t>AMCL / IR-MCL / AdaM-MCL
NDT / GICP</a:t>
            </a:r>
            <a:endParaRPr lang="zh-CN" altLang="en-US" sz="900">
              <a:solidFill>
                <a:srgbClr val="22324A"/>
              </a:solidFill>
              <a:latin typeface="Arial" panose="020B0604020202020204" pitchFamily="34" charset="0"/>
            </a:endParaRPr>
          </a:p>
        </p:txBody>
      </p:sp>
      <p:sp>
        <p:nvSpPr>
          <p:cNvPr id="22" name="belief-caption">
            <a:extLst>
              <a:ext uri="{FF2B5EF4-FFF2-40B4-BE49-F238E27FC236}">
                <a16:creationId xmlns:a16="http://schemas.microsoft.com/office/drawing/2014/main" id="{215060F9-5478-BFEC-A96F-6BD86627FBF5}"/>
              </a:ext>
            </a:extLst>
          </p:cNvPr>
          <p:cNvSpPr txBox="1"/>
          <p:nvPr/>
        </p:nvSpPr>
        <p:spPr>
          <a:xfrm>
            <a:off x="6007100" y="2667000"/>
            <a:ext cx="21971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22324A"/>
                </a:solidFill>
                <a:latin typeface="Arial" panose="020B0604020202020204" pitchFamily="34" charset="0"/>
              </a:rPr>
              <a:t>Pose hypotheses (schematic)</a:t>
            </a:r>
            <a:endParaRPr lang="zh-CN" altLang="en-US" sz="1100">
              <a:solidFill>
                <a:srgbClr val="22324A"/>
              </a:solidFill>
              <a:latin typeface="Arial" panose="020B0604020202020204" pitchFamily="34" charset="0"/>
            </a:endParaRPr>
          </a:p>
        </p:txBody>
      </p:sp>
      <p:sp>
        <p:nvSpPr>
          <p:cNvPr id="23" name="mapping">
            <a:extLst>
              <a:ext uri="{FF2B5EF4-FFF2-40B4-BE49-F238E27FC236}">
                <a16:creationId xmlns:a16="http://schemas.microsoft.com/office/drawing/2014/main" id="{FCD24C0F-FD5D-8099-D1EA-47951CDE3B6D}"/>
              </a:ext>
            </a:extLst>
          </p:cNvPr>
          <p:cNvSpPr/>
          <p:nvPr/>
        </p:nvSpPr>
        <p:spPr>
          <a:xfrm>
            <a:off x="5384800" y="3200400"/>
            <a:ext cx="3073400" cy="571500"/>
          </a:xfrm>
          <a:prstGeom prst="roundRect">
            <a:avLst/>
          </a:prstGeom>
          <a:solidFill>
            <a:srgbClr val="E9F2FF"/>
          </a:solidFill>
          <a:ln w="16510">
            <a:solidFill>
              <a:srgbClr val="326B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lstStyle/>
          <a:p>
            <a:pPr algn="ctr"/>
            <a:r>
              <a:rPr lang="en-US" altLang="zh-CN" sz="1300">
                <a:solidFill>
                  <a:srgbClr val="22324A"/>
                </a:solidFill>
                <a:latin typeface="Arial" panose="020B0604020202020204" pitchFamily="34" charset="0"/>
              </a:rPr>
              <a:t>Map estimation / update</a:t>
            </a:r>
            <a:endParaRPr lang="zh-CN" altLang="en-US" sz="1300">
              <a:solidFill>
                <a:srgbClr val="22324A"/>
              </a:solidFill>
              <a:latin typeface="Arial" panose="020B0604020202020204" pitchFamily="34" charset="0"/>
            </a:endParaRPr>
          </a:p>
        </p:txBody>
      </p:sp>
      <p:pic>
        <p:nvPicPr>
          <p:cNvPr id="25" name="map3" descr="Raster-only visual evidence: One dense recorded 3D map field from controlled provided-pose mapping A">
            <a:extLst>
              <a:ext uri="{FF2B5EF4-FFF2-40B4-BE49-F238E27FC236}">
                <a16:creationId xmlns:a16="http://schemas.microsoft.com/office/drawing/2014/main" id="{C8730820-CA44-0EB9-2B71-EF150199990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4800" y="3873500"/>
            <a:ext cx="3073400" cy="1920875"/>
          </a:xfrm>
          <a:prstGeom prst="rect">
            <a:avLst/>
          </a:prstGeom>
        </p:spPr>
      </p:pic>
      <p:sp>
        <p:nvSpPr>
          <p:cNvPr id="26" name="map3-caption">
            <a:extLst>
              <a:ext uri="{FF2B5EF4-FFF2-40B4-BE49-F238E27FC236}">
                <a16:creationId xmlns:a16="http://schemas.microsoft.com/office/drawing/2014/main" id="{E1A6E752-7BEE-1545-834F-4867E28DF30D}"/>
              </a:ext>
            </a:extLst>
          </p:cNvPr>
          <p:cNvSpPr txBox="1"/>
          <p:nvPr/>
        </p:nvSpPr>
        <p:spPr>
          <a:xfrm>
            <a:off x="5384800" y="5880100"/>
            <a:ext cx="307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>
                <a:solidFill>
                  <a:srgbClr val="22324A"/>
                </a:solidFill>
                <a:latin typeface="Arial" panose="020B0604020202020204" pitchFamily="34" charset="0"/>
              </a:rPr>
              <a:t>Provided-pose 3D map (Gazebo)</a:t>
            </a:r>
            <a:endParaRPr lang="zh-CN" altLang="en-US" sz="1200">
              <a:solidFill>
                <a:srgbClr val="22324A"/>
              </a:solidFill>
              <a:latin typeface="Arial" panose="020B0604020202020204" pitchFamily="34" charset="0"/>
            </a:endParaRPr>
          </a:p>
        </p:txBody>
      </p:sp>
      <p:sp>
        <p:nvSpPr>
          <p:cNvPr id="27" name="map-methods">
            <a:extLst>
              <a:ext uri="{FF2B5EF4-FFF2-40B4-BE49-F238E27FC236}">
                <a16:creationId xmlns:a16="http://schemas.microsoft.com/office/drawing/2014/main" id="{559DF0E0-6C74-034B-BF88-68D76B06DE06}"/>
              </a:ext>
            </a:extLst>
          </p:cNvPr>
          <p:cNvSpPr txBox="1"/>
          <p:nvPr/>
        </p:nvSpPr>
        <p:spPr>
          <a:xfrm>
            <a:off x="5384800" y="6210300"/>
            <a:ext cx="3073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22324A"/>
                </a:solidFill>
                <a:latin typeface="Arial" panose="020B0604020202020204" pitchFamily="34" charset="0"/>
              </a:rPr>
              <a:t>DUFOMap / BeautyMap: map cleaning</a:t>
            </a:r>
            <a:endParaRPr lang="zh-CN" altLang="en-US" sz="1100">
              <a:solidFill>
                <a:srgbClr val="22324A"/>
              </a:solidFill>
              <a:latin typeface="Arial" panose="020B0604020202020204" pitchFamily="34" charset="0"/>
            </a:endParaRPr>
          </a:p>
        </p:txBody>
      </p:sp>
      <p:grpSp>
        <p:nvGrpSpPr>
          <p:cNvPr id="40" name="pose-belief-glyph">
            <a:extLst>
              <a:ext uri="{FF2B5EF4-FFF2-40B4-BE49-F238E27FC236}">
                <a16:creationId xmlns:a16="http://schemas.microsoft.com/office/drawing/2014/main" id="{A4B98DA9-7A84-953F-C9D3-EBAA172CC904}"/>
              </a:ext>
            </a:extLst>
          </p:cNvPr>
          <p:cNvGrpSpPr/>
          <p:nvPr/>
        </p:nvGrpSpPr>
        <p:grpSpPr>
          <a:xfrm>
            <a:off x="6311900" y="2260600"/>
            <a:ext cx="1587500" cy="330200"/>
            <a:chOff x="6311900" y="2260600"/>
            <a:chExt cx="1587500" cy="330200"/>
          </a:xfrm>
        </p:grpSpPr>
        <p:sp>
          <p:nvSpPr>
            <p:cNvPr id="28" name="candidate-upper-west">
              <a:extLst>
                <a:ext uri="{FF2B5EF4-FFF2-40B4-BE49-F238E27FC236}">
                  <a16:creationId xmlns:a16="http://schemas.microsoft.com/office/drawing/2014/main" id="{5A504708-BD24-A3EE-00ED-E07A6C43060D}"/>
                </a:ext>
              </a:extLst>
            </p:cNvPr>
            <p:cNvSpPr/>
            <p:nvPr/>
          </p:nvSpPr>
          <p:spPr>
            <a:xfrm>
              <a:off x="6311900" y="2298700"/>
              <a:ext cx="63500" cy="63500"/>
            </a:xfrm>
            <a:prstGeom prst="ellipse">
              <a:avLst/>
            </a:prstGeom>
            <a:solidFill>
              <a:srgbClr val="69A4D8"/>
            </a:solidFill>
            <a:ln w="6350">
              <a:solidFill>
                <a:srgbClr val="326B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candidate-mid-west">
              <a:extLst>
                <a:ext uri="{FF2B5EF4-FFF2-40B4-BE49-F238E27FC236}">
                  <a16:creationId xmlns:a16="http://schemas.microsoft.com/office/drawing/2014/main" id="{7599B0A4-99F2-5D77-BE35-DF982F89FA23}"/>
                </a:ext>
              </a:extLst>
            </p:cNvPr>
            <p:cNvSpPr/>
            <p:nvPr/>
          </p:nvSpPr>
          <p:spPr>
            <a:xfrm>
              <a:off x="6553200" y="2400300"/>
              <a:ext cx="63500" cy="63500"/>
            </a:xfrm>
            <a:prstGeom prst="ellipse">
              <a:avLst/>
            </a:prstGeom>
            <a:solidFill>
              <a:srgbClr val="69A4D8"/>
            </a:solidFill>
            <a:ln w="6350">
              <a:solidFill>
                <a:srgbClr val="326B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candidate-upper-centre">
              <a:extLst>
                <a:ext uri="{FF2B5EF4-FFF2-40B4-BE49-F238E27FC236}">
                  <a16:creationId xmlns:a16="http://schemas.microsoft.com/office/drawing/2014/main" id="{6C0F8677-664B-C81E-B5AD-86D2A3EFEBFB}"/>
                </a:ext>
              </a:extLst>
            </p:cNvPr>
            <p:cNvSpPr/>
            <p:nvPr/>
          </p:nvSpPr>
          <p:spPr>
            <a:xfrm>
              <a:off x="6781800" y="2260600"/>
              <a:ext cx="63500" cy="63500"/>
            </a:xfrm>
            <a:prstGeom prst="ellipse">
              <a:avLst/>
            </a:prstGeom>
            <a:solidFill>
              <a:srgbClr val="69A4D8"/>
            </a:solidFill>
            <a:ln w="6350">
              <a:solidFill>
                <a:srgbClr val="326B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candidate-mid-centre">
              <a:extLst>
                <a:ext uri="{FF2B5EF4-FFF2-40B4-BE49-F238E27FC236}">
                  <a16:creationId xmlns:a16="http://schemas.microsoft.com/office/drawing/2014/main" id="{86B0D9BF-7609-9A4A-624D-85C95496CE08}"/>
                </a:ext>
              </a:extLst>
            </p:cNvPr>
            <p:cNvSpPr/>
            <p:nvPr/>
          </p:nvSpPr>
          <p:spPr>
            <a:xfrm>
              <a:off x="7010400" y="2374900"/>
              <a:ext cx="63500" cy="63500"/>
            </a:xfrm>
            <a:prstGeom prst="ellipse">
              <a:avLst/>
            </a:prstGeom>
            <a:solidFill>
              <a:srgbClr val="69A4D8"/>
            </a:solidFill>
            <a:ln w="6350">
              <a:solidFill>
                <a:srgbClr val="326B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candidate-upper-near-east">
              <a:extLst>
                <a:ext uri="{FF2B5EF4-FFF2-40B4-BE49-F238E27FC236}">
                  <a16:creationId xmlns:a16="http://schemas.microsoft.com/office/drawing/2014/main" id="{AF183AF9-AAFA-8B0E-34B8-416569FD6A47}"/>
                </a:ext>
              </a:extLst>
            </p:cNvPr>
            <p:cNvSpPr/>
            <p:nvPr/>
          </p:nvSpPr>
          <p:spPr>
            <a:xfrm>
              <a:off x="7188200" y="2298700"/>
              <a:ext cx="63500" cy="63500"/>
            </a:xfrm>
            <a:prstGeom prst="ellipse">
              <a:avLst/>
            </a:prstGeom>
            <a:solidFill>
              <a:srgbClr val="69A4D8"/>
            </a:solidFill>
            <a:ln w="6350">
              <a:solidFill>
                <a:srgbClr val="326B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candidate-lower-near-east">
              <a:extLst>
                <a:ext uri="{FF2B5EF4-FFF2-40B4-BE49-F238E27FC236}">
                  <a16:creationId xmlns:a16="http://schemas.microsoft.com/office/drawing/2014/main" id="{9F0E7AE6-1538-8EEC-23A1-C39EECEE9C95}"/>
                </a:ext>
              </a:extLst>
            </p:cNvPr>
            <p:cNvSpPr/>
            <p:nvPr/>
          </p:nvSpPr>
          <p:spPr>
            <a:xfrm>
              <a:off x="7391400" y="2501900"/>
              <a:ext cx="63500" cy="63500"/>
            </a:xfrm>
            <a:prstGeom prst="ellipse">
              <a:avLst/>
            </a:prstGeom>
            <a:solidFill>
              <a:srgbClr val="69A4D8"/>
            </a:solidFill>
            <a:ln w="6350">
              <a:solidFill>
                <a:srgbClr val="326B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candidate-upper-east">
              <a:extLst>
                <a:ext uri="{FF2B5EF4-FFF2-40B4-BE49-F238E27FC236}">
                  <a16:creationId xmlns:a16="http://schemas.microsoft.com/office/drawing/2014/main" id="{DF25C33F-E2D4-3D58-8F2B-319DCABC05A6}"/>
                </a:ext>
              </a:extLst>
            </p:cNvPr>
            <p:cNvSpPr/>
            <p:nvPr/>
          </p:nvSpPr>
          <p:spPr>
            <a:xfrm>
              <a:off x="7670800" y="2298700"/>
              <a:ext cx="63500" cy="63500"/>
            </a:xfrm>
            <a:prstGeom prst="ellipse">
              <a:avLst/>
            </a:prstGeom>
            <a:solidFill>
              <a:srgbClr val="69A4D8"/>
            </a:solidFill>
            <a:ln w="6350">
              <a:solidFill>
                <a:srgbClr val="326B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candidate-mid-east">
              <a:extLst>
                <a:ext uri="{FF2B5EF4-FFF2-40B4-BE49-F238E27FC236}">
                  <a16:creationId xmlns:a16="http://schemas.microsoft.com/office/drawing/2014/main" id="{2E4F4350-7385-6169-3D67-F39953E2E9A9}"/>
                </a:ext>
              </a:extLst>
            </p:cNvPr>
            <p:cNvSpPr/>
            <p:nvPr/>
          </p:nvSpPr>
          <p:spPr>
            <a:xfrm>
              <a:off x="7835900" y="2463800"/>
              <a:ext cx="63500" cy="63500"/>
            </a:xfrm>
            <a:prstGeom prst="ellipse">
              <a:avLst/>
            </a:prstGeom>
            <a:solidFill>
              <a:srgbClr val="69A4D8"/>
            </a:solidFill>
            <a:ln w="6350">
              <a:solidFill>
                <a:srgbClr val="326B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candidate-lower-west">
              <a:extLst>
                <a:ext uri="{FF2B5EF4-FFF2-40B4-BE49-F238E27FC236}">
                  <a16:creationId xmlns:a16="http://schemas.microsoft.com/office/drawing/2014/main" id="{38E3024F-B517-A7EA-4205-DC45837AE70D}"/>
                </a:ext>
              </a:extLst>
            </p:cNvPr>
            <p:cNvSpPr/>
            <p:nvPr/>
          </p:nvSpPr>
          <p:spPr>
            <a:xfrm>
              <a:off x="6400800" y="2527300"/>
              <a:ext cx="63500" cy="63500"/>
            </a:xfrm>
            <a:prstGeom prst="ellipse">
              <a:avLst/>
            </a:prstGeom>
            <a:solidFill>
              <a:srgbClr val="69A4D8"/>
            </a:solidFill>
            <a:ln w="6350">
              <a:solidFill>
                <a:srgbClr val="326B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candidate-lower-centre">
              <a:extLst>
                <a:ext uri="{FF2B5EF4-FFF2-40B4-BE49-F238E27FC236}">
                  <a16:creationId xmlns:a16="http://schemas.microsoft.com/office/drawing/2014/main" id="{5428E7EA-9E15-DDA6-4CEE-038BD53CE404}"/>
                </a:ext>
              </a:extLst>
            </p:cNvPr>
            <p:cNvSpPr/>
            <p:nvPr/>
          </p:nvSpPr>
          <p:spPr>
            <a:xfrm>
              <a:off x="6845300" y="2489200"/>
              <a:ext cx="63500" cy="63500"/>
            </a:xfrm>
            <a:prstGeom prst="ellipse">
              <a:avLst/>
            </a:prstGeom>
            <a:solidFill>
              <a:srgbClr val="69A4D8"/>
            </a:solidFill>
            <a:ln w="6350">
              <a:solidFill>
                <a:srgbClr val="326B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candidate-bottom-centre">
              <a:extLst>
                <a:ext uri="{FF2B5EF4-FFF2-40B4-BE49-F238E27FC236}">
                  <a16:creationId xmlns:a16="http://schemas.microsoft.com/office/drawing/2014/main" id="{6CA37F80-06BC-7D90-E973-F349632A6AA0}"/>
                </a:ext>
              </a:extLst>
            </p:cNvPr>
            <p:cNvSpPr/>
            <p:nvPr/>
          </p:nvSpPr>
          <p:spPr>
            <a:xfrm>
              <a:off x="7175500" y="2527300"/>
              <a:ext cx="63500" cy="63500"/>
            </a:xfrm>
            <a:prstGeom prst="ellipse">
              <a:avLst/>
            </a:prstGeom>
            <a:solidFill>
              <a:srgbClr val="69A4D8"/>
            </a:solidFill>
            <a:ln w="6350">
              <a:solidFill>
                <a:srgbClr val="326B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candidate-inner-east">
              <a:extLst>
                <a:ext uri="{FF2B5EF4-FFF2-40B4-BE49-F238E27FC236}">
                  <a16:creationId xmlns:a16="http://schemas.microsoft.com/office/drawing/2014/main" id="{8E920CCC-26CB-42DD-0CED-3B60F6093226}"/>
                </a:ext>
              </a:extLst>
            </p:cNvPr>
            <p:cNvSpPr/>
            <p:nvPr/>
          </p:nvSpPr>
          <p:spPr>
            <a:xfrm>
              <a:off x="7569200" y="2413000"/>
              <a:ext cx="63500" cy="63500"/>
            </a:xfrm>
            <a:prstGeom prst="ellipse">
              <a:avLst/>
            </a:prstGeom>
            <a:solidFill>
              <a:srgbClr val="69A4D8"/>
            </a:solidFill>
            <a:ln w="6350">
              <a:solidFill>
                <a:srgbClr val="326B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1" name="recovery">
            <a:extLst>
              <a:ext uri="{FF2B5EF4-FFF2-40B4-BE49-F238E27FC236}">
                <a16:creationId xmlns:a16="http://schemas.microsoft.com/office/drawing/2014/main" id="{C63FE64C-864C-6216-6C73-50EB636BFA41}"/>
              </a:ext>
            </a:extLst>
          </p:cNvPr>
          <p:cNvSpPr/>
          <p:nvPr/>
        </p:nvSpPr>
        <p:spPr>
          <a:xfrm>
            <a:off x="8890000" y="1333500"/>
            <a:ext cx="2997200" cy="571500"/>
          </a:xfrm>
          <a:prstGeom prst="roundRect">
            <a:avLst/>
          </a:prstGeom>
          <a:solidFill>
            <a:srgbClr val="FFF1E5"/>
          </a:solidFill>
          <a:ln w="16510">
            <a:solidFill>
              <a:srgbClr val="C67A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lstStyle/>
          <a:p>
            <a:pPr algn="ctr"/>
            <a:r>
              <a:rPr lang="en-US" altLang="zh-CN" sz="1300">
                <a:solidFill>
                  <a:srgbClr val="22324A"/>
                </a:solidFill>
                <a:latin typeface="Arial" panose="020B0604020202020204" pitchFamily="34" charset="0"/>
              </a:rPr>
              <a:t>Open question: localization recovery</a:t>
            </a:r>
            <a:endParaRPr lang="zh-CN" altLang="en-US" sz="1300">
              <a:solidFill>
                <a:srgbClr val="22324A"/>
              </a:solidFill>
              <a:latin typeface="Arial" panose="020B0604020202020204" pitchFamily="34" charset="0"/>
            </a:endParaRPr>
          </a:p>
        </p:txBody>
      </p:sp>
      <p:sp>
        <p:nvSpPr>
          <p:cNvPr id="42" name="detect">
            <a:extLst>
              <a:ext uri="{FF2B5EF4-FFF2-40B4-BE49-F238E27FC236}">
                <a16:creationId xmlns:a16="http://schemas.microsoft.com/office/drawing/2014/main" id="{9B1AFC0A-8867-8C78-EA0E-8DD9EEF2CF7B}"/>
              </a:ext>
            </a:extLst>
          </p:cNvPr>
          <p:cNvSpPr/>
          <p:nvPr/>
        </p:nvSpPr>
        <p:spPr>
          <a:xfrm>
            <a:off x="8890000" y="2095500"/>
            <a:ext cx="2997200" cy="482600"/>
          </a:xfrm>
          <a:prstGeom prst="roundRect">
            <a:avLst/>
          </a:prstGeom>
          <a:solidFill>
            <a:srgbClr val="FFF1E5"/>
          </a:solidFill>
          <a:ln w="16510">
            <a:solidFill>
              <a:srgbClr val="C67A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2324A"/>
                </a:solidFill>
                <a:latin typeface="Arial" panose="020B0604020202020204" pitchFamily="34" charset="0"/>
              </a:rPr>
              <a:t>1  Detect
Lost tracking? Residual / uncertainty</a:t>
            </a:r>
            <a:endParaRPr lang="zh-CN" altLang="en-US" sz="1200">
              <a:solidFill>
                <a:srgbClr val="22324A"/>
              </a:solidFill>
              <a:latin typeface="Arial" panose="020B0604020202020204" pitchFamily="34" charset="0"/>
            </a:endParaRPr>
          </a:p>
        </p:txBody>
      </p:sp>
      <p:sp>
        <p:nvSpPr>
          <p:cNvPr id="43" name="diagnose">
            <a:extLst>
              <a:ext uri="{FF2B5EF4-FFF2-40B4-BE49-F238E27FC236}">
                <a16:creationId xmlns:a16="http://schemas.microsoft.com/office/drawing/2014/main" id="{1E8FF9A9-FA2B-8579-E2FC-17FDE80A3748}"/>
              </a:ext>
            </a:extLst>
          </p:cNvPr>
          <p:cNvSpPr/>
          <p:nvPr/>
        </p:nvSpPr>
        <p:spPr>
          <a:xfrm>
            <a:off x="8890000" y="2717800"/>
            <a:ext cx="2997200" cy="482600"/>
          </a:xfrm>
          <a:prstGeom prst="roundRect">
            <a:avLst/>
          </a:prstGeom>
          <a:solidFill>
            <a:srgbClr val="FFF1E5"/>
          </a:solidFill>
          <a:ln w="16510">
            <a:solidFill>
              <a:srgbClr val="C67A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2324A"/>
                </a:solidFill>
                <a:latin typeface="Arial" panose="020B0604020202020204" pitchFamily="34" charset="0"/>
              </a:rPr>
              <a:t>2  Diagnose
Weak geometry / obsolete map</a:t>
            </a:r>
            <a:endParaRPr lang="zh-CN" altLang="en-US" sz="1200">
              <a:solidFill>
                <a:srgbClr val="22324A"/>
              </a:solidFill>
              <a:latin typeface="Arial" panose="020B0604020202020204" pitchFamily="34" charset="0"/>
            </a:endParaRPr>
          </a:p>
        </p:txBody>
      </p:sp>
      <p:sp>
        <p:nvSpPr>
          <p:cNvPr id="44" name="recover">
            <a:extLst>
              <a:ext uri="{FF2B5EF4-FFF2-40B4-BE49-F238E27FC236}">
                <a16:creationId xmlns:a16="http://schemas.microsoft.com/office/drawing/2014/main" id="{262A0641-6E41-1AE3-3EA6-B61C5D009507}"/>
              </a:ext>
            </a:extLst>
          </p:cNvPr>
          <p:cNvSpPr/>
          <p:nvPr/>
        </p:nvSpPr>
        <p:spPr>
          <a:xfrm>
            <a:off x="8890000" y="3340100"/>
            <a:ext cx="2997200" cy="482600"/>
          </a:xfrm>
          <a:prstGeom prst="roundRect">
            <a:avLst/>
          </a:prstGeom>
          <a:solidFill>
            <a:srgbClr val="FFF1E5"/>
          </a:solidFill>
          <a:ln w="16510">
            <a:solidFill>
              <a:srgbClr val="C67A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2324A"/>
                </a:solidFill>
                <a:latin typeface="Arial" panose="020B0604020202020204" pitchFamily="34" charset="0"/>
              </a:rPr>
              <a:t>3  Recover
Relocalize / regain stable constraints</a:t>
            </a:r>
            <a:endParaRPr lang="zh-CN" altLang="en-US" sz="1200">
              <a:solidFill>
                <a:srgbClr val="22324A"/>
              </a:solidFill>
              <a:latin typeface="Arial" panose="020B0604020202020204" pitchFamily="34" charset="0"/>
            </a:endParaRPr>
          </a:p>
        </p:txBody>
      </p:sp>
      <p:sp>
        <p:nvSpPr>
          <p:cNvPr id="45" name="confirm">
            <a:extLst>
              <a:ext uri="{FF2B5EF4-FFF2-40B4-BE49-F238E27FC236}">
                <a16:creationId xmlns:a16="http://schemas.microsoft.com/office/drawing/2014/main" id="{0CE26247-71C0-91B5-ABD7-0328FB556FEA}"/>
              </a:ext>
            </a:extLst>
          </p:cNvPr>
          <p:cNvSpPr/>
          <p:nvPr/>
        </p:nvSpPr>
        <p:spPr>
          <a:xfrm>
            <a:off x="8890000" y="3962400"/>
            <a:ext cx="2997200" cy="482600"/>
          </a:xfrm>
          <a:prstGeom prst="roundRect">
            <a:avLst/>
          </a:prstGeom>
          <a:solidFill>
            <a:srgbClr val="FFF1E5"/>
          </a:solidFill>
          <a:ln w="16510">
            <a:solidFill>
              <a:srgbClr val="C67A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2324A"/>
                </a:solidFill>
                <a:latin typeface="Arial" panose="020B0604020202020204" pitchFamily="34" charset="0"/>
              </a:rPr>
              <a:t>4  Confirm
Sustained accuracy over a window</a:t>
            </a:r>
            <a:endParaRPr lang="zh-CN" altLang="en-US" sz="1200">
              <a:solidFill>
                <a:srgbClr val="22324A"/>
              </a:solidFill>
              <a:latin typeface="Arial" panose="020B0604020202020204" pitchFamily="34" charset="0"/>
            </a:endParaRPr>
          </a:p>
        </p:txBody>
      </p:sp>
      <p:pic>
        <p:nvPicPr>
          <p:cNvPr id="47" name="gazebo" descr="Raster-only visual evidence: One simulator-rendered corridor viewport from our genuine live video; UI, Terminal and RViz excluded">
            <a:extLst>
              <a:ext uri="{FF2B5EF4-FFF2-40B4-BE49-F238E27FC236}">
                <a16:creationId xmlns:a16="http://schemas.microsoft.com/office/drawing/2014/main" id="{5E023812-30FE-EAD8-D3E6-5E621F75189B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0" y="4660900"/>
            <a:ext cx="2997200" cy="1590802"/>
          </a:xfrm>
          <a:prstGeom prst="rect">
            <a:avLst/>
          </a:prstGeom>
        </p:spPr>
      </p:pic>
      <p:sp>
        <p:nvSpPr>
          <p:cNvPr id="48" name="gazebo-caption">
            <a:extLst>
              <a:ext uri="{FF2B5EF4-FFF2-40B4-BE49-F238E27FC236}">
                <a16:creationId xmlns:a16="http://schemas.microsoft.com/office/drawing/2014/main" id="{F1A5211F-B1E9-2CD2-EFFC-58633F91370A}"/>
              </a:ext>
            </a:extLst>
          </p:cNvPr>
          <p:cNvSpPr txBox="1"/>
          <p:nvPr/>
        </p:nvSpPr>
        <p:spPr>
          <a:xfrm>
            <a:off x="8890000" y="6311900"/>
            <a:ext cx="29972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22324A"/>
                </a:solidFill>
                <a:latin typeface="Arial" panose="020B0604020202020204" pitchFamily="34" charset="0"/>
              </a:rPr>
              <a:t>Actual Gazebo degradation scenario</a:t>
            </a:r>
            <a:endParaRPr lang="zh-CN" altLang="en-US" sz="1100">
              <a:solidFill>
                <a:srgbClr val="22324A"/>
              </a:solidFill>
              <a:latin typeface="Arial" panose="020B0604020202020204" pitchFamily="34" charset="0"/>
            </a:endParaRPr>
          </a:p>
        </p:txBody>
      </p:sp>
      <p:sp>
        <p:nvSpPr>
          <p:cNvPr id="52" name="failure-label">
            <a:extLst>
              <a:ext uri="{FF2B5EF4-FFF2-40B4-BE49-F238E27FC236}">
                <a16:creationId xmlns:a16="http://schemas.microsoft.com/office/drawing/2014/main" id="{379C0FA6-38C0-190A-4661-FABAB8DDFAF1}"/>
              </a:ext>
            </a:extLst>
          </p:cNvPr>
          <p:cNvSpPr txBox="1"/>
          <p:nvPr/>
        </p:nvSpPr>
        <p:spPr>
          <a:xfrm>
            <a:off x="8496300" y="1155700"/>
            <a:ext cx="3683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>
                <a:solidFill>
                  <a:srgbClr val="A86735"/>
                </a:solidFill>
                <a:latin typeface="Arial" panose="020B0604020202020204" pitchFamily="34" charset="0"/>
              </a:rPr>
              <a:t>failure</a:t>
            </a:r>
            <a:endParaRPr lang="zh-CN" altLang="en-US" sz="900">
              <a:solidFill>
                <a:srgbClr val="A86735"/>
              </a:solidFill>
              <a:latin typeface="Arial" panose="020B0604020202020204" pitchFamily="34" charset="0"/>
            </a:endParaRPr>
          </a:p>
        </p:txBody>
      </p:sp>
      <p:cxnSp>
        <p:nvCxnSpPr>
          <p:cNvPr id="57" name="pose-to-map">
            <a:extLst>
              <a:ext uri="{FF2B5EF4-FFF2-40B4-BE49-F238E27FC236}">
                <a16:creationId xmlns:a16="http://schemas.microsoft.com/office/drawing/2014/main" id="{10693BBD-E890-5849-AAA8-46A3369B344E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>
            <a:off x="8293100" y="1930400"/>
            <a:ext cx="0" cy="1244600"/>
          </a:xfrm>
          <a:prstGeom prst="line">
            <a:avLst/>
          </a:prstGeom>
          <a:ln w="19050">
            <a:solidFill>
              <a:srgbClr val="326BB7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map-to-pose">
            <a:extLst>
              <a:ext uri="{FF2B5EF4-FFF2-40B4-BE49-F238E27FC236}">
                <a16:creationId xmlns:a16="http://schemas.microsoft.com/office/drawing/2014/main" id="{27CEB0AA-50EC-A303-7A97-38A126773B5C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 flipV="1">
            <a:off x="5588000" y="1930400"/>
            <a:ext cx="0" cy="1244600"/>
          </a:xfrm>
          <a:prstGeom prst="line">
            <a:avLst/>
          </a:prstGeom>
          <a:ln w="19050">
            <a:solidFill>
              <a:srgbClr val="418065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map-feedback-label">
            <a:extLst>
              <a:ext uri="{FF2B5EF4-FFF2-40B4-BE49-F238E27FC236}">
                <a16:creationId xmlns:a16="http://schemas.microsoft.com/office/drawing/2014/main" id="{506CBEFC-3F6C-6F51-81BF-D11DED2173F3}"/>
              </a:ext>
            </a:extLst>
          </p:cNvPr>
          <p:cNvSpPr txBox="1"/>
          <p:nvPr/>
        </p:nvSpPr>
        <p:spPr>
          <a:xfrm>
            <a:off x="5676900" y="2908300"/>
            <a:ext cx="1473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00">
                <a:solidFill>
                  <a:srgbClr val="418065"/>
                </a:solidFill>
                <a:latin typeface="Arial" panose="020B0604020202020204" pitchFamily="34" charset="0"/>
              </a:rPr>
              <a:t>Map constrains pose</a:t>
            </a:r>
            <a:endParaRPr lang="zh-CN" altLang="en-US" sz="1000">
              <a:solidFill>
                <a:srgbClr val="418065"/>
              </a:solidFill>
              <a:latin typeface="Arial" panose="020B0604020202020204" pitchFamily="34" charset="0"/>
            </a:endParaRPr>
          </a:p>
        </p:txBody>
      </p:sp>
      <p:sp>
        <p:nvSpPr>
          <p:cNvPr id="60" name="map-output-label">
            <a:extLst>
              <a:ext uri="{FF2B5EF4-FFF2-40B4-BE49-F238E27FC236}">
                <a16:creationId xmlns:a16="http://schemas.microsoft.com/office/drawing/2014/main" id="{05168972-3ED8-FACA-CCF6-483403EFCD8E}"/>
              </a:ext>
            </a:extLst>
          </p:cNvPr>
          <p:cNvSpPr txBox="1"/>
          <p:nvPr/>
        </p:nvSpPr>
        <p:spPr>
          <a:xfrm>
            <a:off x="7150100" y="2908300"/>
            <a:ext cx="1041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00">
                <a:solidFill>
                  <a:srgbClr val="326BB7"/>
                </a:solidFill>
                <a:latin typeface="Arial" panose="020B0604020202020204" pitchFamily="34" charset="0"/>
              </a:rPr>
              <a:t>Pose guides mapping</a:t>
            </a:r>
            <a:endParaRPr lang="zh-CN" altLang="en-US" sz="1000">
              <a:solidFill>
                <a:srgbClr val="326BB7"/>
              </a:solidFill>
              <a:latin typeface="Arial" panose="020B0604020202020204" pitchFamily="34" charset="0"/>
            </a:endParaRPr>
          </a:p>
        </p:txBody>
      </p:sp>
      <p:sp>
        <p:nvSpPr>
          <p:cNvPr id="61" name="scope">
            <a:extLst>
              <a:ext uri="{FF2B5EF4-FFF2-40B4-BE49-F238E27FC236}">
                <a16:creationId xmlns:a16="http://schemas.microsoft.com/office/drawing/2014/main" id="{0F0CE94B-195F-1639-DA37-6E73D54BE2E4}"/>
              </a:ext>
            </a:extLst>
          </p:cNvPr>
          <p:cNvSpPr txBox="1"/>
          <p:nvPr/>
        </p:nvSpPr>
        <p:spPr>
          <a:xfrm>
            <a:off x="304800" y="6578600"/>
            <a:ext cx="11582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526277"/>
                </a:solidFill>
                <a:latin typeface="Arial" panose="020B0604020202020204" pitchFamily="34" charset="0"/>
              </a:rPr>
              <a:t>Current scope: 2D SLAM + provided-pose 3D mapping + fixed-map localization. Physical tests pending.</a:t>
            </a:r>
            <a:endParaRPr lang="zh-CN" altLang="en-US" sz="1100">
              <a:solidFill>
                <a:srgbClr val="526277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0327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SOURCENAME" val="recover"/>
  <p:tag name="SCIENTIFICILLUSTRATORTARGETNAME" val="confirm"/>
  <p:tag name="SCIENTIFICILLUSTRATORSOURCESITE" val="3"/>
  <p:tag name="SCIENTIFICILLUSTRATORTARGETSIT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SOURCENAME" val="diagnose"/>
  <p:tag name="SCIENTIFICILLUSTRATORTARGETNAME" val="recover"/>
  <p:tag name="SCIENTIFICILLUSTRATORSOURCESITE" val="3"/>
  <p:tag name="SCIENTIFICILLUSTRATORTARGETSIT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SOURCENAME" val="detect"/>
  <p:tag name="SCIENTIFICILLUSTRATORTARGETNAME" val="diagnose"/>
  <p:tag name="SCIENTIFICILLUSTRATORSOURCESITE" val="3"/>
  <p:tag name="SCIENTIFICILLUSTRATORTARGETSIT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SOURCENAME" val="recovery"/>
  <p:tag name="SCIENTIFICILLUSTRATORTARGETNAME" val="detect"/>
  <p:tag name="SCIENTIFICILLUSTRATORSOURCESITE" val="3"/>
  <p:tag name="SCIENTIFICILLUSTRATORTARGETSIT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SOURCENAME" val="pose"/>
  <p:tag name="SCIENTIFICILLUSTRATORTARGETNAME" val="recovery"/>
  <p:tag name="SCIENTIFICILLUSTRATORSOURCESITE" val="4"/>
  <p:tag name="SCIENTIFICILLUSTRATORTARGETSITE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SOURCENAME" val="observations"/>
  <p:tag name="SCIENTIFICILLUSTRATORTARGETNAME" val="pose"/>
  <p:tag name="SCIENTIFICILLUSTRATORSOURCESITE" val="4"/>
  <p:tag name="SCIENTIFICILLUSTRATORTARGETSITE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SOURCENAME" val="platform"/>
  <p:tag name="SCIENTIFICILLUSTRATORTARGETNAME" val="observations"/>
  <p:tag name="SCIENTIFICILLUSTRATORSOURCESITE" val="4"/>
  <p:tag name="SCIENTIFICILLUSTRATORTARGETSITE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RASTERREASON" val="One user-supplied photograph of the physical chassis"/>
  <p:tag name="SCIENTIFICILLUSTRATORSOURCETIGHTLYCROPPED" val="True"/>
  <p:tag name="SCIENTIFICILLUSTRATORATOMICRASTERUNIT" val="True"/>
  <p:tag name="SCIENTIFICILLUSTRATORCONTAINSRECONSTRUCTABLECONTENT" val="False"/>
  <p:tag name="SCIENTIFICILLUSTRATORDECOMPOSITIONNOTE" val="One independent photographic or dense geometric field; captions, process boxes and all arrows remain separate native objects."/>
  <p:tag name="SCIENTIFICILLUSTRATORSOURCEPATH" val="D:\workspace\be2\slam_learning_updated\docs\assets\robot\chassis.jp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RASTERREASON" val="One user-supplied photograph of the actual sensors"/>
  <p:tag name="SCIENTIFICILLUSTRATORSOURCETIGHTLYCROPPED" val="True"/>
  <p:tag name="SCIENTIFICILLUSTRATORATOMICRASTERUNIT" val="True"/>
  <p:tag name="SCIENTIFICILLUSTRATORCONTAINSRECONSTRUCTABLECONTENT" val="False"/>
  <p:tag name="SCIENTIFICILLUSTRATORDECOMPOSITIONNOTE" val="One independent photographic or dense geometric field; captions, process boxes and all arrows remain separate native objects."/>
  <p:tag name="SCIENTIFICILLUSTRATORSOURCEPATH" val="D:\workspace\be2\slam_learning_updated\docs\assets\robot\sensors.p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RASTERREASON" val="One actual LaserScan geometric field from the recorded ROS bag; no axes or labels are rasterized"/>
  <p:tag name="SCIENTIFICILLUSTRATORSOURCETIGHTLYCROPPED" val="True"/>
  <p:tag name="SCIENTIFICILLUSTRATORATOMICRASTERUNIT" val="True"/>
  <p:tag name="SCIENTIFICILLUSTRATORCONTAINSRECONSTRUCTABLECONTENT" val="False"/>
  <p:tag name="SCIENTIFICILLUSTRATORDECOMPOSITIONNOTE" val="One independent photographic or dense geometric field; captions, process boxes and all arrows remain separate native objects."/>
  <p:tag name="SCIENTIFICILLUSTRATORSOURCEPATH" val="D:\workspace\be2\slam_learning_updated\docs\assets\direction\scan-2d.p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RASTERREASON" val="One dense actual 3D LiDAR scan, rendered from recorded point data"/>
  <p:tag name="SCIENTIFICILLUSTRATORSOURCETIGHTLYCROPPED" val="True"/>
  <p:tag name="SCIENTIFICILLUSTRATORATOMICRASTERUNIT" val="True"/>
  <p:tag name="SCIENTIFICILLUSTRATORCONTAINSRECONSTRUCTABLECONTENT" val="False"/>
  <p:tag name="SCIENTIFICILLUSTRATORDECOMPOSITIONNOTE" val="One independent photographic or dense geometric field; captions, process boxes and all arrows remain separate native objects."/>
  <p:tag name="SCIENTIFICILLUSTRATORSOURCEPATH" val="D:\workspace\be2\slam_learning_updated\docs\assets\direction\scan-3d.p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RASTERREASON" val="One dense recorded 3D map field from controlled provided-pose mapping A"/>
  <p:tag name="SCIENTIFICILLUSTRATORSOURCETIGHTLYCROPPED" val="True"/>
  <p:tag name="SCIENTIFICILLUSTRATORATOMICRASTERUNIT" val="True"/>
  <p:tag name="SCIENTIFICILLUSTRATORCONTAINSRECONSTRUCTABLECONTENT" val="False"/>
  <p:tag name="SCIENTIFICILLUSTRATORDECOMPOSITIONNOTE" val="One independent photographic or dense geometric field; captions, process boxes and all arrows remain separate native objects."/>
  <p:tag name="SCIENTIFICILLUSTRATORSOURCEPATH" val="D:\workspace\be2\slam_learning_updated\docs\assets\direction\map-3d.pn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RASTERREASON" val="One simulator-rendered corridor viewport from our genuine live video; UI, Terminal and RViz excluded"/>
  <p:tag name="SCIENTIFICILLUSTRATORSOURCETIGHTLYCROPPED" val="True"/>
  <p:tag name="SCIENTIFICILLUSTRATORATOMICRASTERUNIT" val="True"/>
  <p:tag name="SCIENTIFICILLUSTRATORCONTAINSRECONSTRUCTABLECONTENT" val="False"/>
  <p:tag name="SCIENTIFICILLUSTRATORDECOMPOSITIONNOTE" val="One independent photographic or dense geometric field; captions, process boxes and all arrows remain separate native objects."/>
  <p:tag name="SCIENTIFICILLUSTRATORSOURCEPATH" val="D:\workspace\be2\slam_learning_updated\docs\assets\direction\gazebo-corridor.pn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653"/>
  <p:tag name="SCIENTIFICILLUSTRATORBEGINY" val="152"/>
  <p:tag name="SCIENTIFICILLUSTRATORENDX" val="653"/>
  <p:tag name="SCIENTIFICILLUSTRATORENDY" val="250"/>
  <p:tag name="SCIENTIFICILLUSTRATORSTARTCLEARANCE" val="2"/>
  <p:tag name="SCIENTIFICILLUSTRATORENDCLEARANCE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440"/>
  <p:tag name="SCIENTIFICILLUSTRATORBEGINY" val="250"/>
  <p:tag name="SCIENTIFICILLUSTRATORENDX" val="440"/>
  <p:tag name="SCIENTIFICILLUSTRATORENDY" val="152"/>
  <p:tag name="SCIENTIFICILLUSTRATORSTARTCLEARANCE" val="2"/>
  <p:tag name="SCIENTIFICILLUSTRATORENDCLEARANCE" val="2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146</Words>
  <Application>Microsoft Office PowerPoint</Application>
  <PresentationFormat>宽屏</PresentationFormat>
  <Paragraphs>24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Zilin Zhu</dc:creator>
  <cp:lastModifiedBy>Zilin Zhu</cp:lastModifiedBy>
  <cp:revision>3</cp:revision>
  <dcterms:created xsi:type="dcterms:W3CDTF">2026-10-14T19:32:18Z</dcterms:created>
  <dcterms:modified xsi:type="dcterms:W3CDTF">2026-10-14T19:37:25Z</dcterms:modified>
</cp:coreProperties>
</file>