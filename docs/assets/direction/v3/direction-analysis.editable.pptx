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83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09D4D5E-4F86-B72A-A43F-6A680D2C66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8E37A5EA-E85C-43E4-392A-993F943B309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59539E1-AB4A-5A39-2620-56906D0813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71B7D4-D0DE-448C-9EA9-566A36698041}" type="datetimeFigureOut">
              <a:rPr lang="zh-CN" altLang="en-US" smtClean="0"/>
              <a:t>2026/10/15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936082-9E23-6094-D1A6-8DD6043E67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2A3D5A0-18C1-2016-C39C-0B8CE335C7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9B320-C070-4E2F-840A-C86C85A93EF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575048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22AE7A5-0C42-D3C2-5E2B-16A9605263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D745B76-848D-450C-5631-F5357C63F5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ABE140D-E24A-CBF2-9276-79C7E97AD8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71B7D4-D0DE-448C-9EA9-566A36698041}" type="datetimeFigureOut">
              <a:rPr lang="zh-CN" altLang="en-US" smtClean="0"/>
              <a:t>2026/10/15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DD2CF2A-2550-FE79-C548-65F638890D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01A921D-B83B-F5A7-75BF-AB6FE1B4C5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9B320-C070-4E2F-840A-C86C85A93EF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90369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DACE0D7-ABA4-FC40-980F-5ED30ECD4D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974D892-1C1B-CF3E-1DF7-DBE2C3C941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75D6BD4-6D76-DCF4-C99B-21B1E71DAB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71B7D4-D0DE-448C-9EA9-566A36698041}" type="datetimeFigureOut">
              <a:rPr lang="zh-CN" altLang="en-US" smtClean="0"/>
              <a:t>2026/10/15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E78CC37-892B-9AD1-2C3C-39B68ED8E9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AFBA671-0DF9-3046-8151-89715CBF04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9B320-C070-4E2F-840A-C86C85A93EF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970389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4227DE4-3697-910D-2916-C20DD4F16F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1102CAA-C6B8-E518-37A5-178B527CE0D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4E381AA-058A-6637-42AB-1EE431EBE8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D90E015-9351-B3D2-7DF5-2A28363ADC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71B7D4-D0DE-448C-9EA9-566A36698041}" type="datetimeFigureOut">
              <a:rPr lang="zh-CN" altLang="en-US" smtClean="0"/>
              <a:t>2026/10/15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42D6D5B-FBE7-8546-6281-E59D4159BB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BE1FA13-B8C9-FCCB-94FB-2DFC84662A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9B320-C070-4E2F-840A-C86C85A93EF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783136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F29B4EB-B65A-5454-C768-7A38E0A374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40F2C5F-F068-B8B5-C57F-E688693D32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87241CC-B82E-2D22-81B9-8D3B4A1AE5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19263118-728B-8DD7-3B83-955F9058A32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9F9B0B1B-D8A3-14A1-F76C-7D53DD6BA21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B7074404-55A0-01D6-B551-B0F7B66B9A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71B7D4-D0DE-448C-9EA9-566A36698041}" type="datetimeFigureOut">
              <a:rPr lang="zh-CN" altLang="en-US" smtClean="0"/>
              <a:t>2026/10/15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6A4F7812-76DB-2D87-7E3C-B8791A44A7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9AB04E6F-09F5-C4C5-6757-05A9C08AD1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9B320-C070-4E2F-840A-C86C85A93EF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995872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5605932-9394-87C8-0012-8BFD43C80F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40041481-40E3-4F47-4192-C5DA25B6B4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71B7D4-D0DE-448C-9EA9-566A36698041}" type="datetimeFigureOut">
              <a:rPr lang="zh-CN" altLang="en-US" smtClean="0"/>
              <a:t>2026/10/15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398BA49E-D0FB-4B50-5C3A-3F4043E913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1DAEA48-7E11-7D3A-8DFA-B3A2868BA2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9B320-C070-4E2F-840A-C86C85A93EF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048766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042DFD36-C813-83C7-0E69-46B6C0A692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71B7D4-D0DE-448C-9EA9-566A36698041}" type="datetimeFigureOut">
              <a:rPr lang="zh-CN" altLang="en-US" smtClean="0"/>
              <a:t>2026/10/15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26FDA41-A296-E8AE-DA12-79CD572E2F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2174504-C974-C14C-DA7F-A3A575577D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9B320-C070-4E2F-840A-C86C85A93EF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046116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EB78D6C-515E-B3BB-AA53-32935A2B7B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5F62C3E-E940-7161-E470-40E21A8679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BA96005-7B00-B599-14F3-534031052F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9B27268-FE1B-9E44-E7AE-B3A34B90F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71B7D4-D0DE-448C-9EA9-566A36698041}" type="datetimeFigureOut">
              <a:rPr lang="zh-CN" altLang="en-US" smtClean="0"/>
              <a:t>2026/10/15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D656FD9-11F7-19DE-284C-69FDFC01B1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36AA761-C5FE-3C69-F2B7-D5879F0279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9B320-C070-4E2F-840A-C86C85A93EF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630460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52789FE-3E9E-027D-9718-62DC780364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D9975875-7BD2-D5B2-D00E-E3D0461239DB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FC22DA7-54EB-6C90-689F-EC86925FD6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94560DA-5590-345F-0BAB-AE7D59CFBD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71B7D4-D0DE-448C-9EA9-566A36698041}" type="datetimeFigureOut">
              <a:rPr lang="zh-CN" altLang="en-US" smtClean="0"/>
              <a:t>2026/10/15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4142B57-E834-B55E-9F5E-D941476959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1946299-9CAD-F217-0A41-B90794CD2B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9B320-C070-4E2F-840A-C86C85A93EF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08814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3B272E7-C809-4DCB-ABB6-1071BFCE6F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3E8B9C1-CC97-60E7-D905-7C13F193DC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0CD17B1-4580-D67A-ABF0-EC549CB4C6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71B7D4-D0DE-448C-9EA9-566A36698041}" type="datetimeFigureOut">
              <a:rPr lang="zh-CN" altLang="en-US" smtClean="0"/>
              <a:t>2026/10/15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6E216A0-2A32-6FA0-AD3A-3AD473873D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FB486CE-BCF2-B89F-99EE-452B56F8A6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9B320-C070-4E2F-840A-C86C85A93EF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745937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F36677D3-722D-0ED1-B441-197E8384F2D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142A77E-AFA7-6305-1A30-26EF632622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915FF71-7277-A4AF-3CB0-C2A4D194AF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71B7D4-D0DE-448C-9EA9-566A36698041}" type="datetimeFigureOut">
              <a:rPr lang="zh-CN" altLang="en-US" smtClean="0"/>
              <a:t>2026/10/15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88060E2-B0A0-E886-2FC8-9638813689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C7C0A7B-B745-513B-BCB4-7C301C1BD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9B320-C070-4E2F-840A-C86C85A93EF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260325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61F0369F-E3B7-0301-C1F9-A685220A27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424D9F5-99D7-00F6-5F1B-435276E973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275C05B-FA0F-9AD8-CA53-9BEE9C1935E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771B7D4-D0DE-448C-9EA9-566A36698041}" type="datetimeFigureOut">
              <a:rPr lang="zh-CN" altLang="en-US" smtClean="0"/>
              <a:t>2026/10/15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A78B51E-AFCE-C49C-7BB9-3A6780ECF8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72F63BC-48AD-DCDA-7038-3C77827E832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219B320-C070-4E2F-840A-C86C85A93EF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092743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am-workflow-zh-C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workflow-title" descr="Native editable direction figure; object workflow-title">
            <a:extLst>
              <a:ext uri="{FF2B5EF4-FFF2-40B4-BE49-F238E27FC236}">
                <a16:creationId xmlns:a16="http://schemas.microsoft.com/office/drawing/2014/main" id="{19015D98-F761-B297-1D19-578FCA30132D}"/>
              </a:ext>
            </a:extLst>
          </p:cNvPr>
          <p:cNvSpPr txBox="1"/>
          <p:nvPr/>
        </p:nvSpPr>
        <p:spPr>
          <a:xfrm>
            <a:off x="406400" y="279400"/>
            <a:ext cx="11379200" cy="508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2900" b="1">
                <a:solidFill>
                  <a:srgbClr val="172B4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SLAM </a:t>
            </a:r>
            <a:r>
              <a:rPr lang="zh-CN" altLang="en-US" sz="2900" b="1">
                <a:solidFill>
                  <a:srgbClr val="172B4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的整体流程</a:t>
            </a:r>
          </a:p>
        </p:txBody>
      </p:sp>
      <p:sp>
        <p:nvSpPr>
          <p:cNvPr id="143" name="workflow-subtitle" descr="Native editable direction figure; object workflow-subtitle">
            <a:extLst>
              <a:ext uri="{FF2B5EF4-FFF2-40B4-BE49-F238E27FC236}">
                <a16:creationId xmlns:a16="http://schemas.microsoft.com/office/drawing/2014/main" id="{1F474C73-2A4A-3CAF-4C43-25CF55CFC421}"/>
              </a:ext>
            </a:extLst>
          </p:cNvPr>
          <p:cNvSpPr txBox="1"/>
          <p:nvPr/>
        </p:nvSpPr>
        <p:spPr>
          <a:xfrm>
            <a:off x="406400" y="850900"/>
            <a:ext cx="113792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500">
                <a:solidFill>
                  <a:srgbClr val="52667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观测 → 前端约束 → 后端优化 → 地图更新；地图继续约束下一帧定位</a:t>
            </a:r>
          </a:p>
        </p:txBody>
      </p:sp>
      <p:sp>
        <p:nvSpPr>
          <p:cNvPr id="144" name="map-feedback-label" descr="Native editable direction figure; object map-feedback-label">
            <a:extLst>
              <a:ext uri="{FF2B5EF4-FFF2-40B4-BE49-F238E27FC236}">
                <a16:creationId xmlns:a16="http://schemas.microsoft.com/office/drawing/2014/main" id="{5CAE32BC-0C92-0839-8795-3B245200E604}"/>
              </a:ext>
            </a:extLst>
          </p:cNvPr>
          <p:cNvSpPr txBox="1"/>
          <p:nvPr/>
        </p:nvSpPr>
        <p:spPr>
          <a:xfrm>
            <a:off x="6299200" y="1308100"/>
            <a:ext cx="5181600" cy="330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400">
                <a:solidFill>
                  <a:srgbClr val="137C7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地图 </a:t>
            </a:r>
            <a:r>
              <a:rPr lang="en-US" altLang="zh-CN" sz="1400">
                <a:solidFill>
                  <a:srgbClr val="137C7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 </a:t>
            </a:r>
            <a:r>
              <a:rPr lang="zh-CN" altLang="en-US" sz="1400">
                <a:solidFill>
                  <a:srgbClr val="137C7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局部结构为下一帧匹配提供约束</a:t>
            </a:r>
          </a:p>
        </p:txBody>
      </p:sp>
      <p:sp>
        <p:nvSpPr>
          <p:cNvPr id="145" name="stage-1" descr="Native editable direction figure; object stage-1">
            <a:extLst>
              <a:ext uri="{FF2B5EF4-FFF2-40B4-BE49-F238E27FC236}">
                <a16:creationId xmlns:a16="http://schemas.microsoft.com/office/drawing/2014/main" id="{2B8A739C-F8CD-6D16-670C-090E3B4451CC}"/>
              </a:ext>
            </a:extLst>
          </p:cNvPr>
          <p:cNvSpPr/>
          <p:nvPr/>
        </p:nvSpPr>
        <p:spPr>
          <a:xfrm>
            <a:off x="406400" y="2159000"/>
            <a:ext cx="2032000" cy="1397000"/>
          </a:xfrm>
          <a:prstGeom prst="rect">
            <a:avLst/>
          </a:prstGeom>
          <a:solidFill>
            <a:srgbClr val="EFF5FA"/>
          </a:solidFill>
          <a:ln w="12700" cap="flat" cmpd="sng" algn="ctr">
            <a:solidFill>
              <a:srgbClr val="D4E0E8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6" name="stage-1-title" descr="Native editable direction figure; object stage-1-title">
            <a:extLst>
              <a:ext uri="{FF2B5EF4-FFF2-40B4-BE49-F238E27FC236}">
                <a16:creationId xmlns:a16="http://schemas.microsoft.com/office/drawing/2014/main" id="{CD34F986-8C5A-F777-4D78-FCC57C334DF7}"/>
              </a:ext>
            </a:extLst>
          </p:cNvPr>
          <p:cNvSpPr txBox="1"/>
          <p:nvPr/>
        </p:nvSpPr>
        <p:spPr>
          <a:xfrm>
            <a:off x="533400" y="2298700"/>
            <a:ext cx="1778000" cy="3429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600" b="1">
                <a:solidFill>
                  <a:srgbClr val="20649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传感器观测</a:t>
            </a:r>
          </a:p>
        </p:txBody>
      </p:sp>
      <p:sp>
        <p:nvSpPr>
          <p:cNvPr id="147" name="stage-1-body" descr="Native editable direction figure; object stage-1-body">
            <a:extLst>
              <a:ext uri="{FF2B5EF4-FFF2-40B4-BE49-F238E27FC236}">
                <a16:creationId xmlns:a16="http://schemas.microsoft.com/office/drawing/2014/main" id="{A9613266-2D6A-F21C-78C4-D51B14EB0C6E}"/>
              </a:ext>
            </a:extLst>
          </p:cNvPr>
          <p:cNvSpPr txBox="1"/>
          <p:nvPr/>
        </p:nvSpPr>
        <p:spPr>
          <a:xfrm>
            <a:off x="533400" y="2743200"/>
            <a:ext cx="1778000" cy="736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330">
                <a:solidFill>
                  <a:srgbClr val="172B4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LiDAR / </a:t>
            </a:r>
            <a:r>
              <a:rPr lang="zh-CN" altLang="en-US" sz="1330">
                <a:solidFill>
                  <a:srgbClr val="172B4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相机 </a:t>
            </a:r>
            <a:r>
              <a:rPr lang="en-US" altLang="zh-CN" sz="1330">
                <a:solidFill>
                  <a:srgbClr val="172B4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 </a:t>
            </a:r>
            <a:r>
              <a:rPr lang="zh-CN" altLang="en-US" sz="1330">
                <a:solidFill>
                  <a:srgbClr val="172B4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深度</a:t>
            </a:r>
          </a:p>
          <a:p>
            <a:r>
              <a:rPr lang="en-US" altLang="zh-CN" sz="1330">
                <a:solidFill>
                  <a:srgbClr val="172B4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IMU / </a:t>
            </a:r>
            <a:r>
              <a:rPr lang="zh-CN" altLang="en-US" sz="1330">
                <a:solidFill>
                  <a:srgbClr val="172B4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轮速等运动信息</a:t>
            </a:r>
          </a:p>
          <a:p>
            <a:r>
              <a:rPr lang="zh-CN" altLang="en-US" sz="1330">
                <a:solidFill>
                  <a:srgbClr val="172B4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按系统配置选择</a:t>
            </a:r>
          </a:p>
        </p:txBody>
      </p:sp>
      <p:sp>
        <p:nvSpPr>
          <p:cNvPr id="148" name="stage-2" descr="Native editable direction figure; object stage-2">
            <a:extLst>
              <a:ext uri="{FF2B5EF4-FFF2-40B4-BE49-F238E27FC236}">
                <a16:creationId xmlns:a16="http://schemas.microsoft.com/office/drawing/2014/main" id="{0822E9D4-A5A6-EDBA-47F4-D2030949DD90}"/>
              </a:ext>
            </a:extLst>
          </p:cNvPr>
          <p:cNvSpPr/>
          <p:nvPr/>
        </p:nvSpPr>
        <p:spPr>
          <a:xfrm>
            <a:off x="2743200" y="2159000"/>
            <a:ext cx="2032000" cy="1397000"/>
          </a:xfrm>
          <a:prstGeom prst="rect">
            <a:avLst/>
          </a:prstGeom>
          <a:solidFill>
            <a:srgbClr val="EFF5FA"/>
          </a:solidFill>
          <a:ln w="12700" cap="flat" cmpd="sng" algn="ctr">
            <a:solidFill>
              <a:srgbClr val="D4E0E8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9" name="stage-2-title" descr="Native editable direction figure; object stage-2-title">
            <a:extLst>
              <a:ext uri="{FF2B5EF4-FFF2-40B4-BE49-F238E27FC236}">
                <a16:creationId xmlns:a16="http://schemas.microsoft.com/office/drawing/2014/main" id="{811E0D25-39F4-944E-D503-50F37ADF2DE5}"/>
              </a:ext>
            </a:extLst>
          </p:cNvPr>
          <p:cNvSpPr txBox="1"/>
          <p:nvPr/>
        </p:nvSpPr>
        <p:spPr>
          <a:xfrm>
            <a:off x="2870200" y="2298700"/>
            <a:ext cx="1778000" cy="3429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600" b="1">
                <a:solidFill>
                  <a:srgbClr val="20649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预处理</a:t>
            </a:r>
          </a:p>
        </p:txBody>
      </p:sp>
      <p:sp>
        <p:nvSpPr>
          <p:cNvPr id="150" name="stage-2-body" descr="Native editable direction figure; object stage-2-body">
            <a:extLst>
              <a:ext uri="{FF2B5EF4-FFF2-40B4-BE49-F238E27FC236}">
                <a16:creationId xmlns:a16="http://schemas.microsoft.com/office/drawing/2014/main" id="{D7C09294-9CBD-4D95-A94E-15348B4F4B0D}"/>
              </a:ext>
            </a:extLst>
          </p:cNvPr>
          <p:cNvSpPr txBox="1"/>
          <p:nvPr/>
        </p:nvSpPr>
        <p:spPr>
          <a:xfrm>
            <a:off x="2870200" y="2743200"/>
            <a:ext cx="1778000" cy="736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330">
                <a:solidFill>
                  <a:srgbClr val="172B4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时间同步与外参</a:t>
            </a:r>
          </a:p>
          <a:p>
            <a:r>
              <a:rPr lang="zh-CN" altLang="en-US" sz="1330">
                <a:solidFill>
                  <a:srgbClr val="172B4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去畸变 </a:t>
            </a:r>
            <a:r>
              <a:rPr lang="en-US" altLang="zh-CN" sz="1330">
                <a:solidFill>
                  <a:srgbClr val="172B4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 </a:t>
            </a:r>
            <a:r>
              <a:rPr lang="zh-CN" altLang="en-US" sz="1330">
                <a:solidFill>
                  <a:srgbClr val="172B4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有效值检查</a:t>
            </a:r>
          </a:p>
          <a:p>
            <a:r>
              <a:rPr lang="zh-CN" altLang="en-US" sz="1330">
                <a:solidFill>
                  <a:srgbClr val="172B4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特征及可靠性筛选</a:t>
            </a:r>
          </a:p>
        </p:txBody>
      </p:sp>
      <p:sp>
        <p:nvSpPr>
          <p:cNvPr id="151" name="stage-3" descr="Native editable direction figure; object stage-3">
            <a:extLst>
              <a:ext uri="{FF2B5EF4-FFF2-40B4-BE49-F238E27FC236}">
                <a16:creationId xmlns:a16="http://schemas.microsoft.com/office/drawing/2014/main" id="{C82806F2-CDD4-8E31-97A0-8945466CB4F1}"/>
              </a:ext>
            </a:extLst>
          </p:cNvPr>
          <p:cNvSpPr/>
          <p:nvPr/>
        </p:nvSpPr>
        <p:spPr>
          <a:xfrm>
            <a:off x="5080000" y="2159000"/>
            <a:ext cx="2032000" cy="1397000"/>
          </a:xfrm>
          <a:prstGeom prst="rect">
            <a:avLst/>
          </a:prstGeom>
          <a:solidFill>
            <a:srgbClr val="EFF5FA"/>
          </a:solidFill>
          <a:ln w="12700" cap="flat" cmpd="sng" algn="ctr">
            <a:solidFill>
              <a:srgbClr val="D4E0E8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2" name="stage-3-title" descr="Native editable direction figure; object stage-3-title">
            <a:extLst>
              <a:ext uri="{FF2B5EF4-FFF2-40B4-BE49-F238E27FC236}">
                <a16:creationId xmlns:a16="http://schemas.microsoft.com/office/drawing/2014/main" id="{47B5355A-D90F-15C1-9D80-6347F64C2F0E}"/>
              </a:ext>
            </a:extLst>
          </p:cNvPr>
          <p:cNvSpPr txBox="1"/>
          <p:nvPr/>
        </p:nvSpPr>
        <p:spPr>
          <a:xfrm>
            <a:off x="5207000" y="2298700"/>
            <a:ext cx="1778000" cy="3429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600" b="1">
                <a:solidFill>
                  <a:srgbClr val="20649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前端：跟踪与关联</a:t>
            </a:r>
          </a:p>
        </p:txBody>
      </p:sp>
      <p:sp>
        <p:nvSpPr>
          <p:cNvPr id="153" name="stage-3-body" descr="Native editable direction figure; object stage-3-body">
            <a:extLst>
              <a:ext uri="{FF2B5EF4-FFF2-40B4-BE49-F238E27FC236}">
                <a16:creationId xmlns:a16="http://schemas.microsoft.com/office/drawing/2014/main" id="{C5AB552C-8CBC-CB36-E6D6-0EC1734F37C9}"/>
              </a:ext>
            </a:extLst>
          </p:cNvPr>
          <p:cNvSpPr txBox="1"/>
          <p:nvPr/>
        </p:nvSpPr>
        <p:spPr>
          <a:xfrm>
            <a:off x="5207000" y="2743200"/>
            <a:ext cx="1778000" cy="736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330">
                <a:solidFill>
                  <a:srgbClr val="172B4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帧间 </a:t>
            </a:r>
            <a:r>
              <a:rPr lang="en-US" altLang="zh-CN" sz="1330">
                <a:solidFill>
                  <a:srgbClr val="172B4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 </a:t>
            </a:r>
            <a:r>
              <a:rPr lang="zh-CN" altLang="en-US" sz="1330">
                <a:solidFill>
                  <a:srgbClr val="172B4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帧地图匹配</a:t>
            </a:r>
          </a:p>
          <a:p>
            <a:r>
              <a:rPr lang="zh-CN" altLang="en-US" sz="1330">
                <a:solidFill>
                  <a:srgbClr val="172B4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运动初值与相对约束</a:t>
            </a:r>
          </a:p>
          <a:p>
            <a:r>
              <a:rPr lang="zh-CN" altLang="en-US" sz="1330">
                <a:solidFill>
                  <a:srgbClr val="172B4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关键帧选择</a:t>
            </a:r>
          </a:p>
        </p:txBody>
      </p:sp>
      <p:sp>
        <p:nvSpPr>
          <p:cNvPr id="154" name="stage-4" descr="Native editable direction figure; object stage-4">
            <a:extLst>
              <a:ext uri="{FF2B5EF4-FFF2-40B4-BE49-F238E27FC236}">
                <a16:creationId xmlns:a16="http://schemas.microsoft.com/office/drawing/2014/main" id="{3A71AC23-0097-9CC3-91F8-259289B6083D}"/>
              </a:ext>
            </a:extLst>
          </p:cNvPr>
          <p:cNvSpPr/>
          <p:nvPr/>
        </p:nvSpPr>
        <p:spPr>
          <a:xfrm>
            <a:off x="7416800" y="2159000"/>
            <a:ext cx="2032000" cy="1397000"/>
          </a:xfrm>
          <a:prstGeom prst="rect">
            <a:avLst/>
          </a:prstGeom>
          <a:solidFill>
            <a:srgbClr val="EFF5FA"/>
          </a:solidFill>
          <a:ln w="12700" cap="flat" cmpd="sng" algn="ctr">
            <a:solidFill>
              <a:srgbClr val="D4E0E8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5" name="stage-4-title" descr="Native editable direction figure; object stage-4-title">
            <a:extLst>
              <a:ext uri="{FF2B5EF4-FFF2-40B4-BE49-F238E27FC236}">
                <a16:creationId xmlns:a16="http://schemas.microsoft.com/office/drawing/2014/main" id="{71C1010F-C80D-7161-E583-A04F1AE16C90}"/>
              </a:ext>
            </a:extLst>
          </p:cNvPr>
          <p:cNvSpPr txBox="1"/>
          <p:nvPr/>
        </p:nvSpPr>
        <p:spPr>
          <a:xfrm>
            <a:off x="7543800" y="2298700"/>
            <a:ext cx="1778000" cy="3429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600" b="1">
                <a:solidFill>
                  <a:srgbClr val="20649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后端：联合估计</a:t>
            </a:r>
          </a:p>
        </p:txBody>
      </p:sp>
      <p:sp>
        <p:nvSpPr>
          <p:cNvPr id="156" name="stage-4-body" descr="Native editable direction figure; object stage-4-body">
            <a:extLst>
              <a:ext uri="{FF2B5EF4-FFF2-40B4-BE49-F238E27FC236}">
                <a16:creationId xmlns:a16="http://schemas.microsoft.com/office/drawing/2014/main" id="{B2B5B3B6-3ED2-2756-0A81-5B622520F252}"/>
              </a:ext>
            </a:extLst>
          </p:cNvPr>
          <p:cNvSpPr txBox="1"/>
          <p:nvPr/>
        </p:nvSpPr>
        <p:spPr>
          <a:xfrm>
            <a:off x="7543800" y="2743200"/>
            <a:ext cx="1778000" cy="736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330">
                <a:solidFill>
                  <a:srgbClr val="172B4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融合观测与运动约束</a:t>
            </a:r>
          </a:p>
          <a:p>
            <a:r>
              <a:rPr lang="zh-CN" altLang="en-US" sz="1330">
                <a:solidFill>
                  <a:srgbClr val="172B4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优化位姿 </a:t>
            </a:r>
            <a:r>
              <a:rPr lang="en-US" altLang="zh-CN" sz="1330">
                <a:solidFill>
                  <a:srgbClr val="172B4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 </a:t>
            </a:r>
            <a:r>
              <a:rPr lang="zh-CN" altLang="en-US" sz="1330">
                <a:solidFill>
                  <a:srgbClr val="172B4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偏置等</a:t>
            </a:r>
          </a:p>
          <a:p>
            <a:r>
              <a:rPr lang="zh-CN" altLang="en-US" sz="1330">
                <a:solidFill>
                  <a:srgbClr val="172B4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可含地图变量</a:t>
            </a:r>
          </a:p>
        </p:txBody>
      </p:sp>
      <p:sp>
        <p:nvSpPr>
          <p:cNvPr id="157" name="stage-5" descr="Native editable direction figure; object stage-5">
            <a:extLst>
              <a:ext uri="{FF2B5EF4-FFF2-40B4-BE49-F238E27FC236}">
                <a16:creationId xmlns:a16="http://schemas.microsoft.com/office/drawing/2014/main" id="{660377F4-EDB8-E48F-D4B4-0B4FFF4413CE}"/>
              </a:ext>
            </a:extLst>
          </p:cNvPr>
          <p:cNvSpPr/>
          <p:nvPr/>
        </p:nvSpPr>
        <p:spPr>
          <a:xfrm>
            <a:off x="9753600" y="2159000"/>
            <a:ext cx="2032000" cy="1397000"/>
          </a:xfrm>
          <a:prstGeom prst="rect">
            <a:avLst/>
          </a:prstGeom>
          <a:solidFill>
            <a:srgbClr val="EFF5FA"/>
          </a:solidFill>
          <a:ln w="12700" cap="flat" cmpd="sng" algn="ctr">
            <a:solidFill>
              <a:srgbClr val="D4E0E8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8" name="stage-5-title" descr="Native editable direction figure; object stage-5-title">
            <a:extLst>
              <a:ext uri="{FF2B5EF4-FFF2-40B4-BE49-F238E27FC236}">
                <a16:creationId xmlns:a16="http://schemas.microsoft.com/office/drawing/2014/main" id="{FEE6FE71-7DD3-12CC-1C38-CC7FD0714965}"/>
              </a:ext>
            </a:extLst>
          </p:cNvPr>
          <p:cNvSpPr txBox="1"/>
          <p:nvPr/>
        </p:nvSpPr>
        <p:spPr>
          <a:xfrm>
            <a:off x="9880600" y="2298700"/>
            <a:ext cx="1778000" cy="3429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600" b="1">
                <a:solidFill>
                  <a:srgbClr val="20649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地图融合与更新</a:t>
            </a:r>
          </a:p>
        </p:txBody>
      </p:sp>
      <p:sp>
        <p:nvSpPr>
          <p:cNvPr id="159" name="stage-5-body" descr="Native editable direction figure; object stage-5-body">
            <a:extLst>
              <a:ext uri="{FF2B5EF4-FFF2-40B4-BE49-F238E27FC236}">
                <a16:creationId xmlns:a16="http://schemas.microsoft.com/office/drawing/2014/main" id="{EB93E013-ACD7-D432-7D5C-A37AF2BCA0F9}"/>
              </a:ext>
            </a:extLst>
          </p:cNvPr>
          <p:cNvSpPr txBox="1"/>
          <p:nvPr/>
        </p:nvSpPr>
        <p:spPr>
          <a:xfrm>
            <a:off x="9880600" y="2743200"/>
            <a:ext cx="1778000" cy="736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330">
                <a:solidFill>
                  <a:srgbClr val="172B4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用估计位姿融合观测</a:t>
            </a:r>
          </a:p>
          <a:p>
            <a:r>
              <a:rPr lang="zh-CN" altLang="en-US" sz="1330">
                <a:solidFill>
                  <a:srgbClr val="172B4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静态结构与变化管理</a:t>
            </a:r>
          </a:p>
          <a:p>
            <a:r>
              <a:rPr lang="zh-CN" altLang="en-US" sz="1330">
                <a:solidFill>
                  <a:srgbClr val="172B4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局部 </a:t>
            </a:r>
            <a:r>
              <a:rPr lang="en-US" altLang="zh-CN" sz="1330">
                <a:solidFill>
                  <a:srgbClr val="172B4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 </a:t>
            </a:r>
            <a:r>
              <a:rPr lang="zh-CN" altLang="en-US" sz="1330">
                <a:solidFill>
                  <a:srgbClr val="172B4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全局地图</a:t>
            </a:r>
          </a:p>
        </p:txBody>
      </p:sp>
      <p:cxnSp>
        <p:nvCxnSpPr>
          <p:cNvPr id="160" name="forward-1" descr="Native attached semantic connector; stage-1 to stage-2">
            <a:extLst>
              <a:ext uri="{FF2B5EF4-FFF2-40B4-BE49-F238E27FC236}">
                <a16:creationId xmlns:a16="http://schemas.microsoft.com/office/drawing/2014/main" id="{5C6AF729-4F75-E6A4-B1FE-1617764E923C}"/>
              </a:ext>
            </a:extLst>
          </p:cNvPr>
          <p:cNvCxnSpPr>
            <a:cxnSpLocks/>
            <a:stCxn id="145" idx="3"/>
            <a:endCxn id="148" idx="1"/>
          </p:cNvCxnSpPr>
          <p:nvPr/>
        </p:nvCxnSpPr>
        <p:spPr>
          <a:xfrm>
            <a:off x="2438400" y="2857500"/>
            <a:ext cx="304800" cy="0"/>
          </a:xfrm>
          <a:prstGeom prst="straightConnector1">
            <a:avLst/>
          </a:prstGeom>
          <a:ln w="22860">
            <a:solidFill>
              <a:srgbClr val="206493"/>
            </a:solidFill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forward-2" descr="Native attached semantic connector; stage-2 to stage-3">
            <a:extLst>
              <a:ext uri="{FF2B5EF4-FFF2-40B4-BE49-F238E27FC236}">
                <a16:creationId xmlns:a16="http://schemas.microsoft.com/office/drawing/2014/main" id="{DC7EB75A-703E-ECE2-F0E1-5CF602537557}"/>
              </a:ext>
            </a:extLst>
          </p:cNvPr>
          <p:cNvCxnSpPr>
            <a:cxnSpLocks/>
            <a:stCxn id="148" idx="3"/>
            <a:endCxn id="151" idx="1"/>
          </p:cNvCxnSpPr>
          <p:nvPr/>
        </p:nvCxnSpPr>
        <p:spPr>
          <a:xfrm>
            <a:off x="4775200" y="2857500"/>
            <a:ext cx="304800" cy="0"/>
          </a:xfrm>
          <a:prstGeom prst="straightConnector1">
            <a:avLst/>
          </a:prstGeom>
          <a:ln w="22860">
            <a:solidFill>
              <a:srgbClr val="206493"/>
            </a:solidFill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" name="forward-3" descr="Native attached semantic connector; stage-3 to stage-4">
            <a:extLst>
              <a:ext uri="{FF2B5EF4-FFF2-40B4-BE49-F238E27FC236}">
                <a16:creationId xmlns:a16="http://schemas.microsoft.com/office/drawing/2014/main" id="{15BAEA84-CD7C-C544-559C-EAB13B18FDF7}"/>
              </a:ext>
            </a:extLst>
          </p:cNvPr>
          <p:cNvCxnSpPr>
            <a:cxnSpLocks/>
            <a:stCxn id="151" idx="3"/>
            <a:endCxn id="154" idx="1"/>
          </p:cNvCxnSpPr>
          <p:nvPr/>
        </p:nvCxnSpPr>
        <p:spPr>
          <a:xfrm>
            <a:off x="7112000" y="2857500"/>
            <a:ext cx="304800" cy="0"/>
          </a:xfrm>
          <a:prstGeom prst="straightConnector1">
            <a:avLst/>
          </a:prstGeom>
          <a:ln w="22860">
            <a:solidFill>
              <a:srgbClr val="206493"/>
            </a:solidFill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" name="forward-4" descr="Native attached semantic connector; stage-4 to stage-5">
            <a:extLst>
              <a:ext uri="{FF2B5EF4-FFF2-40B4-BE49-F238E27FC236}">
                <a16:creationId xmlns:a16="http://schemas.microsoft.com/office/drawing/2014/main" id="{7FD3A8AF-D3C9-91C0-312C-A6A5ABFD084E}"/>
              </a:ext>
            </a:extLst>
          </p:cNvPr>
          <p:cNvCxnSpPr>
            <a:cxnSpLocks/>
            <a:stCxn id="154" idx="3"/>
            <a:endCxn id="157" idx="1"/>
          </p:cNvCxnSpPr>
          <p:nvPr/>
        </p:nvCxnSpPr>
        <p:spPr>
          <a:xfrm>
            <a:off x="9448800" y="2857500"/>
            <a:ext cx="304800" cy="0"/>
          </a:xfrm>
          <a:prstGeom prst="straightConnector1">
            <a:avLst/>
          </a:prstGeom>
          <a:ln w="22860">
            <a:solidFill>
              <a:srgbClr val="206493"/>
            </a:solidFill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4" name="feedback-map-anchor" descr="Native editable direction figure; object feedback-map-anchor">
            <a:extLst>
              <a:ext uri="{FF2B5EF4-FFF2-40B4-BE49-F238E27FC236}">
                <a16:creationId xmlns:a16="http://schemas.microsoft.com/office/drawing/2014/main" id="{850A9EB0-54E6-19C8-F171-F9C3EA1AC4B1}"/>
              </a:ext>
            </a:extLst>
          </p:cNvPr>
          <p:cNvSpPr/>
          <p:nvPr/>
        </p:nvSpPr>
        <p:spPr>
          <a:xfrm>
            <a:off x="10763250" y="1771650"/>
            <a:ext cx="12700" cy="12700"/>
          </a:xfrm>
          <a:prstGeom prst="rect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5" name="feedback-front-anchor" descr="Native editable direction figure; object feedback-front-anchor">
            <a:extLst>
              <a:ext uri="{FF2B5EF4-FFF2-40B4-BE49-F238E27FC236}">
                <a16:creationId xmlns:a16="http://schemas.microsoft.com/office/drawing/2014/main" id="{AE276E57-4C12-3FF2-EDB8-B57F35EEE64E}"/>
              </a:ext>
            </a:extLst>
          </p:cNvPr>
          <p:cNvSpPr/>
          <p:nvPr/>
        </p:nvSpPr>
        <p:spPr>
          <a:xfrm>
            <a:off x="6089650" y="1771650"/>
            <a:ext cx="12700" cy="12700"/>
          </a:xfrm>
          <a:prstGeom prst="rect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66" name="map-feedback-rise" descr="Native attached semantic connector; stage-5 to feedback-map-anchor">
            <a:extLst>
              <a:ext uri="{FF2B5EF4-FFF2-40B4-BE49-F238E27FC236}">
                <a16:creationId xmlns:a16="http://schemas.microsoft.com/office/drawing/2014/main" id="{DBFB1C78-FEC6-678C-45F0-7E053BF725DD}"/>
              </a:ext>
            </a:extLst>
          </p:cNvPr>
          <p:cNvCxnSpPr>
            <a:cxnSpLocks/>
            <a:stCxn id="157" idx="0"/>
            <a:endCxn id="164" idx="2"/>
          </p:cNvCxnSpPr>
          <p:nvPr/>
        </p:nvCxnSpPr>
        <p:spPr>
          <a:xfrm flipV="1">
            <a:off x="10769600" y="1784350"/>
            <a:ext cx="0" cy="374650"/>
          </a:xfrm>
          <a:prstGeom prst="straightConnector1">
            <a:avLst/>
          </a:prstGeom>
          <a:ln w="22860">
            <a:solidFill>
              <a:srgbClr val="137C76"/>
            </a:solidFill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" name="map-feedback-rail" descr="Native attached semantic connector; feedback-map-anchor to feedback-front-anchor">
            <a:extLst>
              <a:ext uri="{FF2B5EF4-FFF2-40B4-BE49-F238E27FC236}">
                <a16:creationId xmlns:a16="http://schemas.microsoft.com/office/drawing/2014/main" id="{F56D0C41-69DF-3D47-B733-E0D15FA1E39B}"/>
              </a:ext>
            </a:extLst>
          </p:cNvPr>
          <p:cNvCxnSpPr>
            <a:cxnSpLocks/>
            <a:stCxn id="164" idx="1"/>
            <a:endCxn id="165" idx="3"/>
          </p:cNvCxnSpPr>
          <p:nvPr/>
        </p:nvCxnSpPr>
        <p:spPr>
          <a:xfrm flipH="1">
            <a:off x="6102350" y="1778000"/>
            <a:ext cx="4660900" cy="0"/>
          </a:xfrm>
          <a:prstGeom prst="straightConnector1">
            <a:avLst/>
          </a:prstGeom>
          <a:ln w="22860">
            <a:solidFill>
              <a:srgbClr val="137C76"/>
            </a:solidFill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" name="map-feedback-enter" descr="Native attached semantic connector; feedback-front-anchor to stage-3">
            <a:extLst>
              <a:ext uri="{FF2B5EF4-FFF2-40B4-BE49-F238E27FC236}">
                <a16:creationId xmlns:a16="http://schemas.microsoft.com/office/drawing/2014/main" id="{15B9C1AB-AD3F-CAC7-A298-0C90F136F0FD}"/>
              </a:ext>
            </a:extLst>
          </p:cNvPr>
          <p:cNvCxnSpPr>
            <a:cxnSpLocks/>
            <a:stCxn id="165" idx="2"/>
            <a:endCxn id="151" idx="0"/>
          </p:cNvCxnSpPr>
          <p:nvPr/>
        </p:nvCxnSpPr>
        <p:spPr>
          <a:xfrm>
            <a:off x="6096000" y="1784350"/>
            <a:ext cx="0" cy="374650"/>
          </a:xfrm>
          <a:prstGeom prst="straightConnector1">
            <a:avLst/>
          </a:prstGeom>
          <a:ln w="22860">
            <a:solidFill>
              <a:srgbClr val="137C76"/>
            </a:solidFill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9" name="joint-estimation-note" descr="Native editable direction figure; object joint-estimation-note">
            <a:extLst>
              <a:ext uri="{FF2B5EF4-FFF2-40B4-BE49-F238E27FC236}">
                <a16:creationId xmlns:a16="http://schemas.microsoft.com/office/drawing/2014/main" id="{A04584C6-96D0-2B0F-3F9F-1FC32D68EA8F}"/>
              </a:ext>
            </a:extLst>
          </p:cNvPr>
          <p:cNvSpPr txBox="1"/>
          <p:nvPr/>
        </p:nvSpPr>
        <p:spPr>
          <a:xfrm>
            <a:off x="406400" y="4267200"/>
            <a:ext cx="4292600" cy="787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500">
                <a:solidFill>
                  <a:srgbClr val="52667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位姿影响地图，地图影响后续位姿。</a:t>
            </a:r>
          </a:p>
          <a:p>
            <a:r>
              <a:rPr lang="zh-CN" altLang="en-US" sz="1500">
                <a:solidFill>
                  <a:srgbClr val="52667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误差会沿这个反馈关系传播。</a:t>
            </a:r>
          </a:p>
        </p:txBody>
      </p:sp>
      <p:sp>
        <p:nvSpPr>
          <p:cNvPr id="170" name="pose-output" descr="Native editable direction figure; object pose-output">
            <a:extLst>
              <a:ext uri="{FF2B5EF4-FFF2-40B4-BE49-F238E27FC236}">
                <a16:creationId xmlns:a16="http://schemas.microsoft.com/office/drawing/2014/main" id="{7BA2E4E1-C8DF-83B0-CD67-5E384B63AD0C}"/>
              </a:ext>
            </a:extLst>
          </p:cNvPr>
          <p:cNvSpPr txBox="1"/>
          <p:nvPr/>
        </p:nvSpPr>
        <p:spPr>
          <a:xfrm>
            <a:off x="5080000" y="4419600"/>
            <a:ext cx="2032000" cy="787400"/>
          </a:xfrm>
          <a:prstGeom prst="rect">
            <a:avLst/>
          </a:prstGeom>
          <a:solidFill>
            <a:srgbClr val="EAF6F2"/>
          </a:solidFill>
          <a:ln w="0">
            <a:solidFill>
              <a:srgbClr val="137C76"/>
            </a:solidFill>
          </a:ln>
        </p:spPr>
        <p:txBody>
          <a:bodyPr vert="horz" wrap="square" lIns="101600" tIns="101600" rIns="101600" bIns="101600" rtlCol="0" anchor="t">
            <a:noAutofit/>
          </a:bodyPr>
          <a:lstStyle/>
          <a:p>
            <a:r>
              <a:rPr lang="zh-CN" altLang="en-US" sz="1310">
                <a:solidFill>
                  <a:srgbClr val="172B4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输出 ① 位姿 </a:t>
            </a:r>
            <a:r>
              <a:rPr lang="en-US" altLang="zh-CN" sz="1310">
                <a:solidFill>
                  <a:srgbClr val="172B4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 </a:t>
            </a:r>
            <a:r>
              <a:rPr lang="zh-CN" altLang="en-US" sz="1310">
                <a:solidFill>
                  <a:srgbClr val="172B4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轨迹</a:t>
            </a:r>
          </a:p>
          <a:p>
            <a:r>
              <a:rPr lang="zh-CN" altLang="en-US" sz="1310">
                <a:solidFill>
                  <a:srgbClr val="172B4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实时跟踪 </a:t>
            </a:r>
            <a:r>
              <a:rPr lang="en-US" altLang="zh-CN" sz="1310">
                <a:solidFill>
                  <a:srgbClr val="172B4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+ </a:t>
            </a:r>
            <a:r>
              <a:rPr lang="zh-CN" altLang="en-US" sz="1310">
                <a:solidFill>
                  <a:srgbClr val="172B4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后端校正</a:t>
            </a:r>
          </a:p>
        </p:txBody>
      </p:sp>
      <p:sp>
        <p:nvSpPr>
          <p:cNvPr id="171" name="loop-validation" descr="Native editable direction figure; object loop-validation">
            <a:extLst>
              <a:ext uri="{FF2B5EF4-FFF2-40B4-BE49-F238E27FC236}">
                <a16:creationId xmlns:a16="http://schemas.microsoft.com/office/drawing/2014/main" id="{74527026-FE81-5EFA-28D8-7023C2E26CB6}"/>
              </a:ext>
            </a:extLst>
          </p:cNvPr>
          <p:cNvSpPr txBox="1"/>
          <p:nvPr/>
        </p:nvSpPr>
        <p:spPr>
          <a:xfrm>
            <a:off x="7416800" y="4419600"/>
            <a:ext cx="2032000" cy="787400"/>
          </a:xfrm>
          <a:prstGeom prst="rect">
            <a:avLst/>
          </a:prstGeom>
          <a:solidFill>
            <a:srgbClr val="FBF4E8"/>
          </a:solidFill>
          <a:ln w="0">
            <a:solidFill>
              <a:srgbClr val="9B5D18"/>
            </a:solidFill>
          </a:ln>
        </p:spPr>
        <p:txBody>
          <a:bodyPr vert="horz" wrap="square" lIns="101600" tIns="101600" rIns="101600" bIns="101600" rtlCol="0" anchor="t">
            <a:noAutofit/>
          </a:bodyPr>
          <a:lstStyle/>
          <a:p>
            <a:r>
              <a:rPr lang="zh-CN" altLang="en-US" sz="1310">
                <a:solidFill>
                  <a:srgbClr val="172B4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回环检测与验证</a:t>
            </a:r>
          </a:p>
          <a:p>
            <a:r>
              <a:rPr lang="zh-CN" altLang="en-US" sz="1310">
                <a:solidFill>
                  <a:srgbClr val="172B4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历史关键帧</a:t>
            </a:r>
          </a:p>
          <a:p>
            <a:r>
              <a:rPr lang="zh-CN" altLang="en-US" sz="1310">
                <a:solidFill>
                  <a:srgbClr val="172B4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几何一致性约束</a:t>
            </a:r>
          </a:p>
        </p:txBody>
      </p:sp>
      <p:sp>
        <p:nvSpPr>
          <p:cNvPr id="172" name="map-output" descr="Native editable direction figure; object map-output">
            <a:extLst>
              <a:ext uri="{FF2B5EF4-FFF2-40B4-BE49-F238E27FC236}">
                <a16:creationId xmlns:a16="http://schemas.microsoft.com/office/drawing/2014/main" id="{37FA417E-0A1B-4B1A-AA16-E585CC199203}"/>
              </a:ext>
            </a:extLst>
          </p:cNvPr>
          <p:cNvSpPr txBox="1"/>
          <p:nvPr/>
        </p:nvSpPr>
        <p:spPr>
          <a:xfrm>
            <a:off x="9753600" y="4419600"/>
            <a:ext cx="2032000" cy="787400"/>
          </a:xfrm>
          <a:prstGeom prst="rect">
            <a:avLst/>
          </a:prstGeom>
          <a:solidFill>
            <a:srgbClr val="EAF6F2"/>
          </a:solidFill>
          <a:ln w="0">
            <a:solidFill>
              <a:srgbClr val="137C76"/>
            </a:solidFill>
          </a:ln>
        </p:spPr>
        <p:txBody>
          <a:bodyPr vert="horz" wrap="square" lIns="101600" tIns="101600" rIns="101600" bIns="101600" rtlCol="0" anchor="t">
            <a:noAutofit/>
          </a:bodyPr>
          <a:lstStyle/>
          <a:p>
            <a:r>
              <a:rPr lang="zh-CN" altLang="en-US" sz="1310">
                <a:solidFill>
                  <a:srgbClr val="172B4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输出 ② 环境地图</a:t>
            </a:r>
          </a:p>
          <a:p>
            <a:r>
              <a:rPr lang="zh-CN" altLang="en-US" sz="1310">
                <a:solidFill>
                  <a:srgbClr val="172B4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点云 </a:t>
            </a:r>
            <a:r>
              <a:rPr lang="en-US" altLang="zh-CN" sz="1310">
                <a:solidFill>
                  <a:srgbClr val="172B4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 </a:t>
            </a:r>
            <a:r>
              <a:rPr lang="zh-CN" altLang="en-US" sz="1310">
                <a:solidFill>
                  <a:srgbClr val="172B4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栅格 </a:t>
            </a:r>
            <a:r>
              <a:rPr lang="en-US" altLang="zh-CN" sz="1310">
                <a:solidFill>
                  <a:srgbClr val="172B4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 </a:t>
            </a:r>
            <a:r>
              <a:rPr lang="zh-CN" altLang="en-US" sz="1310">
                <a:solidFill>
                  <a:srgbClr val="172B4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特征等</a:t>
            </a:r>
          </a:p>
        </p:txBody>
      </p:sp>
      <p:cxnSp>
        <p:nvCxnSpPr>
          <p:cNvPr id="173" name="pose-output-edge" descr="Native attached semantic connector; stage-3 to pose-output">
            <a:extLst>
              <a:ext uri="{FF2B5EF4-FFF2-40B4-BE49-F238E27FC236}">
                <a16:creationId xmlns:a16="http://schemas.microsoft.com/office/drawing/2014/main" id="{C20C32C3-6E33-EFD0-59FD-305AABFEC387}"/>
              </a:ext>
            </a:extLst>
          </p:cNvPr>
          <p:cNvCxnSpPr>
            <a:cxnSpLocks/>
            <a:stCxn id="151" idx="2"/>
            <a:endCxn id="170" idx="0"/>
          </p:cNvCxnSpPr>
          <p:nvPr/>
        </p:nvCxnSpPr>
        <p:spPr>
          <a:xfrm>
            <a:off x="6096000" y="3556000"/>
            <a:ext cx="0" cy="863600"/>
          </a:xfrm>
          <a:prstGeom prst="straightConnector1">
            <a:avLst/>
          </a:prstGeom>
          <a:ln w="22860">
            <a:solidFill>
              <a:srgbClr val="206493"/>
            </a:solidFill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" name="validated-loop-factor" descr="Native attached semantic connector; loop-validation to stage-4">
            <a:extLst>
              <a:ext uri="{FF2B5EF4-FFF2-40B4-BE49-F238E27FC236}">
                <a16:creationId xmlns:a16="http://schemas.microsoft.com/office/drawing/2014/main" id="{0D956F02-91A2-7F93-F9BA-0E9C38973514}"/>
              </a:ext>
            </a:extLst>
          </p:cNvPr>
          <p:cNvCxnSpPr>
            <a:cxnSpLocks/>
            <a:stCxn id="171" idx="0"/>
            <a:endCxn id="154" idx="2"/>
          </p:cNvCxnSpPr>
          <p:nvPr/>
        </p:nvCxnSpPr>
        <p:spPr>
          <a:xfrm flipV="1">
            <a:off x="8432800" y="3556000"/>
            <a:ext cx="0" cy="863600"/>
          </a:xfrm>
          <a:prstGeom prst="straightConnector1">
            <a:avLst/>
          </a:prstGeom>
          <a:ln w="22860">
            <a:solidFill>
              <a:srgbClr val="9B5D18"/>
            </a:solidFill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5" name="map-output-edge" descr="Native attached semantic connector; stage-5 to map-output">
            <a:extLst>
              <a:ext uri="{FF2B5EF4-FFF2-40B4-BE49-F238E27FC236}">
                <a16:creationId xmlns:a16="http://schemas.microsoft.com/office/drawing/2014/main" id="{229A938F-C26C-579D-D172-CE9D0D3120BC}"/>
              </a:ext>
            </a:extLst>
          </p:cNvPr>
          <p:cNvCxnSpPr>
            <a:cxnSpLocks/>
            <a:stCxn id="157" idx="2"/>
            <a:endCxn id="172" idx="0"/>
          </p:cNvCxnSpPr>
          <p:nvPr/>
        </p:nvCxnSpPr>
        <p:spPr>
          <a:xfrm>
            <a:off x="10769600" y="3556000"/>
            <a:ext cx="0" cy="863600"/>
          </a:xfrm>
          <a:prstGeom prst="straightConnector1">
            <a:avLst/>
          </a:prstGeom>
          <a:ln w="22860">
            <a:solidFill>
              <a:srgbClr val="206493"/>
            </a:solidFill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6" name="experiment-scope-bg" descr="Native editable direction figure; object experiment-scope-bg">
            <a:extLst>
              <a:ext uri="{FF2B5EF4-FFF2-40B4-BE49-F238E27FC236}">
                <a16:creationId xmlns:a16="http://schemas.microsoft.com/office/drawing/2014/main" id="{5F1BF32A-C58A-C335-0195-AF6313CD713A}"/>
              </a:ext>
            </a:extLst>
          </p:cNvPr>
          <p:cNvSpPr/>
          <p:nvPr/>
        </p:nvSpPr>
        <p:spPr>
          <a:xfrm>
            <a:off x="406400" y="5740400"/>
            <a:ext cx="11379200" cy="647700"/>
          </a:xfrm>
          <a:prstGeom prst="rect">
            <a:avLst/>
          </a:prstGeom>
          <a:solidFill>
            <a:srgbClr val="EFF5FA"/>
          </a:solidFill>
          <a:ln w="12700" cap="flat" cmpd="sng" algn="ctr">
            <a:solidFill>
              <a:srgbClr val="D4E0E8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7" name="experiment-scope" descr="Native editable direction figure; object experiment-scope">
            <a:extLst>
              <a:ext uri="{FF2B5EF4-FFF2-40B4-BE49-F238E27FC236}">
                <a16:creationId xmlns:a16="http://schemas.microsoft.com/office/drawing/2014/main" id="{F0D4EFDA-5997-166E-C918-93F842A90B44}"/>
              </a:ext>
            </a:extLst>
          </p:cNvPr>
          <p:cNvSpPr txBox="1"/>
          <p:nvPr/>
        </p:nvSpPr>
        <p:spPr>
          <a:xfrm>
            <a:off x="584200" y="5854700"/>
            <a:ext cx="110236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400">
                <a:solidFill>
                  <a:srgbClr val="20649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本轮实验：给定建图位姿 </a:t>
            </a:r>
            <a:r>
              <a:rPr lang="en-US" altLang="zh-CN" sz="1400">
                <a:solidFill>
                  <a:srgbClr val="20649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 → </a:t>
            </a:r>
            <a:r>
              <a:rPr lang="zh-CN" altLang="en-US" sz="1400">
                <a:solidFill>
                  <a:srgbClr val="20649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清理并冻结地图 → 独立扫描 </a:t>
            </a:r>
            <a:r>
              <a:rPr lang="en-US" altLang="zh-CN" sz="1400">
                <a:solidFill>
                  <a:srgbClr val="20649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B </a:t>
            </a:r>
            <a:r>
              <a:rPr lang="zh-CN" altLang="en-US" sz="1400">
                <a:solidFill>
                  <a:srgbClr val="20649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定位；该对照用于隔离地图因素。</a:t>
            </a:r>
          </a:p>
        </p:txBody>
      </p:sp>
      <p:sp>
        <p:nvSpPr>
          <p:cNvPr id="178" name="workflow-footnote" descr="Native editable direction figure; object workflow-footnote">
            <a:extLst>
              <a:ext uri="{FF2B5EF4-FFF2-40B4-BE49-F238E27FC236}">
                <a16:creationId xmlns:a16="http://schemas.microsoft.com/office/drawing/2014/main" id="{D83F90CF-379F-8649-5331-D91C167D01DE}"/>
              </a:ext>
            </a:extLst>
          </p:cNvPr>
          <p:cNvSpPr txBox="1"/>
          <p:nvPr/>
        </p:nvSpPr>
        <p:spPr>
          <a:xfrm>
            <a:off x="406400" y="6553200"/>
            <a:ext cx="113792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050">
                <a:solidFill>
                  <a:srgbClr val="52667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通用功能流程；各 </a:t>
            </a:r>
            <a:r>
              <a:rPr lang="en-US" altLang="zh-CN" sz="1050">
                <a:solidFill>
                  <a:srgbClr val="52667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SLAM </a:t>
            </a:r>
            <a:r>
              <a:rPr lang="zh-CN" altLang="en-US" sz="1050">
                <a:solidFill>
                  <a:srgbClr val="52667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系统的模块划分和状态变量可不同。</a:t>
            </a:r>
          </a:p>
        </p:txBody>
      </p:sp>
    </p:spTree>
    <p:extLst>
      <p:ext uri="{BB962C8B-B14F-4D97-AF65-F5344CB8AC3E}">
        <p14:creationId xmlns:p14="http://schemas.microsoft.com/office/powerpoint/2010/main" val="30523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robustness-factors-zh-C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actors-title" descr="Native editable direction figure; object factors-title">
            <a:extLst>
              <a:ext uri="{FF2B5EF4-FFF2-40B4-BE49-F238E27FC236}">
                <a16:creationId xmlns:a16="http://schemas.microsoft.com/office/drawing/2014/main" id="{3B399B13-6962-A6AA-D330-CA30A2CF02F4}"/>
              </a:ext>
            </a:extLst>
          </p:cNvPr>
          <p:cNvSpPr txBox="1"/>
          <p:nvPr/>
        </p:nvSpPr>
        <p:spPr>
          <a:xfrm>
            <a:off x="406400" y="241300"/>
            <a:ext cx="11379200" cy="482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2600" b="1">
                <a:solidFill>
                  <a:srgbClr val="172B4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影响鲁棒定位与 </a:t>
            </a:r>
            <a:r>
              <a:rPr lang="en-US" altLang="zh-CN" sz="2600" b="1">
                <a:solidFill>
                  <a:srgbClr val="172B4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SLAM </a:t>
            </a:r>
            <a:r>
              <a:rPr lang="zh-CN" altLang="en-US" sz="2600" b="1">
                <a:solidFill>
                  <a:srgbClr val="172B4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的因素和实例</a:t>
            </a:r>
          </a:p>
        </p:txBody>
      </p:sp>
      <p:sp>
        <p:nvSpPr>
          <p:cNvPr id="3" name="factors-subtitle" descr="Native editable direction figure; object factors-subtitle">
            <a:extLst>
              <a:ext uri="{FF2B5EF4-FFF2-40B4-BE49-F238E27FC236}">
                <a16:creationId xmlns:a16="http://schemas.microsoft.com/office/drawing/2014/main" id="{716FB4DE-F310-C459-D9E8-F2582D914BBB}"/>
              </a:ext>
            </a:extLst>
          </p:cNvPr>
          <p:cNvSpPr txBox="1"/>
          <p:nvPr/>
        </p:nvSpPr>
        <p:spPr>
          <a:xfrm>
            <a:off x="406400" y="800100"/>
            <a:ext cx="11379200" cy="317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400">
                <a:solidFill>
                  <a:srgbClr val="52667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读法：因素 → 典型实例 → 影响机制；右侧虚线框用于插入实测图。</a:t>
            </a:r>
          </a:p>
        </p:txBody>
      </p:sp>
      <p:sp>
        <p:nvSpPr>
          <p:cNvPr id="14" name="F01-row" descr="Native editable direction figure; object F01-row">
            <a:extLst>
              <a:ext uri="{FF2B5EF4-FFF2-40B4-BE49-F238E27FC236}">
                <a16:creationId xmlns:a16="http://schemas.microsoft.com/office/drawing/2014/main" id="{534ED9A2-8B9F-41F2-F592-7A80194B7C80}"/>
              </a:ext>
            </a:extLst>
          </p:cNvPr>
          <p:cNvSpPr/>
          <p:nvPr/>
        </p:nvSpPr>
        <p:spPr>
          <a:xfrm>
            <a:off x="406400" y="1333500"/>
            <a:ext cx="5588000" cy="11176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D4E0E8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F01-heading" descr="Native editable direction figure; object F01-heading">
            <a:extLst>
              <a:ext uri="{FF2B5EF4-FFF2-40B4-BE49-F238E27FC236}">
                <a16:creationId xmlns:a16="http://schemas.microsoft.com/office/drawing/2014/main" id="{F893C0B7-5747-99DD-4E81-B3FF8D716116}"/>
              </a:ext>
            </a:extLst>
          </p:cNvPr>
          <p:cNvSpPr txBox="1"/>
          <p:nvPr/>
        </p:nvSpPr>
        <p:spPr>
          <a:xfrm>
            <a:off x="533400" y="1422400"/>
            <a:ext cx="3733800" cy="292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500" b="1">
                <a:solidFill>
                  <a:srgbClr val="20649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F01  </a:t>
            </a:r>
            <a:r>
              <a:rPr lang="zh-CN" altLang="en-US" sz="1500" b="1">
                <a:solidFill>
                  <a:srgbClr val="20649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采样与可见性</a:t>
            </a:r>
          </a:p>
        </p:txBody>
      </p:sp>
      <p:sp>
        <p:nvSpPr>
          <p:cNvPr id="16" name="F01-example" descr="Native editable direction figure; object F01-example">
            <a:extLst>
              <a:ext uri="{FF2B5EF4-FFF2-40B4-BE49-F238E27FC236}">
                <a16:creationId xmlns:a16="http://schemas.microsoft.com/office/drawing/2014/main" id="{2FB39E29-3CE4-D621-E6C2-B4D05DA513D6}"/>
              </a:ext>
            </a:extLst>
          </p:cNvPr>
          <p:cNvSpPr txBox="1"/>
          <p:nvPr/>
        </p:nvSpPr>
        <p:spPr>
          <a:xfrm>
            <a:off x="533400" y="1765300"/>
            <a:ext cx="3733800" cy="2667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280">
                <a:solidFill>
                  <a:srgbClr val="172B4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例：远处细柱 </a:t>
            </a:r>
            <a:r>
              <a:rPr lang="en-US" altLang="zh-CN" sz="1280">
                <a:solidFill>
                  <a:srgbClr val="172B4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 </a:t>
            </a:r>
            <a:r>
              <a:rPr lang="zh-CN" altLang="en-US" sz="1280">
                <a:solidFill>
                  <a:srgbClr val="172B4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大面积遮挡</a:t>
            </a:r>
          </a:p>
        </p:txBody>
      </p:sp>
      <p:sp>
        <p:nvSpPr>
          <p:cNvPr id="17" name="F01-mechanism" descr="Native editable direction figure; object F01-mechanism">
            <a:extLst>
              <a:ext uri="{FF2B5EF4-FFF2-40B4-BE49-F238E27FC236}">
                <a16:creationId xmlns:a16="http://schemas.microsoft.com/office/drawing/2014/main" id="{435F0DCF-7D3D-EC1D-DAD7-FAADF2AE8146}"/>
              </a:ext>
            </a:extLst>
          </p:cNvPr>
          <p:cNvSpPr txBox="1"/>
          <p:nvPr/>
        </p:nvSpPr>
        <p:spPr>
          <a:xfrm>
            <a:off x="533400" y="2070100"/>
            <a:ext cx="37338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210">
                <a:solidFill>
                  <a:srgbClr val="52667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稀疏、低重叠 → 匹配与建图约束不足</a:t>
            </a:r>
          </a:p>
        </p:txBody>
      </p:sp>
      <p:sp>
        <p:nvSpPr>
          <p:cNvPr id="18" name="F01-image-slot" descr="Native editable direction figure; object F01-image-slot">
            <a:extLst>
              <a:ext uri="{FF2B5EF4-FFF2-40B4-BE49-F238E27FC236}">
                <a16:creationId xmlns:a16="http://schemas.microsoft.com/office/drawing/2014/main" id="{3060C2F0-6EB9-37CE-95CC-9E3216C1A4CD}"/>
              </a:ext>
            </a:extLst>
          </p:cNvPr>
          <p:cNvSpPr txBox="1"/>
          <p:nvPr/>
        </p:nvSpPr>
        <p:spPr>
          <a:xfrm>
            <a:off x="4394200" y="1435100"/>
            <a:ext cx="1473200" cy="914400"/>
          </a:xfrm>
          <a:prstGeom prst="rect">
            <a:avLst/>
          </a:prstGeom>
          <a:solidFill>
            <a:srgbClr val="F5F7F9"/>
          </a:solidFill>
          <a:ln w="12700">
            <a:solidFill>
              <a:srgbClr val="D4E0E8"/>
            </a:solidFill>
            <a:prstDash val="dash"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algn="ctr"/>
            <a:r>
              <a:rPr lang="en-US" altLang="zh-CN" sz="1140">
                <a:solidFill>
                  <a:srgbClr val="52667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F01 </a:t>
            </a:r>
            <a:r>
              <a:rPr lang="zh-CN" altLang="en-US" sz="1140">
                <a:solidFill>
                  <a:srgbClr val="52667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配图位</a:t>
            </a:r>
          </a:p>
          <a:p>
            <a:pPr algn="ctr"/>
            <a:r>
              <a:rPr lang="zh-CN" altLang="en-US" sz="1140">
                <a:solidFill>
                  <a:srgbClr val="52667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稀疏 </a:t>
            </a:r>
            <a:r>
              <a:rPr lang="en-US" altLang="zh-CN" sz="1140">
                <a:solidFill>
                  <a:srgbClr val="52667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 </a:t>
            </a:r>
            <a:r>
              <a:rPr lang="zh-CN" altLang="en-US" sz="1140">
                <a:solidFill>
                  <a:srgbClr val="52667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遮挡</a:t>
            </a:r>
          </a:p>
        </p:txBody>
      </p:sp>
      <p:sp>
        <p:nvSpPr>
          <p:cNvPr id="19" name="F02-row" descr="Native editable direction figure; object F02-row">
            <a:extLst>
              <a:ext uri="{FF2B5EF4-FFF2-40B4-BE49-F238E27FC236}">
                <a16:creationId xmlns:a16="http://schemas.microsoft.com/office/drawing/2014/main" id="{1C9078D8-56DC-0237-2564-61C27EA43AB6}"/>
              </a:ext>
            </a:extLst>
          </p:cNvPr>
          <p:cNvSpPr/>
          <p:nvPr/>
        </p:nvSpPr>
        <p:spPr>
          <a:xfrm>
            <a:off x="6197600" y="1333500"/>
            <a:ext cx="5588000" cy="11176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D4E0E8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F02-heading" descr="Native editable direction figure; object F02-heading">
            <a:extLst>
              <a:ext uri="{FF2B5EF4-FFF2-40B4-BE49-F238E27FC236}">
                <a16:creationId xmlns:a16="http://schemas.microsoft.com/office/drawing/2014/main" id="{DFC9793A-2FA4-14B5-A699-907F0841334E}"/>
              </a:ext>
            </a:extLst>
          </p:cNvPr>
          <p:cNvSpPr txBox="1"/>
          <p:nvPr/>
        </p:nvSpPr>
        <p:spPr>
          <a:xfrm>
            <a:off x="6324600" y="1422400"/>
            <a:ext cx="3733800" cy="292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500" b="1">
                <a:solidFill>
                  <a:srgbClr val="20649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F02  </a:t>
            </a:r>
            <a:r>
              <a:rPr lang="zh-CN" altLang="en-US" sz="1500" b="1">
                <a:solidFill>
                  <a:srgbClr val="20649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运动与扫描畸变</a:t>
            </a:r>
          </a:p>
        </p:txBody>
      </p:sp>
      <p:sp>
        <p:nvSpPr>
          <p:cNvPr id="21" name="F02-example" descr="Native editable direction figure; object F02-example">
            <a:extLst>
              <a:ext uri="{FF2B5EF4-FFF2-40B4-BE49-F238E27FC236}">
                <a16:creationId xmlns:a16="http://schemas.microsoft.com/office/drawing/2014/main" id="{84779363-0088-D29D-A914-FAFBB48F08ED}"/>
              </a:ext>
            </a:extLst>
          </p:cNvPr>
          <p:cNvSpPr txBox="1"/>
          <p:nvPr/>
        </p:nvSpPr>
        <p:spPr>
          <a:xfrm>
            <a:off x="6324600" y="1765300"/>
            <a:ext cx="3733800" cy="2667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280">
                <a:solidFill>
                  <a:srgbClr val="172B4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例：快速转弯 </a:t>
            </a:r>
            <a:r>
              <a:rPr lang="en-US" altLang="zh-CN" sz="1280">
                <a:solidFill>
                  <a:srgbClr val="172B4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 </a:t>
            </a:r>
            <a:r>
              <a:rPr lang="zh-CN" altLang="en-US" sz="1280">
                <a:solidFill>
                  <a:srgbClr val="172B4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振动 </a:t>
            </a:r>
            <a:r>
              <a:rPr lang="en-US" altLang="zh-CN" sz="1280">
                <a:solidFill>
                  <a:srgbClr val="172B4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 </a:t>
            </a:r>
            <a:r>
              <a:rPr lang="zh-CN" altLang="en-US" sz="1280">
                <a:solidFill>
                  <a:srgbClr val="172B4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轮胎打滑</a:t>
            </a:r>
          </a:p>
        </p:txBody>
      </p:sp>
      <p:sp>
        <p:nvSpPr>
          <p:cNvPr id="22" name="F02-mechanism" descr="Native editable direction figure; object F02-mechanism">
            <a:extLst>
              <a:ext uri="{FF2B5EF4-FFF2-40B4-BE49-F238E27FC236}">
                <a16:creationId xmlns:a16="http://schemas.microsoft.com/office/drawing/2014/main" id="{20448718-4976-5F46-5A7D-39D1D3FAEACA}"/>
              </a:ext>
            </a:extLst>
          </p:cNvPr>
          <p:cNvSpPr txBox="1"/>
          <p:nvPr/>
        </p:nvSpPr>
        <p:spPr>
          <a:xfrm>
            <a:off x="6324600" y="2070100"/>
            <a:ext cx="37338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210">
                <a:solidFill>
                  <a:srgbClr val="52667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扫描拉弯或运动先验失真 → 错误对齐</a:t>
            </a:r>
          </a:p>
        </p:txBody>
      </p:sp>
      <p:sp>
        <p:nvSpPr>
          <p:cNvPr id="23" name="F02-image-slot" descr="Native editable direction figure; object F02-image-slot">
            <a:extLst>
              <a:ext uri="{FF2B5EF4-FFF2-40B4-BE49-F238E27FC236}">
                <a16:creationId xmlns:a16="http://schemas.microsoft.com/office/drawing/2014/main" id="{A181B31F-C15F-298A-931D-53F4AF18E372}"/>
              </a:ext>
            </a:extLst>
          </p:cNvPr>
          <p:cNvSpPr txBox="1"/>
          <p:nvPr/>
        </p:nvSpPr>
        <p:spPr>
          <a:xfrm>
            <a:off x="10185400" y="1435100"/>
            <a:ext cx="1473200" cy="914400"/>
          </a:xfrm>
          <a:prstGeom prst="rect">
            <a:avLst/>
          </a:prstGeom>
          <a:solidFill>
            <a:srgbClr val="F5F7F9"/>
          </a:solidFill>
          <a:ln w="12700">
            <a:solidFill>
              <a:srgbClr val="D4E0E8"/>
            </a:solidFill>
            <a:prstDash val="dash"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algn="ctr"/>
            <a:r>
              <a:rPr lang="en-US" altLang="zh-CN" sz="1140">
                <a:solidFill>
                  <a:srgbClr val="52667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F02 </a:t>
            </a:r>
            <a:r>
              <a:rPr lang="zh-CN" altLang="en-US" sz="1140">
                <a:solidFill>
                  <a:srgbClr val="52667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配图位</a:t>
            </a:r>
          </a:p>
          <a:p>
            <a:pPr algn="ctr"/>
            <a:r>
              <a:rPr lang="zh-CN" altLang="en-US" sz="1140">
                <a:solidFill>
                  <a:srgbClr val="52667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转弯 </a:t>
            </a:r>
            <a:r>
              <a:rPr lang="en-US" altLang="zh-CN" sz="1140">
                <a:solidFill>
                  <a:srgbClr val="52667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 </a:t>
            </a:r>
            <a:r>
              <a:rPr lang="zh-CN" altLang="en-US" sz="1140">
                <a:solidFill>
                  <a:srgbClr val="52667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墙面</a:t>
            </a:r>
          </a:p>
        </p:txBody>
      </p:sp>
      <p:sp>
        <p:nvSpPr>
          <p:cNvPr id="24" name="F03-row" descr="Native editable direction figure; object F03-row">
            <a:extLst>
              <a:ext uri="{FF2B5EF4-FFF2-40B4-BE49-F238E27FC236}">
                <a16:creationId xmlns:a16="http://schemas.microsoft.com/office/drawing/2014/main" id="{C94BCE05-EE9D-24F0-785D-76DBC6B1E2B6}"/>
              </a:ext>
            </a:extLst>
          </p:cNvPr>
          <p:cNvSpPr/>
          <p:nvPr/>
        </p:nvSpPr>
        <p:spPr>
          <a:xfrm>
            <a:off x="406400" y="2578100"/>
            <a:ext cx="5588000" cy="11176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D4E0E8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F03-heading" descr="Native editable direction figure; object F03-heading">
            <a:extLst>
              <a:ext uri="{FF2B5EF4-FFF2-40B4-BE49-F238E27FC236}">
                <a16:creationId xmlns:a16="http://schemas.microsoft.com/office/drawing/2014/main" id="{D2D38974-9A90-323A-7B95-207B3946072F}"/>
              </a:ext>
            </a:extLst>
          </p:cNvPr>
          <p:cNvSpPr txBox="1"/>
          <p:nvPr/>
        </p:nvSpPr>
        <p:spPr>
          <a:xfrm>
            <a:off x="533400" y="2667000"/>
            <a:ext cx="3733800" cy="292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500" b="1">
                <a:solidFill>
                  <a:srgbClr val="20649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F03  </a:t>
            </a:r>
            <a:r>
              <a:rPr lang="zh-CN" altLang="en-US" sz="1500" b="1">
                <a:solidFill>
                  <a:srgbClr val="20649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时间与空间标定</a:t>
            </a:r>
          </a:p>
        </p:txBody>
      </p:sp>
      <p:sp>
        <p:nvSpPr>
          <p:cNvPr id="26" name="F03-example" descr="Native editable direction figure; object F03-example">
            <a:extLst>
              <a:ext uri="{FF2B5EF4-FFF2-40B4-BE49-F238E27FC236}">
                <a16:creationId xmlns:a16="http://schemas.microsoft.com/office/drawing/2014/main" id="{19484566-ACC7-ECB0-76D4-7911D2C04485}"/>
              </a:ext>
            </a:extLst>
          </p:cNvPr>
          <p:cNvSpPr txBox="1"/>
          <p:nvPr/>
        </p:nvSpPr>
        <p:spPr>
          <a:xfrm>
            <a:off x="533400" y="3009900"/>
            <a:ext cx="3733800" cy="2667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280">
                <a:solidFill>
                  <a:srgbClr val="172B4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例：</a:t>
            </a:r>
            <a:r>
              <a:rPr lang="en-US" altLang="zh-CN" sz="1280">
                <a:solidFill>
                  <a:srgbClr val="172B4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LiDAR–IMU </a:t>
            </a:r>
            <a:r>
              <a:rPr lang="zh-CN" altLang="en-US" sz="1280">
                <a:solidFill>
                  <a:srgbClr val="172B4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时间差 </a:t>
            </a:r>
            <a:r>
              <a:rPr lang="en-US" altLang="zh-CN" sz="1280">
                <a:solidFill>
                  <a:srgbClr val="172B4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 </a:t>
            </a:r>
            <a:r>
              <a:rPr lang="zh-CN" altLang="en-US" sz="1280">
                <a:solidFill>
                  <a:srgbClr val="172B4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外参偏差</a:t>
            </a:r>
          </a:p>
        </p:txBody>
      </p:sp>
      <p:sp>
        <p:nvSpPr>
          <p:cNvPr id="27" name="F03-mechanism" descr="Native editable direction figure; object F03-mechanism">
            <a:extLst>
              <a:ext uri="{FF2B5EF4-FFF2-40B4-BE49-F238E27FC236}">
                <a16:creationId xmlns:a16="http://schemas.microsoft.com/office/drawing/2014/main" id="{FBC1C09B-DDF9-9981-35FE-07F330F0A229}"/>
              </a:ext>
            </a:extLst>
          </p:cNvPr>
          <p:cNvSpPr txBox="1"/>
          <p:nvPr/>
        </p:nvSpPr>
        <p:spPr>
          <a:xfrm>
            <a:off x="533400" y="3314700"/>
            <a:ext cx="37338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210">
                <a:solidFill>
                  <a:srgbClr val="52667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跨传感器错位 → 双墙与位姿偏差</a:t>
            </a:r>
          </a:p>
        </p:txBody>
      </p:sp>
      <p:sp>
        <p:nvSpPr>
          <p:cNvPr id="28" name="F03-image-slot" descr="Native editable direction figure; object F03-image-slot">
            <a:extLst>
              <a:ext uri="{FF2B5EF4-FFF2-40B4-BE49-F238E27FC236}">
                <a16:creationId xmlns:a16="http://schemas.microsoft.com/office/drawing/2014/main" id="{39DC3B44-8264-7112-7240-D2EC90567AA4}"/>
              </a:ext>
            </a:extLst>
          </p:cNvPr>
          <p:cNvSpPr txBox="1"/>
          <p:nvPr/>
        </p:nvSpPr>
        <p:spPr>
          <a:xfrm>
            <a:off x="4394200" y="2679700"/>
            <a:ext cx="1473200" cy="914400"/>
          </a:xfrm>
          <a:prstGeom prst="rect">
            <a:avLst/>
          </a:prstGeom>
          <a:solidFill>
            <a:srgbClr val="F5F7F9"/>
          </a:solidFill>
          <a:ln w="12700">
            <a:solidFill>
              <a:srgbClr val="D4E0E8"/>
            </a:solidFill>
            <a:prstDash val="dash"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algn="ctr"/>
            <a:r>
              <a:rPr lang="en-US" altLang="zh-CN" sz="1140">
                <a:solidFill>
                  <a:srgbClr val="52667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F03 </a:t>
            </a:r>
            <a:r>
              <a:rPr lang="zh-CN" altLang="en-US" sz="1140">
                <a:solidFill>
                  <a:srgbClr val="52667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配图位</a:t>
            </a:r>
          </a:p>
          <a:p>
            <a:pPr algn="ctr"/>
            <a:r>
              <a:rPr lang="zh-CN" altLang="en-US" sz="1140">
                <a:solidFill>
                  <a:srgbClr val="52667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错位 </a:t>
            </a:r>
            <a:r>
              <a:rPr lang="en-US" altLang="zh-CN" sz="1140">
                <a:solidFill>
                  <a:srgbClr val="52667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 </a:t>
            </a:r>
            <a:r>
              <a:rPr lang="zh-CN" altLang="en-US" sz="1140">
                <a:solidFill>
                  <a:srgbClr val="52667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双墙</a:t>
            </a:r>
          </a:p>
        </p:txBody>
      </p:sp>
      <p:sp>
        <p:nvSpPr>
          <p:cNvPr id="29" name="F04-row" descr="Native editable direction figure; object F04-row">
            <a:extLst>
              <a:ext uri="{FF2B5EF4-FFF2-40B4-BE49-F238E27FC236}">
                <a16:creationId xmlns:a16="http://schemas.microsoft.com/office/drawing/2014/main" id="{EF1A063E-9042-D951-6C93-A7A91205C12E}"/>
              </a:ext>
            </a:extLst>
          </p:cNvPr>
          <p:cNvSpPr/>
          <p:nvPr/>
        </p:nvSpPr>
        <p:spPr>
          <a:xfrm>
            <a:off x="6197600" y="2578100"/>
            <a:ext cx="5588000" cy="11176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D4E0E8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F04-heading" descr="Native editable direction figure; object F04-heading">
            <a:extLst>
              <a:ext uri="{FF2B5EF4-FFF2-40B4-BE49-F238E27FC236}">
                <a16:creationId xmlns:a16="http://schemas.microsoft.com/office/drawing/2014/main" id="{0ADFE808-97EE-D26F-CC62-254E2F280BA4}"/>
              </a:ext>
            </a:extLst>
          </p:cNvPr>
          <p:cNvSpPr txBox="1"/>
          <p:nvPr/>
        </p:nvSpPr>
        <p:spPr>
          <a:xfrm>
            <a:off x="6324600" y="2667000"/>
            <a:ext cx="3733800" cy="292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500" b="1">
                <a:solidFill>
                  <a:srgbClr val="20649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F04  </a:t>
            </a:r>
            <a:r>
              <a:rPr lang="zh-CN" altLang="en-US" sz="1500" b="1">
                <a:solidFill>
                  <a:srgbClr val="20649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动态物体与持久变化</a:t>
            </a:r>
          </a:p>
        </p:txBody>
      </p:sp>
      <p:sp>
        <p:nvSpPr>
          <p:cNvPr id="31" name="F04-example" descr="Native editable direction figure; object F04-example">
            <a:extLst>
              <a:ext uri="{FF2B5EF4-FFF2-40B4-BE49-F238E27FC236}">
                <a16:creationId xmlns:a16="http://schemas.microsoft.com/office/drawing/2014/main" id="{29F9F7BA-DC94-8B4A-E75F-FB0CDEFAF9B9}"/>
              </a:ext>
            </a:extLst>
          </p:cNvPr>
          <p:cNvSpPr txBox="1"/>
          <p:nvPr/>
        </p:nvSpPr>
        <p:spPr>
          <a:xfrm>
            <a:off x="6324600" y="3009900"/>
            <a:ext cx="3733800" cy="2667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280">
                <a:solidFill>
                  <a:srgbClr val="172B4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例：行人经过 </a:t>
            </a:r>
            <a:r>
              <a:rPr lang="en-US" altLang="zh-CN" sz="1280">
                <a:solidFill>
                  <a:srgbClr val="172B4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 </a:t>
            </a:r>
            <a:r>
              <a:rPr lang="zh-CN" altLang="en-US" sz="1280">
                <a:solidFill>
                  <a:srgbClr val="172B4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停车 </a:t>
            </a:r>
            <a:r>
              <a:rPr lang="en-US" altLang="zh-CN" sz="1280">
                <a:solidFill>
                  <a:srgbClr val="172B4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 </a:t>
            </a:r>
            <a:r>
              <a:rPr lang="zh-CN" altLang="en-US" sz="1280">
                <a:solidFill>
                  <a:srgbClr val="172B4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桌椅搬动</a:t>
            </a:r>
          </a:p>
        </p:txBody>
      </p:sp>
      <p:sp>
        <p:nvSpPr>
          <p:cNvPr id="32" name="F04-mechanism" descr="Native editable direction figure; object F04-mechanism">
            <a:extLst>
              <a:ext uri="{FF2B5EF4-FFF2-40B4-BE49-F238E27FC236}">
                <a16:creationId xmlns:a16="http://schemas.microsoft.com/office/drawing/2014/main" id="{945B1E25-4670-117B-835A-EC7F806E9443}"/>
              </a:ext>
            </a:extLst>
          </p:cNvPr>
          <p:cNvSpPr txBox="1"/>
          <p:nvPr/>
        </p:nvSpPr>
        <p:spPr>
          <a:xfrm>
            <a:off x="6324600" y="3314700"/>
            <a:ext cx="37338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210">
                <a:solidFill>
                  <a:srgbClr val="52667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残影、遮挡或地图过期 → 误匹配</a:t>
            </a:r>
          </a:p>
        </p:txBody>
      </p:sp>
      <p:sp>
        <p:nvSpPr>
          <p:cNvPr id="33" name="F04-image-slot" descr="Native editable direction figure; object F04-image-slot">
            <a:extLst>
              <a:ext uri="{FF2B5EF4-FFF2-40B4-BE49-F238E27FC236}">
                <a16:creationId xmlns:a16="http://schemas.microsoft.com/office/drawing/2014/main" id="{5BCB1E58-F34E-4310-6771-78A01FEF4ED9}"/>
              </a:ext>
            </a:extLst>
          </p:cNvPr>
          <p:cNvSpPr txBox="1"/>
          <p:nvPr/>
        </p:nvSpPr>
        <p:spPr>
          <a:xfrm>
            <a:off x="10185400" y="2679700"/>
            <a:ext cx="1473200" cy="914400"/>
          </a:xfrm>
          <a:prstGeom prst="rect">
            <a:avLst/>
          </a:prstGeom>
          <a:solidFill>
            <a:srgbClr val="F5F7F9"/>
          </a:solidFill>
          <a:ln w="12700">
            <a:solidFill>
              <a:srgbClr val="D4E0E8"/>
            </a:solidFill>
            <a:prstDash val="dash"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algn="ctr"/>
            <a:r>
              <a:rPr lang="en-US" altLang="zh-CN" sz="1140">
                <a:solidFill>
                  <a:srgbClr val="52667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F04 </a:t>
            </a:r>
            <a:r>
              <a:rPr lang="zh-CN" altLang="en-US" sz="1140">
                <a:solidFill>
                  <a:srgbClr val="52667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配图位</a:t>
            </a:r>
          </a:p>
          <a:p>
            <a:pPr algn="ctr"/>
            <a:r>
              <a:rPr lang="zh-CN" altLang="en-US" sz="1140">
                <a:solidFill>
                  <a:srgbClr val="52667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动态残影</a:t>
            </a:r>
          </a:p>
        </p:txBody>
      </p:sp>
      <p:sp>
        <p:nvSpPr>
          <p:cNvPr id="34" name="F05-row" descr="Native editable direction figure; object F05-row">
            <a:extLst>
              <a:ext uri="{FF2B5EF4-FFF2-40B4-BE49-F238E27FC236}">
                <a16:creationId xmlns:a16="http://schemas.microsoft.com/office/drawing/2014/main" id="{94AC774D-1309-8AE9-AFD9-AEEEE251A5FB}"/>
              </a:ext>
            </a:extLst>
          </p:cNvPr>
          <p:cNvSpPr/>
          <p:nvPr/>
        </p:nvSpPr>
        <p:spPr>
          <a:xfrm>
            <a:off x="406400" y="3822700"/>
            <a:ext cx="5588000" cy="11176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D4E0E8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F05-heading" descr="Native editable direction figure; object F05-heading">
            <a:extLst>
              <a:ext uri="{FF2B5EF4-FFF2-40B4-BE49-F238E27FC236}">
                <a16:creationId xmlns:a16="http://schemas.microsoft.com/office/drawing/2014/main" id="{0D76D18A-B09B-5435-BF24-E220E64BACDC}"/>
              </a:ext>
            </a:extLst>
          </p:cNvPr>
          <p:cNvSpPr txBox="1"/>
          <p:nvPr/>
        </p:nvSpPr>
        <p:spPr>
          <a:xfrm>
            <a:off x="533400" y="3911600"/>
            <a:ext cx="3733800" cy="292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500" b="1">
                <a:solidFill>
                  <a:srgbClr val="20649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F05  </a:t>
            </a:r>
            <a:r>
              <a:rPr lang="zh-CN" altLang="en-US" sz="1500" b="1">
                <a:solidFill>
                  <a:srgbClr val="20649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材质与成像条件</a:t>
            </a:r>
          </a:p>
        </p:txBody>
      </p:sp>
      <p:sp>
        <p:nvSpPr>
          <p:cNvPr id="36" name="F05-example" descr="Native editable direction figure; object F05-example">
            <a:extLst>
              <a:ext uri="{FF2B5EF4-FFF2-40B4-BE49-F238E27FC236}">
                <a16:creationId xmlns:a16="http://schemas.microsoft.com/office/drawing/2014/main" id="{AB7F290E-2DA2-8B8D-1C88-A85DB6B3F555}"/>
              </a:ext>
            </a:extLst>
          </p:cNvPr>
          <p:cNvSpPr txBox="1"/>
          <p:nvPr/>
        </p:nvSpPr>
        <p:spPr>
          <a:xfrm>
            <a:off x="533400" y="4254500"/>
            <a:ext cx="3733800" cy="2667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280">
                <a:solidFill>
                  <a:srgbClr val="172B4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例：镜面 </a:t>
            </a:r>
            <a:r>
              <a:rPr lang="en-US" altLang="zh-CN" sz="1280">
                <a:solidFill>
                  <a:srgbClr val="172B4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 </a:t>
            </a:r>
            <a:r>
              <a:rPr lang="zh-CN" altLang="en-US" sz="1280">
                <a:solidFill>
                  <a:srgbClr val="172B4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玻璃 </a:t>
            </a:r>
            <a:r>
              <a:rPr lang="en-US" altLang="zh-CN" sz="1280">
                <a:solidFill>
                  <a:srgbClr val="172B4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 </a:t>
            </a:r>
            <a:r>
              <a:rPr lang="zh-CN" altLang="en-US" sz="1280">
                <a:solidFill>
                  <a:srgbClr val="172B4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深度相机强光</a:t>
            </a:r>
          </a:p>
        </p:txBody>
      </p:sp>
      <p:sp>
        <p:nvSpPr>
          <p:cNvPr id="37" name="F05-mechanism" descr="Native editable direction figure; object F05-mechanism">
            <a:extLst>
              <a:ext uri="{FF2B5EF4-FFF2-40B4-BE49-F238E27FC236}">
                <a16:creationId xmlns:a16="http://schemas.microsoft.com/office/drawing/2014/main" id="{397A86F8-F5CC-D2F6-767F-DA7CB58A4B3F}"/>
              </a:ext>
            </a:extLst>
          </p:cNvPr>
          <p:cNvSpPr txBox="1"/>
          <p:nvPr/>
        </p:nvSpPr>
        <p:spPr>
          <a:xfrm>
            <a:off x="533400" y="4559300"/>
            <a:ext cx="37338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210">
                <a:solidFill>
                  <a:srgbClr val="52667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虚假点、穿透或缺测 → 伪结构与空洞</a:t>
            </a:r>
          </a:p>
        </p:txBody>
      </p:sp>
      <p:sp>
        <p:nvSpPr>
          <p:cNvPr id="38" name="F05-image-slot" descr="Native editable direction figure; object F05-image-slot">
            <a:extLst>
              <a:ext uri="{FF2B5EF4-FFF2-40B4-BE49-F238E27FC236}">
                <a16:creationId xmlns:a16="http://schemas.microsoft.com/office/drawing/2014/main" id="{7A2C17F4-7D4E-BEB9-B1D9-3F82FD54BD96}"/>
              </a:ext>
            </a:extLst>
          </p:cNvPr>
          <p:cNvSpPr txBox="1"/>
          <p:nvPr/>
        </p:nvSpPr>
        <p:spPr>
          <a:xfrm>
            <a:off x="4394200" y="3924300"/>
            <a:ext cx="1473200" cy="914400"/>
          </a:xfrm>
          <a:prstGeom prst="rect">
            <a:avLst/>
          </a:prstGeom>
          <a:solidFill>
            <a:srgbClr val="F5F7F9"/>
          </a:solidFill>
          <a:ln w="12700">
            <a:solidFill>
              <a:srgbClr val="D4E0E8"/>
            </a:solidFill>
            <a:prstDash val="dash"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algn="ctr"/>
            <a:r>
              <a:rPr lang="en-US" altLang="zh-CN" sz="1140">
                <a:solidFill>
                  <a:srgbClr val="52667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F05 </a:t>
            </a:r>
            <a:r>
              <a:rPr lang="zh-CN" altLang="en-US" sz="1140">
                <a:solidFill>
                  <a:srgbClr val="52667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配图位</a:t>
            </a:r>
          </a:p>
          <a:p>
            <a:pPr algn="ctr"/>
            <a:r>
              <a:rPr lang="zh-CN" altLang="en-US" sz="1140">
                <a:solidFill>
                  <a:srgbClr val="52667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镜面 </a:t>
            </a:r>
            <a:r>
              <a:rPr lang="en-US" altLang="zh-CN" sz="1140">
                <a:solidFill>
                  <a:srgbClr val="52667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 </a:t>
            </a:r>
            <a:r>
              <a:rPr lang="zh-CN" altLang="en-US" sz="1140">
                <a:solidFill>
                  <a:srgbClr val="52667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异常点</a:t>
            </a:r>
          </a:p>
        </p:txBody>
      </p:sp>
      <p:sp>
        <p:nvSpPr>
          <p:cNvPr id="39" name="F06-row" descr="Native editable direction figure; object F06-row">
            <a:extLst>
              <a:ext uri="{FF2B5EF4-FFF2-40B4-BE49-F238E27FC236}">
                <a16:creationId xmlns:a16="http://schemas.microsoft.com/office/drawing/2014/main" id="{D11E89E1-C8FC-7B85-FE17-30B65B205626}"/>
              </a:ext>
            </a:extLst>
          </p:cNvPr>
          <p:cNvSpPr/>
          <p:nvPr/>
        </p:nvSpPr>
        <p:spPr>
          <a:xfrm>
            <a:off x="6197600" y="3822700"/>
            <a:ext cx="5588000" cy="11176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D4E0E8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F06-heading" descr="Native editable direction figure; object F06-heading">
            <a:extLst>
              <a:ext uri="{FF2B5EF4-FFF2-40B4-BE49-F238E27FC236}">
                <a16:creationId xmlns:a16="http://schemas.microsoft.com/office/drawing/2014/main" id="{3A4FC2DB-23AC-2C62-702F-6FFEB2C5E021}"/>
              </a:ext>
            </a:extLst>
          </p:cNvPr>
          <p:cNvSpPr txBox="1"/>
          <p:nvPr/>
        </p:nvSpPr>
        <p:spPr>
          <a:xfrm>
            <a:off x="6324600" y="3911600"/>
            <a:ext cx="3733800" cy="292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500" b="1">
                <a:solidFill>
                  <a:srgbClr val="20649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F06  </a:t>
            </a:r>
            <a:r>
              <a:rPr lang="zh-CN" altLang="en-US" sz="1500" b="1">
                <a:solidFill>
                  <a:srgbClr val="20649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几何与外观退化</a:t>
            </a:r>
          </a:p>
        </p:txBody>
      </p:sp>
      <p:sp>
        <p:nvSpPr>
          <p:cNvPr id="41" name="F06-example" descr="Native editable direction figure; object F06-example">
            <a:extLst>
              <a:ext uri="{FF2B5EF4-FFF2-40B4-BE49-F238E27FC236}">
                <a16:creationId xmlns:a16="http://schemas.microsoft.com/office/drawing/2014/main" id="{784DA70F-6273-3C49-0226-51F8C8CEF742}"/>
              </a:ext>
            </a:extLst>
          </p:cNvPr>
          <p:cNvSpPr txBox="1"/>
          <p:nvPr/>
        </p:nvSpPr>
        <p:spPr>
          <a:xfrm>
            <a:off x="6324600" y="4254500"/>
            <a:ext cx="3733800" cy="2667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280">
                <a:solidFill>
                  <a:srgbClr val="172B4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例：平行长走廊 </a:t>
            </a:r>
            <a:r>
              <a:rPr lang="en-US" altLang="zh-CN" sz="1280">
                <a:solidFill>
                  <a:srgbClr val="172B4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 </a:t>
            </a:r>
            <a:r>
              <a:rPr lang="zh-CN" altLang="en-US" sz="1280">
                <a:solidFill>
                  <a:srgbClr val="172B4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白墙 </a:t>
            </a:r>
            <a:r>
              <a:rPr lang="en-US" altLang="zh-CN" sz="1280">
                <a:solidFill>
                  <a:srgbClr val="172B4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 </a:t>
            </a:r>
            <a:r>
              <a:rPr lang="zh-CN" altLang="en-US" sz="1280">
                <a:solidFill>
                  <a:srgbClr val="172B4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重复门</a:t>
            </a:r>
          </a:p>
        </p:txBody>
      </p:sp>
      <p:sp>
        <p:nvSpPr>
          <p:cNvPr id="42" name="F06-mechanism" descr="Native editable direction figure; object F06-mechanism">
            <a:extLst>
              <a:ext uri="{FF2B5EF4-FFF2-40B4-BE49-F238E27FC236}">
                <a16:creationId xmlns:a16="http://schemas.microsoft.com/office/drawing/2014/main" id="{0955F152-2B8B-6815-C691-B2981EDEFE08}"/>
              </a:ext>
            </a:extLst>
          </p:cNvPr>
          <p:cNvSpPr txBox="1"/>
          <p:nvPr/>
        </p:nvSpPr>
        <p:spPr>
          <a:xfrm>
            <a:off x="6324600" y="4559300"/>
            <a:ext cx="37338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210">
                <a:solidFill>
                  <a:srgbClr val="52667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方向约束弱或易混淆 → 漂移 </a:t>
            </a:r>
            <a:r>
              <a:rPr lang="en-US" altLang="zh-CN" sz="1210">
                <a:solidFill>
                  <a:srgbClr val="52667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 </a:t>
            </a:r>
            <a:r>
              <a:rPr lang="zh-CN" altLang="en-US" sz="1210">
                <a:solidFill>
                  <a:srgbClr val="52667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误关联</a:t>
            </a:r>
          </a:p>
        </p:txBody>
      </p:sp>
      <p:sp>
        <p:nvSpPr>
          <p:cNvPr id="43" name="F06-image-slot" descr="Native editable direction figure; object F06-image-slot">
            <a:extLst>
              <a:ext uri="{FF2B5EF4-FFF2-40B4-BE49-F238E27FC236}">
                <a16:creationId xmlns:a16="http://schemas.microsoft.com/office/drawing/2014/main" id="{ACA35B26-CA88-67F5-CD1D-3685F86EB401}"/>
              </a:ext>
            </a:extLst>
          </p:cNvPr>
          <p:cNvSpPr txBox="1"/>
          <p:nvPr/>
        </p:nvSpPr>
        <p:spPr>
          <a:xfrm>
            <a:off x="10185400" y="3924300"/>
            <a:ext cx="1473200" cy="914400"/>
          </a:xfrm>
          <a:prstGeom prst="rect">
            <a:avLst/>
          </a:prstGeom>
          <a:solidFill>
            <a:srgbClr val="F5F7F9"/>
          </a:solidFill>
          <a:ln w="12700">
            <a:solidFill>
              <a:srgbClr val="D4E0E8"/>
            </a:solidFill>
            <a:prstDash val="dash"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algn="ctr"/>
            <a:r>
              <a:rPr lang="en-US" altLang="zh-CN" sz="1140">
                <a:solidFill>
                  <a:srgbClr val="52667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F06 </a:t>
            </a:r>
            <a:r>
              <a:rPr lang="zh-CN" altLang="en-US" sz="1140">
                <a:solidFill>
                  <a:srgbClr val="52667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配图位</a:t>
            </a:r>
          </a:p>
          <a:p>
            <a:pPr algn="ctr"/>
            <a:r>
              <a:rPr lang="zh-CN" altLang="en-US" sz="1140">
                <a:solidFill>
                  <a:srgbClr val="52667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长走廊</a:t>
            </a:r>
          </a:p>
        </p:txBody>
      </p:sp>
      <p:sp>
        <p:nvSpPr>
          <p:cNvPr id="44" name="F07-row" descr="Native editable direction figure; object F07-row">
            <a:extLst>
              <a:ext uri="{FF2B5EF4-FFF2-40B4-BE49-F238E27FC236}">
                <a16:creationId xmlns:a16="http://schemas.microsoft.com/office/drawing/2014/main" id="{13903380-4A70-0A1C-FA25-4FC3701140BD}"/>
              </a:ext>
            </a:extLst>
          </p:cNvPr>
          <p:cNvSpPr/>
          <p:nvPr/>
        </p:nvSpPr>
        <p:spPr>
          <a:xfrm>
            <a:off x="406400" y="5067300"/>
            <a:ext cx="5588000" cy="11176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D4E0E8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" name="F07-heading" descr="Native editable direction figure; object F07-heading">
            <a:extLst>
              <a:ext uri="{FF2B5EF4-FFF2-40B4-BE49-F238E27FC236}">
                <a16:creationId xmlns:a16="http://schemas.microsoft.com/office/drawing/2014/main" id="{C8E1C41F-0A73-9378-7ABD-211C4A52BCA5}"/>
              </a:ext>
            </a:extLst>
          </p:cNvPr>
          <p:cNvSpPr txBox="1"/>
          <p:nvPr/>
        </p:nvSpPr>
        <p:spPr>
          <a:xfrm>
            <a:off x="533400" y="5156200"/>
            <a:ext cx="3733800" cy="292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500" b="1">
                <a:solidFill>
                  <a:srgbClr val="20649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F07  </a:t>
            </a:r>
            <a:r>
              <a:rPr lang="zh-CN" altLang="en-US" sz="1500" b="1">
                <a:solidFill>
                  <a:srgbClr val="20649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位姿漂移与错误回环</a:t>
            </a:r>
          </a:p>
        </p:txBody>
      </p:sp>
      <p:sp>
        <p:nvSpPr>
          <p:cNvPr id="46" name="F07-example" descr="Native editable direction figure; object F07-example">
            <a:extLst>
              <a:ext uri="{FF2B5EF4-FFF2-40B4-BE49-F238E27FC236}">
                <a16:creationId xmlns:a16="http://schemas.microsoft.com/office/drawing/2014/main" id="{65B8F257-F715-118E-CA67-AFF71E86AC84}"/>
              </a:ext>
            </a:extLst>
          </p:cNvPr>
          <p:cNvSpPr txBox="1"/>
          <p:nvPr/>
        </p:nvSpPr>
        <p:spPr>
          <a:xfrm>
            <a:off x="533400" y="5499100"/>
            <a:ext cx="3733800" cy="2667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280">
                <a:solidFill>
                  <a:srgbClr val="172B4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例：累计偏航 </a:t>
            </a:r>
            <a:r>
              <a:rPr lang="en-US" altLang="zh-CN" sz="1280">
                <a:solidFill>
                  <a:srgbClr val="172B4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 </a:t>
            </a:r>
            <a:r>
              <a:rPr lang="zh-CN" altLang="en-US" sz="1280">
                <a:solidFill>
                  <a:srgbClr val="172B4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相似走廊误闭环</a:t>
            </a:r>
          </a:p>
        </p:txBody>
      </p:sp>
      <p:sp>
        <p:nvSpPr>
          <p:cNvPr id="47" name="F07-mechanism" descr="Native editable direction figure; object F07-mechanism">
            <a:extLst>
              <a:ext uri="{FF2B5EF4-FFF2-40B4-BE49-F238E27FC236}">
                <a16:creationId xmlns:a16="http://schemas.microsoft.com/office/drawing/2014/main" id="{4567FE82-647A-6C93-1378-3063D9C1CA51}"/>
              </a:ext>
            </a:extLst>
          </p:cNvPr>
          <p:cNvSpPr txBox="1"/>
          <p:nvPr/>
        </p:nvSpPr>
        <p:spPr>
          <a:xfrm>
            <a:off x="533400" y="5803900"/>
            <a:ext cx="37338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210">
                <a:solidFill>
                  <a:srgbClr val="52667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地图错层或拉扯 → 后续定位被误导</a:t>
            </a:r>
          </a:p>
        </p:txBody>
      </p:sp>
      <p:sp>
        <p:nvSpPr>
          <p:cNvPr id="48" name="F07-image-slot" descr="Native editable direction figure; object F07-image-slot">
            <a:extLst>
              <a:ext uri="{FF2B5EF4-FFF2-40B4-BE49-F238E27FC236}">
                <a16:creationId xmlns:a16="http://schemas.microsoft.com/office/drawing/2014/main" id="{36CE47FA-7ABC-13DE-8160-DD62AA847544}"/>
              </a:ext>
            </a:extLst>
          </p:cNvPr>
          <p:cNvSpPr txBox="1"/>
          <p:nvPr/>
        </p:nvSpPr>
        <p:spPr>
          <a:xfrm>
            <a:off x="4394200" y="5168900"/>
            <a:ext cx="1473200" cy="914400"/>
          </a:xfrm>
          <a:prstGeom prst="rect">
            <a:avLst/>
          </a:prstGeom>
          <a:solidFill>
            <a:srgbClr val="F5F7F9"/>
          </a:solidFill>
          <a:ln w="12700">
            <a:solidFill>
              <a:srgbClr val="D4E0E8"/>
            </a:solidFill>
            <a:prstDash val="dash"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algn="ctr"/>
            <a:r>
              <a:rPr lang="en-US" altLang="zh-CN" sz="1140">
                <a:solidFill>
                  <a:srgbClr val="52667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F07 </a:t>
            </a:r>
            <a:r>
              <a:rPr lang="zh-CN" altLang="en-US" sz="1140">
                <a:solidFill>
                  <a:srgbClr val="52667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配图位</a:t>
            </a:r>
          </a:p>
          <a:p>
            <a:pPr algn="ctr"/>
            <a:r>
              <a:rPr lang="zh-CN" altLang="en-US" sz="1140">
                <a:solidFill>
                  <a:srgbClr val="52667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轨迹 </a:t>
            </a:r>
            <a:r>
              <a:rPr lang="en-US" altLang="zh-CN" sz="1140">
                <a:solidFill>
                  <a:srgbClr val="52667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 </a:t>
            </a:r>
            <a:r>
              <a:rPr lang="zh-CN" altLang="en-US" sz="1140">
                <a:solidFill>
                  <a:srgbClr val="52667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错层</a:t>
            </a:r>
          </a:p>
        </p:txBody>
      </p:sp>
      <p:sp>
        <p:nvSpPr>
          <p:cNvPr id="49" name="F08-row" descr="Native editable direction figure; object F08-row">
            <a:extLst>
              <a:ext uri="{FF2B5EF4-FFF2-40B4-BE49-F238E27FC236}">
                <a16:creationId xmlns:a16="http://schemas.microsoft.com/office/drawing/2014/main" id="{98119A3F-AB72-BCAC-2D70-0C54ED933EC8}"/>
              </a:ext>
            </a:extLst>
          </p:cNvPr>
          <p:cNvSpPr/>
          <p:nvPr/>
        </p:nvSpPr>
        <p:spPr>
          <a:xfrm>
            <a:off x="6197600" y="5067300"/>
            <a:ext cx="5588000" cy="11176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D4E0E8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0" name="F08-heading" descr="Native editable direction figure; object F08-heading">
            <a:extLst>
              <a:ext uri="{FF2B5EF4-FFF2-40B4-BE49-F238E27FC236}">
                <a16:creationId xmlns:a16="http://schemas.microsoft.com/office/drawing/2014/main" id="{1D50B7BF-A59F-017C-DE03-809112C03D00}"/>
              </a:ext>
            </a:extLst>
          </p:cNvPr>
          <p:cNvSpPr txBox="1"/>
          <p:nvPr/>
        </p:nvSpPr>
        <p:spPr>
          <a:xfrm>
            <a:off x="6324600" y="5156200"/>
            <a:ext cx="3733800" cy="292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500" b="1">
                <a:solidFill>
                  <a:srgbClr val="20649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F08  </a:t>
            </a:r>
            <a:r>
              <a:rPr lang="zh-CN" altLang="en-US" sz="1500" b="1">
                <a:solidFill>
                  <a:srgbClr val="20649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地图表示与实时预算</a:t>
            </a:r>
          </a:p>
        </p:txBody>
      </p:sp>
      <p:sp>
        <p:nvSpPr>
          <p:cNvPr id="51" name="F08-example" descr="Native editable direction figure; object F08-example">
            <a:extLst>
              <a:ext uri="{FF2B5EF4-FFF2-40B4-BE49-F238E27FC236}">
                <a16:creationId xmlns:a16="http://schemas.microsoft.com/office/drawing/2014/main" id="{F588C5D9-8211-42AB-5D2D-B400D92E5032}"/>
              </a:ext>
            </a:extLst>
          </p:cNvPr>
          <p:cNvSpPr txBox="1"/>
          <p:nvPr/>
        </p:nvSpPr>
        <p:spPr>
          <a:xfrm>
            <a:off x="6324600" y="5499100"/>
            <a:ext cx="3733800" cy="2667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280">
                <a:solidFill>
                  <a:srgbClr val="172B4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例：体素过粗 </a:t>
            </a:r>
            <a:r>
              <a:rPr lang="en-US" altLang="zh-CN" sz="1280">
                <a:solidFill>
                  <a:srgbClr val="172B4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 </a:t>
            </a:r>
            <a:r>
              <a:rPr lang="zh-CN" altLang="en-US" sz="1280">
                <a:solidFill>
                  <a:srgbClr val="172B4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过度滤波 </a:t>
            </a:r>
            <a:r>
              <a:rPr lang="en-US" altLang="zh-CN" sz="1280">
                <a:solidFill>
                  <a:srgbClr val="172B4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 </a:t>
            </a:r>
            <a:r>
              <a:rPr lang="zh-CN" altLang="en-US" sz="1280">
                <a:solidFill>
                  <a:srgbClr val="172B4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处理积压</a:t>
            </a:r>
          </a:p>
        </p:txBody>
      </p:sp>
      <p:sp>
        <p:nvSpPr>
          <p:cNvPr id="52" name="F08-mechanism" descr="Native editable direction figure; object F08-mechanism">
            <a:extLst>
              <a:ext uri="{FF2B5EF4-FFF2-40B4-BE49-F238E27FC236}">
                <a16:creationId xmlns:a16="http://schemas.microsoft.com/office/drawing/2014/main" id="{38340F27-5B07-51C0-E0A6-7740CCEDDE16}"/>
              </a:ext>
            </a:extLst>
          </p:cNvPr>
          <p:cNvSpPr txBox="1"/>
          <p:nvPr/>
        </p:nvSpPr>
        <p:spPr>
          <a:xfrm>
            <a:off x="6324600" y="5803900"/>
            <a:ext cx="37338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210">
                <a:solidFill>
                  <a:srgbClr val="52667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细节丢失、延迟 → 有效约束减少</a:t>
            </a:r>
          </a:p>
        </p:txBody>
      </p:sp>
      <p:sp>
        <p:nvSpPr>
          <p:cNvPr id="53" name="F08-image-slot" descr="Native editable direction figure; object F08-image-slot">
            <a:extLst>
              <a:ext uri="{FF2B5EF4-FFF2-40B4-BE49-F238E27FC236}">
                <a16:creationId xmlns:a16="http://schemas.microsoft.com/office/drawing/2014/main" id="{0E3280AB-5782-ED3E-A839-69B76226D62A}"/>
              </a:ext>
            </a:extLst>
          </p:cNvPr>
          <p:cNvSpPr txBox="1"/>
          <p:nvPr/>
        </p:nvSpPr>
        <p:spPr>
          <a:xfrm>
            <a:off x="10185400" y="5168900"/>
            <a:ext cx="1473200" cy="914400"/>
          </a:xfrm>
          <a:prstGeom prst="rect">
            <a:avLst/>
          </a:prstGeom>
          <a:solidFill>
            <a:srgbClr val="F5F7F9"/>
          </a:solidFill>
          <a:ln w="12700">
            <a:solidFill>
              <a:srgbClr val="D4E0E8"/>
            </a:solidFill>
            <a:prstDash val="dash"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algn="ctr"/>
            <a:r>
              <a:rPr lang="en-US" altLang="zh-CN" sz="1140">
                <a:solidFill>
                  <a:srgbClr val="52667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F08 </a:t>
            </a:r>
            <a:r>
              <a:rPr lang="zh-CN" altLang="en-US" sz="1140">
                <a:solidFill>
                  <a:srgbClr val="52667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配图位</a:t>
            </a:r>
          </a:p>
          <a:p>
            <a:pPr algn="ctr"/>
            <a:r>
              <a:rPr lang="zh-CN" altLang="en-US" sz="1140">
                <a:solidFill>
                  <a:srgbClr val="52667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细节 </a:t>
            </a:r>
            <a:r>
              <a:rPr lang="en-US" altLang="zh-CN" sz="1140">
                <a:solidFill>
                  <a:srgbClr val="52667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 </a:t>
            </a:r>
            <a:r>
              <a:rPr lang="zh-CN" altLang="en-US" sz="1140">
                <a:solidFill>
                  <a:srgbClr val="52667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延迟</a:t>
            </a:r>
          </a:p>
        </p:txBody>
      </p:sp>
      <p:sp>
        <p:nvSpPr>
          <p:cNvPr id="54" name="factor-caveat" descr="Native editable direction figure; object factor-caveat">
            <a:extLst>
              <a:ext uri="{FF2B5EF4-FFF2-40B4-BE49-F238E27FC236}">
                <a16:creationId xmlns:a16="http://schemas.microsoft.com/office/drawing/2014/main" id="{0C82E7BA-F644-71F1-8DDD-633871F1ECFE}"/>
              </a:ext>
            </a:extLst>
          </p:cNvPr>
          <p:cNvSpPr txBox="1"/>
          <p:nvPr/>
        </p:nvSpPr>
        <p:spPr>
          <a:xfrm>
            <a:off x="406400" y="6375400"/>
            <a:ext cx="11379200" cy="330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300">
                <a:solidFill>
                  <a:srgbClr val="137C7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静态不等于可信；干净不等于约束充分；未观测不等于自由空间。各因素可同时出现。</a:t>
            </a:r>
          </a:p>
        </p:txBody>
      </p:sp>
    </p:spTree>
    <p:extLst>
      <p:ext uri="{BB962C8B-B14F-4D97-AF65-F5344CB8AC3E}">
        <p14:creationId xmlns:p14="http://schemas.microsoft.com/office/powerpoint/2010/main" val="42587851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am-workflow-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workflow-title" descr="Native editable direction figure; object workflow-title">
            <a:extLst>
              <a:ext uri="{FF2B5EF4-FFF2-40B4-BE49-F238E27FC236}">
                <a16:creationId xmlns:a16="http://schemas.microsoft.com/office/drawing/2014/main" id="{EC04FAD6-7FC2-FA2C-1DDE-FF01E105104B}"/>
              </a:ext>
            </a:extLst>
          </p:cNvPr>
          <p:cNvSpPr txBox="1"/>
          <p:nvPr/>
        </p:nvSpPr>
        <p:spPr>
          <a:xfrm>
            <a:off x="406400" y="279400"/>
            <a:ext cx="11379200" cy="508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2900" b="1">
                <a:solidFill>
                  <a:srgbClr val="172B4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The SLAM workflow</a:t>
            </a:r>
            <a:endParaRPr lang="zh-CN" altLang="en-US" sz="2900" b="1">
              <a:solidFill>
                <a:srgbClr val="172B42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77" name="workflow-subtitle" descr="Native editable direction figure; object workflow-subtitle">
            <a:extLst>
              <a:ext uri="{FF2B5EF4-FFF2-40B4-BE49-F238E27FC236}">
                <a16:creationId xmlns:a16="http://schemas.microsoft.com/office/drawing/2014/main" id="{784A1083-68C5-F0E9-A021-0CE98238FCE8}"/>
              </a:ext>
            </a:extLst>
          </p:cNvPr>
          <p:cNvSpPr txBox="1"/>
          <p:nvPr/>
        </p:nvSpPr>
        <p:spPr>
          <a:xfrm>
            <a:off x="406400" y="850900"/>
            <a:ext cx="113792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500">
                <a:solidFill>
                  <a:srgbClr val="52667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Observations → front-end constraints → optimization → map update → next-frame tracking</a:t>
            </a:r>
            <a:endParaRPr lang="zh-CN" altLang="en-US" sz="1500">
              <a:solidFill>
                <a:srgbClr val="52667B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78" name="map-feedback-label" descr="Native editable direction figure; object map-feedback-label">
            <a:extLst>
              <a:ext uri="{FF2B5EF4-FFF2-40B4-BE49-F238E27FC236}">
                <a16:creationId xmlns:a16="http://schemas.microsoft.com/office/drawing/2014/main" id="{C75EAD49-C97F-C008-43C3-39E73A57D772}"/>
              </a:ext>
            </a:extLst>
          </p:cNvPr>
          <p:cNvSpPr txBox="1"/>
          <p:nvPr/>
        </p:nvSpPr>
        <p:spPr>
          <a:xfrm>
            <a:off x="6299200" y="1308100"/>
            <a:ext cx="5181600" cy="330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400">
                <a:solidFill>
                  <a:srgbClr val="137C7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Map / local structure constrains the next match</a:t>
            </a:r>
            <a:endParaRPr lang="zh-CN" altLang="en-US" sz="1400">
              <a:solidFill>
                <a:srgbClr val="137C76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79" name="stage-1" descr="Native editable direction figure; object stage-1">
            <a:extLst>
              <a:ext uri="{FF2B5EF4-FFF2-40B4-BE49-F238E27FC236}">
                <a16:creationId xmlns:a16="http://schemas.microsoft.com/office/drawing/2014/main" id="{EA0D3085-4863-CFB8-6AD1-97D24A00EA6A}"/>
              </a:ext>
            </a:extLst>
          </p:cNvPr>
          <p:cNvSpPr/>
          <p:nvPr/>
        </p:nvSpPr>
        <p:spPr>
          <a:xfrm>
            <a:off x="406400" y="2159000"/>
            <a:ext cx="2032000" cy="1397000"/>
          </a:xfrm>
          <a:prstGeom prst="rect">
            <a:avLst/>
          </a:prstGeom>
          <a:solidFill>
            <a:srgbClr val="EFF5FA"/>
          </a:solidFill>
          <a:ln w="12700" cap="flat" cmpd="sng" algn="ctr">
            <a:solidFill>
              <a:srgbClr val="D4E0E8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0" name="stage-1-title" descr="Native editable direction figure; object stage-1-title">
            <a:extLst>
              <a:ext uri="{FF2B5EF4-FFF2-40B4-BE49-F238E27FC236}">
                <a16:creationId xmlns:a16="http://schemas.microsoft.com/office/drawing/2014/main" id="{718171CD-6ACE-5A7D-5880-A8186CDFF548}"/>
              </a:ext>
            </a:extLst>
          </p:cNvPr>
          <p:cNvSpPr txBox="1"/>
          <p:nvPr/>
        </p:nvSpPr>
        <p:spPr>
          <a:xfrm>
            <a:off x="533400" y="2298700"/>
            <a:ext cx="1778000" cy="3429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700" b="1">
                <a:solidFill>
                  <a:srgbClr val="20649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Sensor input</a:t>
            </a:r>
            <a:endParaRPr lang="zh-CN" altLang="en-US" sz="1700" b="1">
              <a:solidFill>
                <a:srgbClr val="20649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81" name="stage-1-body" descr="Native editable direction figure; object stage-1-body">
            <a:extLst>
              <a:ext uri="{FF2B5EF4-FFF2-40B4-BE49-F238E27FC236}">
                <a16:creationId xmlns:a16="http://schemas.microsoft.com/office/drawing/2014/main" id="{83E83419-FAA9-BBC6-930D-C96498DA02C2}"/>
              </a:ext>
            </a:extLst>
          </p:cNvPr>
          <p:cNvSpPr txBox="1"/>
          <p:nvPr/>
        </p:nvSpPr>
        <p:spPr>
          <a:xfrm>
            <a:off x="533400" y="2743200"/>
            <a:ext cx="1778000" cy="736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170">
                <a:solidFill>
                  <a:srgbClr val="172B4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LiDAR / vision / depth</a:t>
            </a:r>
          </a:p>
          <a:p>
            <a:r>
              <a:rPr lang="en-US" altLang="zh-CN" sz="1170">
                <a:solidFill>
                  <a:srgbClr val="172B4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IMU / wheel motion</a:t>
            </a:r>
          </a:p>
          <a:p>
            <a:r>
              <a:rPr lang="en-US" altLang="zh-CN" sz="1170">
                <a:solidFill>
                  <a:srgbClr val="172B4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As configured</a:t>
            </a:r>
            <a:endParaRPr lang="zh-CN" altLang="en-US" sz="1170">
              <a:solidFill>
                <a:srgbClr val="172B42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82" name="stage-2" descr="Native editable direction figure; object stage-2">
            <a:extLst>
              <a:ext uri="{FF2B5EF4-FFF2-40B4-BE49-F238E27FC236}">
                <a16:creationId xmlns:a16="http://schemas.microsoft.com/office/drawing/2014/main" id="{070F3A54-69A7-C36F-8F3A-7E6812306A05}"/>
              </a:ext>
            </a:extLst>
          </p:cNvPr>
          <p:cNvSpPr/>
          <p:nvPr/>
        </p:nvSpPr>
        <p:spPr>
          <a:xfrm>
            <a:off x="2743200" y="2159000"/>
            <a:ext cx="2032000" cy="1397000"/>
          </a:xfrm>
          <a:prstGeom prst="rect">
            <a:avLst/>
          </a:prstGeom>
          <a:solidFill>
            <a:srgbClr val="EFF5FA"/>
          </a:solidFill>
          <a:ln w="12700" cap="flat" cmpd="sng" algn="ctr">
            <a:solidFill>
              <a:srgbClr val="D4E0E8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3" name="stage-2-title" descr="Native editable direction figure; object stage-2-title">
            <a:extLst>
              <a:ext uri="{FF2B5EF4-FFF2-40B4-BE49-F238E27FC236}">
                <a16:creationId xmlns:a16="http://schemas.microsoft.com/office/drawing/2014/main" id="{B46CDDEE-B420-0EAB-3046-ADCA0B96A82B}"/>
              </a:ext>
            </a:extLst>
          </p:cNvPr>
          <p:cNvSpPr txBox="1"/>
          <p:nvPr/>
        </p:nvSpPr>
        <p:spPr>
          <a:xfrm>
            <a:off x="2870200" y="2298700"/>
            <a:ext cx="1778000" cy="3429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700" b="1">
                <a:solidFill>
                  <a:srgbClr val="20649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Preprocessing</a:t>
            </a:r>
            <a:endParaRPr lang="zh-CN" altLang="en-US" sz="1700" b="1">
              <a:solidFill>
                <a:srgbClr val="20649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84" name="stage-2-body" descr="Native editable direction figure; object stage-2-body">
            <a:extLst>
              <a:ext uri="{FF2B5EF4-FFF2-40B4-BE49-F238E27FC236}">
                <a16:creationId xmlns:a16="http://schemas.microsoft.com/office/drawing/2014/main" id="{3C698732-BCBE-B062-C042-81772BAC4261}"/>
              </a:ext>
            </a:extLst>
          </p:cNvPr>
          <p:cNvSpPr txBox="1"/>
          <p:nvPr/>
        </p:nvSpPr>
        <p:spPr>
          <a:xfrm>
            <a:off x="2870200" y="2743200"/>
            <a:ext cx="1778000" cy="736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170">
                <a:solidFill>
                  <a:srgbClr val="172B4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Time / extrinsics</a:t>
            </a:r>
          </a:p>
          <a:p>
            <a:r>
              <a:rPr lang="en-US" altLang="zh-CN" sz="1170">
                <a:solidFill>
                  <a:srgbClr val="172B4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Deskew / validity</a:t>
            </a:r>
          </a:p>
          <a:p>
            <a:r>
              <a:rPr lang="en-US" altLang="zh-CN" sz="1170">
                <a:solidFill>
                  <a:srgbClr val="172B4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Features / reliability</a:t>
            </a:r>
            <a:endParaRPr lang="zh-CN" altLang="en-US" sz="1170">
              <a:solidFill>
                <a:srgbClr val="172B42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85" name="stage-3" descr="Native editable direction figure; object stage-3">
            <a:extLst>
              <a:ext uri="{FF2B5EF4-FFF2-40B4-BE49-F238E27FC236}">
                <a16:creationId xmlns:a16="http://schemas.microsoft.com/office/drawing/2014/main" id="{E1F7AA25-B124-D8E7-E1FB-198E87778CBD}"/>
              </a:ext>
            </a:extLst>
          </p:cNvPr>
          <p:cNvSpPr/>
          <p:nvPr/>
        </p:nvSpPr>
        <p:spPr>
          <a:xfrm>
            <a:off x="5080000" y="2159000"/>
            <a:ext cx="2032000" cy="1397000"/>
          </a:xfrm>
          <a:prstGeom prst="rect">
            <a:avLst/>
          </a:prstGeom>
          <a:solidFill>
            <a:srgbClr val="EFF5FA"/>
          </a:solidFill>
          <a:ln w="12700" cap="flat" cmpd="sng" algn="ctr">
            <a:solidFill>
              <a:srgbClr val="D4E0E8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6" name="stage-3-title" descr="Native editable direction figure; object stage-3-title">
            <a:extLst>
              <a:ext uri="{FF2B5EF4-FFF2-40B4-BE49-F238E27FC236}">
                <a16:creationId xmlns:a16="http://schemas.microsoft.com/office/drawing/2014/main" id="{CC288576-C441-B15E-230B-E7E207185A70}"/>
              </a:ext>
            </a:extLst>
          </p:cNvPr>
          <p:cNvSpPr txBox="1"/>
          <p:nvPr/>
        </p:nvSpPr>
        <p:spPr>
          <a:xfrm>
            <a:off x="5207000" y="2298700"/>
            <a:ext cx="1778000" cy="3429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700" b="1">
                <a:solidFill>
                  <a:srgbClr val="20649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Front end</a:t>
            </a:r>
            <a:endParaRPr lang="zh-CN" altLang="en-US" sz="1700" b="1">
              <a:solidFill>
                <a:srgbClr val="20649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87" name="stage-3-body" descr="Native editable direction figure; object stage-3-body">
            <a:extLst>
              <a:ext uri="{FF2B5EF4-FFF2-40B4-BE49-F238E27FC236}">
                <a16:creationId xmlns:a16="http://schemas.microsoft.com/office/drawing/2014/main" id="{4122EC77-21BD-BCB0-92C6-B199BB4F758F}"/>
              </a:ext>
            </a:extLst>
          </p:cNvPr>
          <p:cNvSpPr txBox="1"/>
          <p:nvPr/>
        </p:nvSpPr>
        <p:spPr>
          <a:xfrm>
            <a:off x="5207000" y="2743200"/>
            <a:ext cx="1778000" cy="736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170">
                <a:solidFill>
                  <a:srgbClr val="172B4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Frame / map matching</a:t>
            </a:r>
          </a:p>
          <a:p>
            <a:r>
              <a:rPr lang="en-US" altLang="zh-CN" sz="1170">
                <a:solidFill>
                  <a:srgbClr val="172B4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Relative motion factors</a:t>
            </a:r>
          </a:p>
          <a:p>
            <a:r>
              <a:rPr lang="en-US" altLang="zh-CN" sz="1170">
                <a:solidFill>
                  <a:srgbClr val="172B4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Keyframes</a:t>
            </a:r>
            <a:endParaRPr lang="zh-CN" altLang="en-US" sz="1170">
              <a:solidFill>
                <a:srgbClr val="172B42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88" name="stage-4" descr="Native editable direction figure; object stage-4">
            <a:extLst>
              <a:ext uri="{FF2B5EF4-FFF2-40B4-BE49-F238E27FC236}">
                <a16:creationId xmlns:a16="http://schemas.microsoft.com/office/drawing/2014/main" id="{C12F87FD-670E-50C7-F695-B93D0ED4887D}"/>
              </a:ext>
            </a:extLst>
          </p:cNvPr>
          <p:cNvSpPr/>
          <p:nvPr/>
        </p:nvSpPr>
        <p:spPr>
          <a:xfrm>
            <a:off x="7416800" y="2159000"/>
            <a:ext cx="2032000" cy="1397000"/>
          </a:xfrm>
          <a:prstGeom prst="rect">
            <a:avLst/>
          </a:prstGeom>
          <a:solidFill>
            <a:srgbClr val="EFF5FA"/>
          </a:solidFill>
          <a:ln w="12700" cap="flat" cmpd="sng" algn="ctr">
            <a:solidFill>
              <a:srgbClr val="D4E0E8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9" name="stage-4-title" descr="Native editable direction figure; object stage-4-title">
            <a:extLst>
              <a:ext uri="{FF2B5EF4-FFF2-40B4-BE49-F238E27FC236}">
                <a16:creationId xmlns:a16="http://schemas.microsoft.com/office/drawing/2014/main" id="{0B8FBB5F-BF2E-A653-88AA-FCB76BDC8D6B}"/>
              </a:ext>
            </a:extLst>
          </p:cNvPr>
          <p:cNvSpPr txBox="1"/>
          <p:nvPr/>
        </p:nvSpPr>
        <p:spPr>
          <a:xfrm>
            <a:off x="7543800" y="2298700"/>
            <a:ext cx="1778000" cy="3429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700" b="1">
                <a:solidFill>
                  <a:srgbClr val="20649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Back end</a:t>
            </a:r>
            <a:endParaRPr lang="zh-CN" altLang="en-US" sz="1700" b="1">
              <a:solidFill>
                <a:srgbClr val="20649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90" name="stage-4-body" descr="Native editable direction figure; object stage-4-body">
            <a:extLst>
              <a:ext uri="{FF2B5EF4-FFF2-40B4-BE49-F238E27FC236}">
                <a16:creationId xmlns:a16="http://schemas.microsoft.com/office/drawing/2014/main" id="{21BD3C03-AF4C-14E8-25E9-516CDA7F1655}"/>
              </a:ext>
            </a:extLst>
          </p:cNvPr>
          <p:cNvSpPr txBox="1"/>
          <p:nvPr/>
        </p:nvSpPr>
        <p:spPr>
          <a:xfrm>
            <a:off x="7543800" y="2743200"/>
            <a:ext cx="1778000" cy="736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170">
                <a:solidFill>
                  <a:srgbClr val="172B4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Fuse sensor factors</a:t>
            </a:r>
          </a:p>
          <a:p>
            <a:r>
              <a:rPr lang="en-US" altLang="zh-CN" sz="1170">
                <a:solidFill>
                  <a:srgbClr val="172B4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Pose / bias optimization</a:t>
            </a:r>
          </a:p>
          <a:p>
            <a:r>
              <a:rPr lang="en-US" altLang="zh-CN" sz="1170">
                <a:solidFill>
                  <a:srgbClr val="172B4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Map variables if used</a:t>
            </a:r>
            <a:endParaRPr lang="zh-CN" altLang="en-US" sz="1170">
              <a:solidFill>
                <a:srgbClr val="172B42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91" name="stage-5" descr="Native editable direction figure; object stage-5">
            <a:extLst>
              <a:ext uri="{FF2B5EF4-FFF2-40B4-BE49-F238E27FC236}">
                <a16:creationId xmlns:a16="http://schemas.microsoft.com/office/drawing/2014/main" id="{B0540B9A-B262-AF1A-4B3C-56A21A5F74BD}"/>
              </a:ext>
            </a:extLst>
          </p:cNvPr>
          <p:cNvSpPr/>
          <p:nvPr/>
        </p:nvSpPr>
        <p:spPr>
          <a:xfrm>
            <a:off x="9753600" y="2159000"/>
            <a:ext cx="2032000" cy="1397000"/>
          </a:xfrm>
          <a:prstGeom prst="rect">
            <a:avLst/>
          </a:prstGeom>
          <a:solidFill>
            <a:srgbClr val="EFF5FA"/>
          </a:solidFill>
          <a:ln w="12700" cap="flat" cmpd="sng" algn="ctr">
            <a:solidFill>
              <a:srgbClr val="D4E0E8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2" name="stage-5-title" descr="Native editable direction figure; object stage-5-title">
            <a:extLst>
              <a:ext uri="{FF2B5EF4-FFF2-40B4-BE49-F238E27FC236}">
                <a16:creationId xmlns:a16="http://schemas.microsoft.com/office/drawing/2014/main" id="{CBA4FC1D-3EBE-52AD-7170-ECE2F115C553}"/>
              </a:ext>
            </a:extLst>
          </p:cNvPr>
          <p:cNvSpPr txBox="1"/>
          <p:nvPr/>
        </p:nvSpPr>
        <p:spPr>
          <a:xfrm>
            <a:off x="9880600" y="2298700"/>
            <a:ext cx="1778000" cy="3429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700" b="1">
                <a:solidFill>
                  <a:srgbClr val="20649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Map update</a:t>
            </a:r>
            <a:endParaRPr lang="zh-CN" altLang="en-US" sz="1700" b="1">
              <a:solidFill>
                <a:srgbClr val="20649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93" name="stage-5-body" descr="Native editable direction figure; object stage-5-body">
            <a:extLst>
              <a:ext uri="{FF2B5EF4-FFF2-40B4-BE49-F238E27FC236}">
                <a16:creationId xmlns:a16="http://schemas.microsoft.com/office/drawing/2014/main" id="{931D9449-2B48-6455-E792-1BE964F409BC}"/>
              </a:ext>
            </a:extLst>
          </p:cNvPr>
          <p:cNvSpPr txBox="1"/>
          <p:nvPr/>
        </p:nvSpPr>
        <p:spPr>
          <a:xfrm>
            <a:off x="9880600" y="2743200"/>
            <a:ext cx="1778000" cy="736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170">
                <a:solidFill>
                  <a:srgbClr val="172B4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Fuse scans with poses</a:t>
            </a:r>
          </a:p>
          <a:p>
            <a:r>
              <a:rPr lang="en-US" altLang="zh-CN" sz="1170">
                <a:solidFill>
                  <a:srgbClr val="172B4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Static / change updates</a:t>
            </a:r>
          </a:p>
          <a:p>
            <a:r>
              <a:rPr lang="en-US" altLang="zh-CN" sz="1170">
                <a:solidFill>
                  <a:srgbClr val="172B4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Local / global maps</a:t>
            </a:r>
            <a:endParaRPr lang="zh-CN" altLang="en-US" sz="1170">
              <a:solidFill>
                <a:srgbClr val="172B42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cxnSp>
        <p:nvCxnSpPr>
          <p:cNvPr id="94" name="forward-1" descr="Native attached semantic connector; stage-1 to stage-2">
            <a:extLst>
              <a:ext uri="{FF2B5EF4-FFF2-40B4-BE49-F238E27FC236}">
                <a16:creationId xmlns:a16="http://schemas.microsoft.com/office/drawing/2014/main" id="{70A522AC-C6D4-558E-8974-035452650C58}"/>
              </a:ext>
            </a:extLst>
          </p:cNvPr>
          <p:cNvCxnSpPr>
            <a:cxnSpLocks/>
            <a:stCxn id="79" idx="3"/>
            <a:endCxn id="82" idx="1"/>
          </p:cNvCxnSpPr>
          <p:nvPr/>
        </p:nvCxnSpPr>
        <p:spPr>
          <a:xfrm>
            <a:off x="2438400" y="2857500"/>
            <a:ext cx="304800" cy="0"/>
          </a:xfrm>
          <a:prstGeom prst="straightConnector1">
            <a:avLst/>
          </a:prstGeom>
          <a:ln w="22860">
            <a:solidFill>
              <a:srgbClr val="206493"/>
            </a:solidFill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forward-2" descr="Native attached semantic connector; stage-2 to stage-3">
            <a:extLst>
              <a:ext uri="{FF2B5EF4-FFF2-40B4-BE49-F238E27FC236}">
                <a16:creationId xmlns:a16="http://schemas.microsoft.com/office/drawing/2014/main" id="{6A8C7629-56C4-C457-B225-7E066CC29B0F}"/>
              </a:ext>
            </a:extLst>
          </p:cNvPr>
          <p:cNvCxnSpPr>
            <a:cxnSpLocks/>
            <a:stCxn id="82" idx="3"/>
            <a:endCxn id="85" idx="1"/>
          </p:cNvCxnSpPr>
          <p:nvPr/>
        </p:nvCxnSpPr>
        <p:spPr>
          <a:xfrm>
            <a:off x="4775200" y="2857500"/>
            <a:ext cx="304800" cy="0"/>
          </a:xfrm>
          <a:prstGeom prst="straightConnector1">
            <a:avLst/>
          </a:prstGeom>
          <a:ln w="22860">
            <a:solidFill>
              <a:srgbClr val="206493"/>
            </a:solidFill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forward-3" descr="Native attached semantic connector; stage-3 to stage-4">
            <a:extLst>
              <a:ext uri="{FF2B5EF4-FFF2-40B4-BE49-F238E27FC236}">
                <a16:creationId xmlns:a16="http://schemas.microsoft.com/office/drawing/2014/main" id="{74CFC8A8-4161-D0C0-648C-08BB946DFCE1}"/>
              </a:ext>
            </a:extLst>
          </p:cNvPr>
          <p:cNvCxnSpPr>
            <a:cxnSpLocks/>
            <a:stCxn id="85" idx="3"/>
            <a:endCxn id="88" idx="1"/>
          </p:cNvCxnSpPr>
          <p:nvPr/>
        </p:nvCxnSpPr>
        <p:spPr>
          <a:xfrm>
            <a:off x="7112000" y="2857500"/>
            <a:ext cx="304800" cy="0"/>
          </a:xfrm>
          <a:prstGeom prst="straightConnector1">
            <a:avLst/>
          </a:prstGeom>
          <a:ln w="22860">
            <a:solidFill>
              <a:srgbClr val="206493"/>
            </a:solidFill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forward-4" descr="Native attached semantic connector; stage-4 to stage-5">
            <a:extLst>
              <a:ext uri="{FF2B5EF4-FFF2-40B4-BE49-F238E27FC236}">
                <a16:creationId xmlns:a16="http://schemas.microsoft.com/office/drawing/2014/main" id="{418C4806-6C19-6F90-0E3F-B508C15B30F2}"/>
              </a:ext>
            </a:extLst>
          </p:cNvPr>
          <p:cNvCxnSpPr>
            <a:cxnSpLocks/>
            <a:stCxn id="88" idx="3"/>
            <a:endCxn id="91" idx="1"/>
          </p:cNvCxnSpPr>
          <p:nvPr/>
        </p:nvCxnSpPr>
        <p:spPr>
          <a:xfrm>
            <a:off x="9448800" y="2857500"/>
            <a:ext cx="304800" cy="0"/>
          </a:xfrm>
          <a:prstGeom prst="straightConnector1">
            <a:avLst/>
          </a:prstGeom>
          <a:ln w="22860">
            <a:solidFill>
              <a:srgbClr val="206493"/>
            </a:solidFill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" name="feedback-map-anchor" descr="Native editable direction figure; object feedback-map-anchor">
            <a:extLst>
              <a:ext uri="{FF2B5EF4-FFF2-40B4-BE49-F238E27FC236}">
                <a16:creationId xmlns:a16="http://schemas.microsoft.com/office/drawing/2014/main" id="{602713E0-C7D5-F6A7-D9B3-0CEA36254B6A}"/>
              </a:ext>
            </a:extLst>
          </p:cNvPr>
          <p:cNvSpPr/>
          <p:nvPr/>
        </p:nvSpPr>
        <p:spPr>
          <a:xfrm>
            <a:off x="10763250" y="1771650"/>
            <a:ext cx="12700" cy="12700"/>
          </a:xfrm>
          <a:prstGeom prst="rect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9" name="feedback-front-anchor" descr="Native editable direction figure; object feedback-front-anchor">
            <a:extLst>
              <a:ext uri="{FF2B5EF4-FFF2-40B4-BE49-F238E27FC236}">
                <a16:creationId xmlns:a16="http://schemas.microsoft.com/office/drawing/2014/main" id="{441AA541-73B9-8126-BBD5-85A5ED4ABB30}"/>
              </a:ext>
            </a:extLst>
          </p:cNvPr>
          <p:cNvSpPr/>
          <p:nvPr/>
        </p:nvSpPr>
        <p:spPr>
          <a:xfrm>
            <a:off x="6089650" y="1771650"/>
            <a:ext cx="12700" cy="12700"/>
          </a:xfrm>
          <a:prstGeom prst="rect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00" name="map-feedback-rise" descr="Native attached semantic connector; stage-5 to feedback-map-anchor">
            <a:extLst>
              <a:ext uri="{FF2B5EF4-FFF2-40B4-BE49-F238E27FC236}">
                <a16:creationId xmlns:a16="http://schemas.microsoft.com/office/drawing/2014/main" id="{B97BDD14-5490-BB04-4033-BDF1DA068B99}"/>
              </a:ext>
            </a:extLst>
          </p:cNvPr>
          <p:cNvCxnSpPr>
            <a:cxnSpLocks/>
            <a:stCxn id="91" idx="0"/>
            <a:endCxn id="98" idx="2"/>
          </p:cNvCxnSpPr>
          <p:nvPr/>
        </p:nvCxnSpPr>
        <p:spPr>
          <a:xfrm flipV="1">
            <a:off x="10769600" y="1784350"/>
            <a:ext cx="0" cy="374650"/>
          </a:xfrm>
          <a:prstGeom prst="straightConnector1">
            <a:avLst/>
          </a:prstGeom>
          <a:ln w="22860">
            <a:solidFill>
              <a:srgbClr val="137C76"/>
            </a:solidFill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map-feedback-rail" descr="Native attached semantic connector; feedback-map-anchor to feedback-front-anchor">
            <a:extLst>
              <a:ext uri="{FF2B5EF4-FFF2-40B4-BE49-F238E27FC236}">
                <a16:creationId xmlns:a16="http://schemas.microsoft.com/office/drawing/2014/main" id="{19BACBCE-D3D8-4AF0-4D77-C10EA3ABE47E}"/>
              </a:ext>
            </a:extLst>
          </p:cNvPr>
          <p:cNvCxnSpPr>
            <a:cxnSpLocks/>
            <a:stCxn id="98" idx="1"/>
            <a:endCxn id="99" idx="3"/>
          </p:cNvCxnSpPr>
          <p:nvPr/>
        </p:nvCxnSpPr>
        <p:spPr>
          <a:xfrm flipH="1">
            <a:off x="6102350" y="1778000"/>
            <a:ext cx="4660900" cy="0"/>
          </a:xfrm>
          <a:prstGeom prst="straightConnector1">
            <a:avLst/>
          </a:prstGeom>
          <a:ln w="22860">
            <a:solidFill>
              <a:srgbClr val="137C76"/>
            </a:solidFill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map-feedback-enter" descr="Native attached semantic connector; feedback-front-anchor to stage-3">
            <a:extLst>
              <a:ext uri="{FF2B5EF4-FFF2-40B4-BE49-F238E27FC236}">
                <a16:creationId xmlns:a16="http://schemas.microsoft.com/office/drawing/2014/main" id="{3288B59B-EFD4-8FAF-2A98-E014E0D3B093}"/>
              </a:ext>
            </a:extLst>
          </p:cNvPr>
          <p:cNvCxnSpPr>
            <a:cxnSpLocks/>
            <a:stCxn id="99" idx="2"/>
            <a:endCxn id="85" idx="0"/>
          </p:cNvCxnSpPr>
          <p:nvPr/>
        </p:nvCxnSpPr>
        <p:spPr>
          <a:xfrm>
            <a:off x="6096000" y="1784350"/>
            <a:ext cx="0" cy="374650"/>
          </a:xfrm>
          <a:prstGeom prst="straightConnector1">
            <a:avLst/>
          </a:prstGeom>
          <a:ln w="22860">
            <a:solidFill>
              <a:srgbClr val="137C76"/>
            </a:solidFill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3" name="joint-estimation-note" descr="Native editable direction figure; object joint-estimation-note">
            <a:extLst>
              <a:ext uri="{FF2B5EF4-FFF2-40B4-BE49-F238E27FC236}">
                <a16:creationId xmlns:a16="http://schemas.microsoft.com/office/drawing/2014/main" id="{4D477207-9400-2731-C9C5-D20E439D1B56}"/>
              </a:ext>
            </a:extLst>
          </p:cNvPr>
          <p:cNvSpPr txBox="1"/>
          <p:nvPr/>
        </p:nvSpPr>
        <p:spPr>
          <a:xfrm>
            <a:off x="406400" y="4267200"/>
            <a:ext cx="4292600" cy="787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500">
                <a:solidFill>
                  <a:srgbClr val="52667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Pose affects the map.</a:t>
            </a:r>
          </a:p>
          <a:p>
            <a:r>
              <a:rPr lang="en-US" altLang="zh-CN" sz="1500">
                <a:solidFill>
                  <a:srgbClr val="52667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The map affects later pose.</a:t>
            </a:r>
          </a:p>
          <a:p>
            <a:r>
              <a:rPr lang="en-US" altLang="zh-CN" sz="1500">
                <a:solidFill>
                  <a:srgbClr val="52667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Errors can propagate between them.</a:t>
            </a:r>
            <a:endParaRPr lang="zh-CN" altLang="en-US" sz="1500">
              <a:solidFill>
                <a:srgbClr val="52667B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04" name="pose-output" descr="Native editable direction figure; object pose-output">
            <a:extLst>
              <a:ext uri="{FF2B5EF4-FFF2-40B4-BE49-F238E27FC236}">
                <a16:creationId xmlns:a16="http://schemas.microsoft.com/office/drawing/2014/main" id="{39E55403-E2FF-EFC3-92A8-508C071112D2}"/>
              </a:ext>
            </a:extLst>
          </p:cNvPr>
          <p:cNvSpPr txBox="1"/>
          <p:nvPr/>
        </p:nvSpPr>
        <p:spPr>
          <a:xfrm>
            <a:off x="5080000" y="4419600"/>
            <a:ext cx="2032000" cy="787400"/>
          </a:xfrm>
          <a:prstGeom prst="rect">
            <a:avLst/>
          </a:prstGeom>
          <a:solidFill>
            <a:srgbClr val="EAF6F2"/>
          </a:solidFill>
          <a:ln w="0">
            <a:solidFill>
              <a:srgbClr val="137C76"/>
            </a:solidFill>
          </a:ln>
        </p:spPr>
        <p:txBody>
          <a:bodyPr vert="horz" wrap="square" lIns="101600" tIns="101600" rIns="101600" bIns="101600" rtlCol="0" anchor="t">
            <a:noAutofit/>
          </a:bodyPr>
          <a:lstStyle/>
          <a:p>
            <a:r>
              <a:rPr lang="en-US" altLang="zh-CN" sz="1180">
                <a:solidFill>
                  <a:srgbClr val="172B4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Output 1 · Pose / path</a:t>
            </a:r>
          </a:p>
          <a:p>
            <a:r>
              <a:rPr lang="en-US" altLang="zh-CN" sz="1180">
                <a:solidFill>
                  <a:srgbClr val="172B4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Tracked + optimized</a:t>
            </a:r>
            <a:endParaRPr lang="zh-CN" altLang="en-US" sz="1180">
              <a:solidFill>
                <a:srgbClr val="172B42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05" name="loop-validation" descr="Native editable direction figure; object loop-validation">
            <a:extLst>
              <a:ext uri="{FF2B5EF4-FFF2-40B4-BE49-F238E27FC236}">
                <a16:creationId xmlns:a16="http://schemas.microsoft.com/office/drawing/2014/main" id="{1B5C4326-9D8E-CCF5-4F48-8F6AFA786E5F}"/>
              </a:ext>
            </a:extLst>
          </p:cNvPr>
          <p:cNvSpPr txBox="1"/>
          <p:nvPr/>
        </p:nvSpPr>
        <p:spPr>
          <a:xfrm>
            <a:off x="7416800" y="4419600"/>
            <a:ext cx="2032000" cy="787400"/>
          </a:xfrm>
          <a:prstGeom prst="rect">
            <a:avLst/>
          </a:prstGeom>
          <a:solidFill>
            <a:srgbClr val="FBF4E8"/>
          </a:solidFill>
          <a:ln w="0">
            <a:solidFill>
              <a:srgbClr val="9B5D18"/>
            </a:solidFill>
          </a:ln>
        </p:spPr>
        <p:txBody>
          <a:bodyPr vert="horz" wrap="square" lIns="101600" tIns="101600" rIns="101600" bIns="101600" rtlCol="0" anchor="t">
            <a:noAutofit/>
          </a:bodyPr>
          <a:lstStyle/>
          <a:p>
            <a:r>
              <a:rPr lang="en-US" altLang="zh-CN" sz="1180">
                <a:solidFill>
                  <a:srgbClr val="172B4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Loop detection</a:t>
            </a:r>
          </a:p>
          <a:p>
            <a:r>
              <a:rPr lang="en-US" altLang="zh-CN" sz="1180">
                <a:solidFill>
                  <a:srgbClr val="172B4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Keyframe retrieval</a:t>
            </a:r>
          </a:p>
          <a:p>
            <a:r>
              <a:rPr lang="en-US" altLang="zh-CN" sz="1180">
                <a:solidFill>
                  <a:srgbClr val="172B4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Geometry validation</a:t>
            </a:r>
            <a:endParaRPr lang="zh-CN" altLang="en-US" sz="1180">
              <a:solidFill>
                <a:srgbClr val="172B42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06" name="map-output" descr="Native editable direction figure; object map-output">
            <a:extLst>
              <a:ext uri="{FF2B5EF4-FFF2-40B4-BE49-F238E27FC236}">
                <a16:creationId xmlns:a16="http://schemas.microsoft.com/office/drawing/2014/main" id="{DE7D9951-BF8D-76ED-5E58-F9C3C66109E8}"/>
              </a:ext>
            </a:extLst>
          </p:cNvPr>
          <p:cNvSpPr txBox="1"/>
          <p:nvPr/>
        </p:nvSpPr>
        <p:spPr>
          <a:xfrm>
            <a:off x="9753600" y="4419600"/>
            <a:ext cx="2032000" cy="787400"/>
          </a:xfrm>
          <a:prstGeom prst="rect">
            <a:avLst/>
          </a:prstGeom>
          <a:solidFill>
            <a:srgbClr val="EAF6F2"/>
          </a:solidFill>
          <a:ln w="0">
            <a:solidFill>
              <a:srgbClr val="137C76"/>
            </a:solidFill>
          </a:ln>
        </p:spPr>
        <p:txBody>
          <a:bodyPr vert="horz" wrap="square" lIns="101600" tIns="101600" rIns="101600" bIns="101600" rtlCol="0" anchor="t">
            <a:noAutofit/>
          </a:bodyPr>
          <a:lstStyle/>
          <a:p>
            <a:r>
              <a:rPr lang="en-US" altLang="zh-CN" sz="1180">
                <a:solidFill>
                  <a:srgbClr val="172B4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Output 2 · Map</a:t>
            </a:r>
          </a:p>
          <a:p>
            <a:r>
              <a:rPr lang="en-US" altLang="zh-CN" sz="1180">
                <a:solidFill>
                  <a:srgbClr val="172B4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Points / grids / features</a:t>
            </a:r>
            <a:endParaRPr lang="zh-CN" altLang="en-US" sz="1180">
              <a:solidFill>
                <a:srgbClr val="172B42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cxnSp>
        <p:nvCxnSpPr>
          <p:cNvPr id="107" name="pose-output-edge" descr="Native attached semantic connector; stage-3 to pose-output">
            <a:extLst>
              <a:ext uri="{FF2B5EF4-FFF2-40B4-BE49-F238E27FC236}">
                <a16:creationId xmlns:a16="http://schemas.microsoft.com/office/drawing/2014/main" id="{7E99E195-59C3-9418-5D71-72277A30D87E}"/>
              </a:ext>
            </a:extLst>
          </p:cNvPr>
          <p:cNvCxnSpPr>
            <a:cxnSpLocks/>
            <a:stCxn id="85" idx="2"/>
            <a:endCxn id="104" idx="0"/>
          </p:cNvCxnSpPr>
          <p:nvPr/>
        </p:nvCxnSpPr>
        <p:spPr>
          <a:xfrm>
            <a:off x="6096000" y="3556000"/>
            <a:ext cx="0" cy="863600"/>
          </a:xfrm>
          <a:prstGeom prst="straightConnector1">
            <a:avLst/>
          </a:prstGeom>
          <a:ln w="22860">
            <a:solidFill>
              <a:srgbClr val="206493"/>
            </a:solidFill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validated-loop-factor" descr="Native attached semantic connector; loop-validation to stage-4">
            <a:extLst>
              <a:ext uri="{FF2B5EF4-FFF2-40B4-BE49-F238E27FC236}">
                <a16:creationId xmlns:a16="http://schemas.microsoft.com/office/drawing/2014/main" id="{25D168CC-EC68-F0D8-FF95-3792969DD745}"/>
              </a:ext>
            </a:extLst>
          </p:cNvPr>
          <p:cNvCxnSpPr>
            <a:cxnSpLocks/>
            <a:stCxn id="105" idx="0"/>
            <a:endCxn id="88" idx="2"/>
          </p:cNvCxnSpPr>
          <p:nvPr/>
        </p:nvCxnSpPr>
        <p:spPr>
          <a:xfrm flipV="1">
            <a:off x="8432800" y="3556000"/>
            <a:ext cx="0" cy="863600"/>
          </a:xfrm>
          <a:prstGeom prst="straightConnector1">
            <a:avLst/>
          </a:prstGeom>
          <a:ln w="22860">
            <a:solidFill>
              <a:srgbClr val="9B5D18"/>
            </a:solidFill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map-output-edge" descr="Native attached semantic connector; stage-5 to map-output">
            <a:extLst>
              <a:ext uri="{FF2B5EF4-FFF2-40B4-BE49-F238E27FC236}">
                <a16:creationId xmlns:a16="http://schemas.microsoft.com/office/drawing/2014/main" id="{B6788A8F-BE0E-7E60-7D8E-6267AF873BD5}"/>
              </a:ext>
            </a:extLst>
          </p:cNvPr>
          <p:cNvCxnSpPr>
            <a:cxnSpLocks/>
            <a:stCxn id="91" idx="2"/>
            <a:endCxn id="106" idx="0"/>
          </p:cNvCxnSpPr>
          <p:nvPr/>
        </p:nvCxnSpPr>
        <p:spPr>
          <a:xfrm>
            <a:off x="10769600" y="3556000"/>
            <a:ext cx="0" cy="863600"/>
          </a:xfrm>
          <a:prstGeom prst="straightConnector1">
            <a:avLst/>
          </a:prstGeom>
          <a:ln w="22860">
            <a:solidFill>
              <a:srgbClr val="206493"/>
            </a:solidFill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0" name="experiment-scope-bg" descr="Native editable direction figure; object experiment-scope-bg">
            <a:extLst>
              <a:ext uri="{FF2B5EF4-FFF2-40B4-BE49-F238E27FC236}">
                <a16:creationId xmlns:a16="http://schemas.microsoft.com/office/drawing/2014/main" id="{37D60F4D-1B08-81DB-BEC8-DC4B4AE4E83A}"/>
              </a:ext>
            </a:extLst>
          </p:cNvPr>
          <p:cNvSpPr/>
          <p:nvPr/>
        </p:nvSpPr>
        <p:spPr>
          <a:xfrm>
            <a:off x="406400" y="5740400"/>
            <a:ext cx="11379200" cy="647700"/>
          </a:xfrm>
          <a:prstGeom prst="rect">
            <a:avLst/>
          </a:prstGeom>
          <a:solidFill>
            <a:srgbClr val="EFF5FA"/>
          </a:solidFill>
          <a:ln w="12700" cap="flat" cmpd="sng" algn="ctr">
            <a:solidFill>
              <a:srgbClr val="D4E0E8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1" name="experiment-scope" descr="Native editable direction figure; object experiment-scope">
            <a:extLst>
              <a:ext uri="{FF2B5EF4-FFF2-40B4-BE49-F238E27FC236}">
                <a16:creationId xmlns:a16="http://schemas.microsoft.com/office/drawing/2014/main" id="{80171D65-0C78-FBB3-C09A-3BAC32F6315E}"/>
              </a:ext>
            </a:extLst>
          </p:cNvPr>
          <p:cNvSpPr txBox="1"/>
          <p:nvPr/>
        </p:nvSpPr>
        <p:spPr>
          <a:xfrm>
            <a:off x="584200" y="5854700"/>
            <a:ext cx="110236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400">
                <a:solidFill>
                  <a:srgbClr val="20649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Current experiment: supplied mapping poses A → clean and freeze map → localize independent scans B.</a:t>
            </a:r>
            <a:endParaRPr lang="zh-CN" altLang="en-US" sz="1400">
              <a:solidFill>
                <a:srgbClr val="20649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12" name="workflow-footnote" descr="Native editable direction figure; object workflow-footnote">
            <a:extLst>
              <a:ext uri="{FF2B5EF4-FFF2-40B4-BE49-F238E27FC236}">
                <a16:creationId xmlns:a16="http://schemas.microsoft.com/office/drawing/2014/main" id="{04B4C157-8208-672E-B81B-875A5D2BECBE}"/>
              </a:ext>
            </a:extLst>
          </p:cNvPr>
          <p:cNvSpPr txBox="1"/>
          <p:nvPr/>
        </p:nvSpPr>
        <p:spPr>
          <a:xfrm>
            <a:off x="406400" y="6553200"/>
            <a:ext cx="113792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050">
                <a:solidFill>
                  <a:srgbClr val="52667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Functional overview; module boundaries and estimated variables vary across SLAM systems.</a:t>
            </a:r>
            <a:endParaRPr lang="zh-CN" altLang="en-US" sz="1050">
              <a:solidFill>
                <a:srgbClr val="52667B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583788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robustness-factors-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actors-title" descr="Native editable direction figure; object factors-title">
            <a:extLst>
              <a:ext uri="{FF2B5EF4-FFF2-40B4-BE49-F238E27FC236}">
                <a16:creationId xmlns:a16="http://schemas.microsoft.com/office/drawing/2014/main" id="{98E8A3D3-3636-C94D-3D17-A67107D9D3A3}"/>
              </a:ext>
            </a:extLst>
          </p:cNvPr>
          <p:cNvSpPr txBox="1"/>
          <p:nvPr/>
        </p:nvSpPr>
        <p:spPr>
          <a:xfrm>
            <a:off x="406400" y="241300"/>
            <a:ext cx="11379200" cy="482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2400" b="1">
                <a:solidFill>
                  <a:srgbClr val="172B4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Factors and examples affecting robust localization and SLAM</a:t>
            </a:r>
            <a:endParaRPr lang="zh-CN" altLang="en-US" sz="2400" b="1">
              <a:solidFill>
                <a:srgbClr val="172B42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" name="factors-subtitle" descr="Native editable direction figure; object factors-subtitle">
            <a:extLst>
              <a:ext uri="{FF2B5EF4-FFF2-40B4-BE49-F238E27FC236}">
                <a16:creationId xmlns:a16="http://schemas.microsoft.com/office/drawing/2014/main" id="{137DF150-B194-26A3-C34D-5E72A0C2E0EF}"/>
              </a:ext>
            </a:extLst>
          </p:cNvPr>
          <p:cNvSpPr txBox="1"/>
          <p:nvPr/>
        </p:nvSpPr>
        <p:spPr>
          <a:xfrm>
            <a:off x="406400" y="800100"/>
            <a:ext cx="11379200" cy="317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400">
                <a:solidFill>
                  <a:srgbClr val="52667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Read each entry as factor → example → mechanism. Dashed slots are reserved for your images.</a:t>
            </a:r>
            <a:endParaRPr lang="zh-CN" altLang="en-US" sz="1400">
              <a:solidFill>
                <a:srgbClr val="52667B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" name="F01-row" descr="Native editable direction figure; object F01-row">
            <a:extLst>
              <a:ext uri="{FF2B5EF4-FFF2-40B4-BE49-F238E27FC236}">
                <a16:creationId xmlns:a16="http://schemas.microsoft.com/office/drawing/2014/main" id="{DD0758BE-6690-C762-2174-705F38A1F2A8}"/>
              </a:ext>
            </a:extLst>
          </p:cNvPr>
          <p:cNvSpPr/>
          <p:nvPr/>
        </p:nvSpPr>
        <p:spPr>
          <a:xfrm>
            <a:off x="406400" y="1333500"/>
            <a:ext cx="5588000" cy="11176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D4E0E8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F01-heading" descr="Native editable direction figure; object F01-heading">
            <a:extLst>
              <a:ext uri="{FF2B5EF4-FFF2-40B4-BE49-F238E27FC236}">
                <a16:creationId xmlns:a16="http://schemas.microsoft.com/office/drawing/2014/main" id="{EEF4A65D-00D7-508E-94A4-191E6C12A032}"/>
              </a:ext>
            </a:extLst>
          </p:cNvPr>
          <p:cNvSpPr txBox="1"/>
          <p:nvPr/>
        </p:nvSpPr>
        <p:spPr>
          <a:xfrm>
            <a:off x="533400" y="1422400"/>
            <a:ext cx="3733800" cy="292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380" b="1">
                <a:solidFill>
                  <a:srgbClr val="20649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F01  Sampling and visibility</a:t>
            </a:r>
            <a:endParaRPr lang="zh-CN" altLang="en-US" sz="1380" b="1">
              <a:solidFill>
                <a:srgbClr val="20649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" name="F01-example" descr="Native editable direction figure; object F01-example">
            <a:extLst>
              <a:ext uri="{FF2B5EF4-FFF2-40B4-BE49-F238E27FC236}">
                <a16:creationId xmlns:a16="http://schemas.microsoft.com/office/drawing/2014/main" id="{A4596623-04B2-D307-71AE-2B316C65BBA0}"/>
              </a:ext>
            </a:extLst>
          </p:cNvPr>
          <p:cNvSpPr txBox="1"/>
          <p:nvPr/>
        </p:nvSpPr>
        <p:spPr>
          <a:xfrm>
            <a:off x="533400" y="1765300"/>
            <a:ext cx="3733800" cy="2667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140">
                <a:solidFill>
                  <a:srgbClr val="172B4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E.g. distant poles / heavy occlusion</a:t>
            </a:r>
            <a:endParaRPr lang="zh-CN" altLang="en-US" sz="1140">
              <a:solidFill>
                <a:srgbClr val="172B42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7" name="F01-mechanism" descr="Native editable direction figure; object F01-mechanism">
            <a:extLst>
              <a:ext uri="{FF2B5EF4-FFF2-40B4-BE49-F238E27FC236}">
                <a16:creationId xmlns:a16="http://schemas.microsoft.com/office/drawing/2014/main" id="{CA68F362-D642-C5EA-B910-26357547CB94}"/>
              </a:ext>
            </a:extLst>
          </p:cNvPr>
          <p:cNvSpPr txBox="1"/>
          <p:nvPr/>
        </p:nvSpPr>
        <p:spPr>
          <a:xfrm>
            <a:off x="533400" y="2070100"/>
            <a:ext cx="37338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070">
                <a:solidFill>
                  <a:srgbClr val="52667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Sparse, low-overlap support weakens matching.</a:t>
            </a:r>
            <a:endParaRPr lang="zh-CN" altLang="en-US" sz="1070">
              <a:solidFill>
                <a:srgbClr val="52667B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8" name="F01-image-slot" descr="Native editable direction figure; object F01-image-slot">
            <a:extLst>
              <a:ext uri="{FF2B5EF4-FFF2-40B4-BE49-F238E27FC236}">
                <a16:creationId xmlns:a16="http://schemas.microsoft.com/office/drawing/2014/main" id="{51E1EAC0-853A-ACD1-C7EB-CB9913005550}"/>
              </a:ext>
            </a:extLst>
          </p:cNvPr>
          <p:cNvSpPr txBox="1"/>
          <p:nvPr/>
        </p:nvSpPr>
        <p:spPr>
          <a:xfrm>
            <a:off x="4394200" y="1435100"/>
            <a:ext cx="1473200" cy="914400"/>
          </a:xfrm>
          <a:prstGeom prst="rect">
            <a:avLst/>
          </a:prstGeom>
          <a:solidFill>
            <a:srgbClr val="F5F7F9"/>
          </a:solidFill>
          <a:ln w="12700">
            <a:solidFill>
              <a:srgbClr val="D4E0E8"/>
            </a:solidFill>
            <a:prstDash val="dash"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algn="ctr"/>
            <a:r>
              <a:rPr lang="en-US" altLang="zh-CN" sz="1000">
                <a:solidFill>
                  <a:srgbClr val="52667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F01 IMAGE SLOT</a:t>
            </a:r>
          </a:p>
          <a:p>
            <a:pPr algn="ctr"/>
            <a:r>
              <a:rPr lang="en-US" altLang="zh-CN" sz="1000">
                <a:solidFill>
                  <a:srgbClr val="52667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Sparse scan / occluded scene</a:t>
            </a:r>
            <a:endParaRPr lang="zh-CN" altLang="en-US" sz="1000">
              <a:solidFill>
                <a:srgbClr val="52667B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9" name="F02-row" descr="Native editable direction figure; object F02-row">
            <a:extLst>
              <a:ext uri="{FF2B5EF4-FFF2-40B4-BE49-F238E27FC236}">
                <a16:creationId xmlns:a16="http://schemas.microsoft.com/office/drawing/2014/main" id="{34CE5C6C-FCEB-3DDC-9A06-0011965FE9B3}"/>
              </a:ext>
            </a:extLst>
          </p:cNvPr>
          <p:cNvSpPr/>
          <p:nvPr/>
        </p:nvSpPr>
        <p:spPr>
          <a:xfrm>
            <a:off x="6197600" y="1333500"/>
            <a:ext cx="5588000" cy="11176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D4E0E8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F02-heading" descr="Native editable direction figure; object F02-heading">
            <a:extLst>
              <a:ext uri="{FF2B5EF4-FFF2-40B4-BE49-F238E27FC236}">
                <a16:creationId xmlns:a16="http://schemas.microsoft.com/office/drawing/2014/main" id="{8A8A147C-16A0-4637-F939-DF6D5475E183}"/>
              </a:ext>
            </a:extLst>
          </p:cNvPr>
          <p:cNvSpPr txBox="1"/>
          <p:nvPr/>
        </p:nvSpPr>
        <p:spPr>
          <a:xfrm>
            <a:off x="6324600" y="1422400"/>
            <a:ext cx="3733800" cy="292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380" b="1">
                <a:solidFill>
                  <a:srgbClr val="20649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F02  Motion and scan distortion</a:t>
            </a:r>
            <a:endParaRPr lang="zh-CN" altLang="en-US" sz="1380" b="1">
              <a:solidFill>
                <a:srgbClr val="20649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1" name="F02-example" descr="Native editable direction figure; object F02-example">
            <a:extLst>
              <a:ext uri="{FF2B5EF4-FFF2-40B4-BE49-F238E27FC236}">
                <a16:creationId xmlns:a16="http://schemas.microsoft.com/office/drawing/2014/main" id="{E5783F90-A7ED-A970-BAE0-0F5DE41D015A}"/>
              </a:ext>
            </a:extLst>
          </p:cNvPr>
          <p:cNvSpPr txBox="1"/>
          <p:nvPr/>
        </p:nvSpPr>
        <p:spPr>
          <a:xfrm>
            <a:off x="6324600" y="1765300"/>
            <a:ext cx="3733800" cy="2667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140">
                <a:solidFill>
                  <a:srgbClr val="172B4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E.g. fast turns / vibration / wheel slip</a:t>
            </a:r>
            <a:endParaRPr lang="zh-CN" altLang="en-US" sz="1140">
              <a:solidFill>
                <a:srgbClr val="172B42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2" name="F02-mechanism" descr="Native editable direction figure; object F02-mechanism">
            <a:extLst>
              <a:ext uri="{FF2B5EF4-FFF2-40B4-BE49-F238E27FC236}">
                <a16:creationId xmlns:a16="http://schemas.microsoft.com/office/drawing/2014/main" id="{59FE8560-8CD2-EEEC-D786-3B5573AD9A10}"/>
              </a:ext>
            </a:extLst>
          </p:cNvPr>
          <p:cNvSpPr txBox="1"/>
          <p:nvPr/>
        </p:nvSpPr>
        <p:spPr>
          <a:xfrm>
            <a:off x="6324600" y="2070100"/>
            <a:ext cx="37338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070">
                <a:solidFill>
                  <a:srgbClr val="52667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Warped scans or a biased motion prior misalign.</a:t>
            </a:r>
            <a:endParaRPr lang="zh-CN" altLang="en-US" sz="1070">
              <a:solidFill>
                <a:srgbClr val="52667B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3" name="F02-image-slot" descr="Native editable direction figure; object F02-image-slot">
            <a:extLst>
              <a:ext uri="{FF2B5EF4-FFF2-40B4-BE49-F238E27FC236}">
                <a16:creationId xmlns:a16="http://schemas.microsoft.com/office/drawing/2014/main" id="{4E36C990-7B2C-0FFA-76E4-C47BAAFEB59E}"/>
              </a:ext>
            </a:extLst>
          </p:cNvPr>
          <p:cNvSpPr txBox="1"/>
          <p:nvPr/>
        </p:nvSpPr>
        <p:spPr>
          <a:xfrm>
            <a:off x="10185400" y="1435100"/>
            <a:ext cx="1473200" cy="914400"/>
          </a:xfrm>
          <a:prstGeom prst="rect">
            <a:avLst/>
          </a:prstGeom>
          <a:solidFill>
            <a:srgbClr val="F5F7F9"/>
          </a:solidFill>
          <a:ln w="12700">
            <a:solidFill>
              <a:srgbClr val="D4E0E8"/>
            </a:solidFill>
            <a:prstDash val="dash"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algn="ctr"/>
            <a:r>
              <a:rPr lang="en-US" altLang="zh-CN" sz="1000">
                <a:solidFill>
                  <a:srgbClr val="52667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F02 IMAGE SLOT</a:t>
            </a:r>
          </a:p>
          <a:p>
            <a:pPr algn="ctr"/>
            <a:r>
              <a:rPr lang="en-US" altLang="zh-CN" sz="1000">
                <a:solidFill>
                  <a:srgbClr val="52667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Turning scan / warped wall</a:t>
            </a:r>
            <a:endParaRPr lang="zh-CN" altLang="en-US" sz="1000">
              <a:solidFill>
                <a:srgbClr val="52667B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4" name="F03-row" descr="Native editable direction figure; object F03-row">
            <a:extLst>
              <a:ext uri="{FF2B5EF4-FFF2-40B4-BE49-F238E27FC236}">
                <a16:creationId xmlns:a16="http://schemas.microsoft.com/office/drawing/2014/main" id="{41E386C5-3E04-F1E3-D274-C26D9418CB6B}"/>
              </a:ext>
            </a:extLst>
          </p:cNvPr>
          <p:cNvSpPr/>
          <p:nvPr/>
        </p:nvSpPr>
        <p:spPr>
          <a:xfrm>
            <a:off x="406400" y="2578100"/>
            <a:ext cx="5588000" cy="11176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D4E0E8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F03-heading" descr="Native editable direction figure; object F03-heading">
            <a:extLst>
              <a:ext uri="{FF2B5EF4-FFF2-40B4-BE49-F238E27FC236}">
                <a16:creationId xmlns:a16="http://schemas.microsoft.com/office/drawing/2014/main" id="{FEB9DB88-B9A9-6B4B-0912-77921375075C}"/>
              </a:ext>
            </a:extLst>
          </p:cNvPr>
          <p:cNvSpPr txBox="1"/>
          <p:nvPr/>
        </p:nvSpPr>
        <p:spPr>
          <a:xfrm>
            <a:off x="533400" y="2667000"/>
            <a:ext cx="3733800" cy="292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380" b="1">
                <a:solidFill>
                  <a:srgbClr val="20649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F03  Timing and calibration</a:t>
            </a:r>
            <a:endParaRPr lang="zh-CN" altLang="en-US" sz="1380" b="1">
              <a:solidFill>
                <a:srgbClr val="20649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6" name="F03-example" descr="Native editable direction figure; object F03-example">
            <a:extLst>
              <a:ext uri="{FF2B5EF4-FFF2-40B4-BE49-F238E27FC236}">
                <a16:creationId xmlns:a16="http://schemas.microsoft.com/office/drawing/2014/main" id="{3FBD4E28-BAC8-A540-9687-2F296F3ADA47}"/>
              </a:ext>
            </a:extLst>
          </p:cNvPr>
          <p:cNvSpPr txBox="1"/>
          <p:nvPr/>
        </p:nvSpPr>
        <p:spPr>
          <a:xfrm>
            <a:off x="533400" y="3009900"/>
            <a:ext cx="3733800" cy="2667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140">
                <a:solidFill>
                  <a:srgbClr val="172B4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E.g. LiDAR–IMU time / extrinsic offsets</a:t>
            </a:r>
            <a:endParaRPr lang="zh-CN" altLang="en-US" sz="1140">
              <a:solidFill>
                <a:srgbClr val="172B42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7" name="F03-mechanism" descr="Native editable direction figure; object F03-mechanism">
            <a:extLst>
              <a:ext uri="{FF2B5EF4-FFF2-40B4-BE49-F238E27FC236}">
                <a16:creationId xmlns:a16="http://schemas.microsoft.com/office/drawing/2014/main" id="{6B191BA2-D528-38CD-A8C8-537966D5FF90}"/>
              </a:ext>
            </a:extLst>
          </p:cNvPr>
          <p:cNvSpPr txBox="1"/>
          <p:nvPr/>
        </p:nvSpPr>
        <p:spPr>
          <a:xfrm>
            <a:off x="533400" y="3314700"/>
            <a:ext cx="37338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070">
                <a:solidFill>
                  <a:srgbClr val="52667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Cross-sensor misalignment creates double walls.</a:t>
            </a:r>
            <a:endParaRPr lang="zh-CN" altLang="en-US" sz="1070">
              <a:solidFill>
                <a:srgbClr val="52667B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8" name="F03-image-slot" descr="Native editable direction figure; object F03-image-slot">
            <a:extLst>
              <a:ext uri="{FF2B5EF4-FFF2-40B4-BE49-F238E27FC236}">
                <a16:creationId xmlns:a16="http://schemas.microsoft.com/office/drawing/2014/main" id="{1F8DDDBF-76BB-AAE9-1702-C7CD9FEE3A7D}"/>
              </a:ext>
            </a:extLst>
          </p:cNvPr>
          <p:cNvSpPr txBox="1"/>
          <p:nvPr/>
        </p:nvSpPr>
        <p:spPr>
          <a:xfrm>
            <a:off x="4394200" y="2679700"/>
            <a:ext cx="1473200" cy="914400"/>
          </a:xfrm>
          <a:prstGeom prst="rect">
            <a:avLst/>
          </a:prstGeom>
          <a:solidFill>
            <a:srgbClr val="F5F7F9"/>
          </a:solidFill>
          <a:ln w="12700">
            <a:solidFill>
              <a:srgbClr val="D4E0E8"/>
            </a:solidFill>
            <a:prstDash val="dash"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algn="ctr"/>
            <a:r>
              <a:rPr lang="en-US" altLang="zh-CN" sz="1000">
                <a:solidFill>
                  <a:srgbClr val="52667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F03 IMAGE SLOT</a:t>
            </a:r>
          </a:p>
          <a:p>
            <a:pPr algn="ctr"/>
            <a:r>
              <a:rPr lang="en-US" altLang="zh-CN" sz="1000">
                <a:solidFill>
                  <a:srgbClr val="52667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Time offset / double wall</a:t>
            </a:r>
            <a:endParaRPr lang="zh-CN" altLang="en-US" sz="1000">
              <a:solidFill>
                <a:srgbClr val="52667B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9" name="F04-row" descr="Native editable direction figure; object F04-row">
            <a:extLst>
              <a:ext uri="{FF2B5EF4-FFF2-40B4-BE49-F238E27FC236}">
                <a16:creationId xmlns:a16="http://schemas.microsoft.com/office/drawing/2014/main" id="{00A8D949-33DF-3941-F883-48777C7782D4}"/>
              </a:ext>
            </a:extLst>
          </p:cNvPr>
          <p:cNvSpPr/>
          <p:nvPr/>
        </p:nvSpPr>
        <p:spPr>
          <a:xfrm>
            <a:off x="6197600" y="2578100"/>
            <a:ext cx="5588000" cy="11176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D4E0E8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F04-heading" descr="Native editable direction figure; object F04-heading">
            <a:extLst>
              <a:ext uri="{FF2B5EF4-FFF2-40B4-BE49-F238E27FC236}">
                <a16:creationId xmlns:a16="http://schemas.microsoft.com/office/drawing/2014/main" id="{2A6B4EA2-C1A9-822A-2903-2F5EB29B62D1}"/>
              </a:ext>
            </a:extLst>
          </p:cNvPr>
          <p:cNvSpPr txBox="1"/>
          <p:nvPr/>
        </p:nvSpPr>
        <p:spPr>
          <a:xfrm>
            <a:off x="6324600" y="2667000"/>
            <a:ext cx="3733800" cy="292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380" b="1">
                <a:solidFill>
                  <a:srgbClr val="20649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F04  Dynamics and lasting change</a:t>
            </a:r>
            <a:endParaRPr lang="zh-CN" altLang="en-US" sz="1380" b="1">
              <a:solidFill>
                <a:srgbClr val="20649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1" name="F04-example" descr="Native editable direction figure; object F04-example">
            <a:extLst>
              <a:ext uri="{FF2B5EF4-FFF2-40B4-BE49-F238E27FC236}">
                <a16:creationId xmlns:a16="http://schemas.microsoft.com/office/drawing/2014/main" id="{A5157A56-1615-5032-4574-E80698F0BE5C}"/>
              </a:ext>
            </a:extLst>
          </p:cNvPr>
          <p:cNvSpPr txBox="1"/>
          <p:nvPr/>
        </p:nvSpPr>
        <p:spPr>
          <a:xfrm>
            <a:off x="6324600" y="3009900"/>
            <a:ext cx="3733800" cy="2667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140">
                <a:solidFill>
                  <a:srgbClr val="172B4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E.g. walking / parking / moved furniture</a:t>
            </a:r>
            <a:endParaRPr lang="zh-CN" altLang="en-US" sz="1140">
              <a:solidFill>
                <a:srgbClr val="172B42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2" name="F04-mechanism" descr="Native editable direction figure; object F04-mechanism">
            <a:extLst>
              <a:ext uri="{FF2B5EF4-FFF2-40B4-BE49-F238E27FC236}">
                <a16:creationId xmlns:a16="http://schemas.microsoft.com/office/drawing/2014/main" id="{E1020BCA-5DED-178A-C018-E369164385E8}"/>
              </a:ext>
            </a:extLst>
          </p:cNvPr>
          <p:cNvSpPr txBox="1"/>
          <p:nvPr/>
        </p:nvSpPr>
        <p:spPr>
          <a:xfrm>
            <a:off x="6324600" y="3314700"/>
            <a:ext cx="37338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070">
                <a:solidFill>
                  <a:srgbClr val="52667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Ghosts, occlusion or stale maps mislead matching.</a:t>
            </a:r>
            <a:endParaRPr lang="zh-CN" altLang="en-US" sz="1070">
              <a:solidFill>
                <a:srgbClr val="52667B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3" name="F04-image-slot" descr="Native editable direction figure; object F04-image-slot">
            <a:extLst>
              <a:ext uri="{FF2B5EF4-FFF2-40B4-BE49-F238E27FC236}">
                <a16:creationId xmlns:a16="http://schemas.microsoft.com/office/drawing/2014/main" id="{F61E51FC-799B-BF41-D591-297B96C516E4}"/>
              </a:ext>
            </a:extLst>
          </p:cNvPr>
          <p:cNvSpPr txBox="1"/>
          <p:nvPr/>
        </p:nvSpPr>
        <p:spPr>
          <a:xfrm>
            <a:off x="10185400" y="2679700"/>
            <a:ext cx="1473200" cy="914400"/>
          </a:xfrm>
          <a:prstGeom prst="rect">
            <a:avLst/>
          </a:prstGeom>
          <a:solidFill>
            <a:srgbClr val="F5F7F9"/>
          </a:solidFill>
          <a:ln w="12700">
            <a:solidFill>
              <a:srgbClr val="D4E0E8"/>
            </a:solidFill>
            <a:prstDash val="dash"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algn="ctr"/>
            <a:r>
              <a:rPr lang="en-US" altLang="zh-CN" sz="1000">
                <a:solidFill>
                  <a:srgbClr val="52667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F04 IMAGE SLOT</a:t>
            </a:r>
          </a:p>
          <a:p>
            <a:pPr algn="ctr"/>
            <a:r>
              <a:rPr lang="en-US" altLang="zh-CN" sz="1000">
                <a:solidFill>
                  <a:srgbClr val="52667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Ghosts / changed scene</a:t>
            </a:r>
            <a:endParaRPr lang="zh-CN" altLang="en-US" sz="1000">
              <a:solidFill>
                <a:srgbClr val="52667B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4" name="F05-row" descr="Native editable direction figure; object F05-row">
            <a:extLst>
              <a:ext uri="{FF2B5EF4-FFF2-40B4-BE49-F238E27FC236}">
                <a16:creationId xmlns:a16="http://schemas.microsoft.com/office/drawing/2014/main" id="{02F8B847-68DB-C8B7-EE48-D31E336600E3}"/>
              </a:ext>
            </a:extLst>
          </p:cNvPr>
          <p:cNvSpPr/>
          <p:nvPr/>
        </p:nvSpPr>
        <p:spPr>
          <a:xfrm>
            <a:off x="406400" y="3822700"/>
            <a:ext cx="5588000" cy="11176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D4E0E8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F05-heading" descr="Native editable direction figure; object F05-heading">
            <a:extLst>
              <a:ext uri="{FF2B5EF4-FFF2-40B4-BE49-F238E27FC236}">
                <a16:creationId xmlns:a16="http://schemas.microsoft.com/office/drawing/2014/main" id="{90B2FFF9-5B11-8E9E-3F06-1A84B0FFF064}"/>
              </a:ext>
            </a:extLst>
          </p:cNvPr>
          <p:cNvSpPr txBox="1"/>
          <p:nvPr/>
        </p:nvSpPr>
        <p:spPr>
          <a:xfrm>
            <a:off x="533400" y="3911600"/>
            <a:ext cx="3733800" cy="292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380" b="1">
                <a:solidFill>
                  <a:srgbClr val="20649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F05  Materials and imaging</a:t>
            </a:r>
            <a:endParaRPr lang="zh-CN" altLang="en-US" sz="1380" b="1">
              <a:solidFill>
                <a:srgbClr val="20649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6" name="F05-example" descr="Native editable direction figure; object F05-example">
            <a:extLst>
              <a:ext uri="{FF2B5EF4-FFF2-40B4-BE49-F238E27FC236}">
                <a16:creationId xmlns:a16="http://schemas.microsoft.com/office/drawing/2014/main" id="{81AD1EA3-0D24-29A9-AF3D-C9C7EE2318C3}"/>
              </a:ext>
            </a:extLst>
          </p:cNvPr>
          <p:cNvSpPr txBox="1"/>
          <p:nvPr/>
        </p:nvSpPr>
        <p:spPr>
          <a:xfrm>
            <a:off x="533400" y="4254500"/>
            <a:ext cx="3733800" cy="2667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140">
                <a:solidFill>
                  <a:srgbClr val="172B4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E.g. mirrors / glass / depth in strong light</a:t>
            </a:r>
            <a:endParaRPr lang="zh-CN" altLang="en-US" sz="1140">
              <a:solidFill>
                <a:srgbClr val="172B42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7" name="F05-mechanism" descr="Native editable direction figure; object F05-mechanism">
            <a:extLst>
              <a:ext uri="{FF2B5EF4-FFF2-40B4-BE49-F238E27FC236}">
                <a16:creationId xmlns:a16="http://schemas.microsoft.com/office/drawing/2014/main" id="{C2A7CED9-2923-4D5D-5AFD-0B001CE49800}"/>
              </a:ext>
            </a:extLst>
          </p:cNvPr>
          <p:cNvSpPr txBox="1"/>
          <p:nvPr/>
        </p:nvSpPr>
        <p:spPr>
          <a:xfrm>
            <a:off x="533400" y="4559300"/>
            <a:ext cx="37338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070">
                <a:solidFill>
                  <a:srgbClr val="52667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False or missing returns create wrong geometry.</a:t>
            </a:r>
            <a:endParaRPr lang="zh-CN" altLang="en-US" sz="1070">
              <a:solidFill>
                <a:srgbClr val="52667B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8" name="F05-image-slot" descr="Native editable direction figure; object F05-image-slot">
            <a:extLst>
              <a:ext uri="{FF2B5EF4-FFF2-40B4-BE49-F238E27FC236}">
                <a16:creationId xmlns:a16="http://schemas.microsoft.com/office/drawing/2014/main" id="{2B0DD248-6869-92F3-297F-53C42B2FBE94}"/>
              </a:ext>
            </a:extLst>
          </p:cNvPr>
          <p:cNvSpPr txBox="1"/>
          <p:nvPr/>
        </p:nvSpPr>
        <p:spPr>
          <a:xfrm>
            <a:off x="4394200" y="3924300"/>
            <a:ext cx="1473200" cy="914400"/>
          </a:xfrm>
          <a:prstGeom prst="rect">
            <a:avLst/>
          </a:prstGeom>
          <a:solidFill>
            <a:srgbClr val="F5F7F9"/>
          </a:solidFill>
          <a:ln w="12700">
            <a:solidFill>
              <a:srgbClr val="D4E0E8"/>
            </a:solidFill>
            <a:prstDash val="dash"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algn="ctr"/>
            <a:r>
              <a:rPr lang="en-US" altLang="zh-CN" sz="1000">
                <a:solidFill>
                  <a:srgbClr val="52667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F05 IMAGE SLOT</a:t>
            </a:r>
          </a:p>
          <a:p>
            <a:pPr algn="ctr"/>
            <a:r>
              <a:rPr lang="en-US" altLang="zh-CN" sz="1000">
                <a:solidFill>
                  <a:srgbClr val="52667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Mirror / anomalous returns</a:t>
            </a:r>
            <a:endParaRPr lang="zh-CN" altLang="en-US" sz="1000">
              <a:solidFill>
                <a:srgbClr val="52667B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9" name="F06-row" descr="Native editable direction figure; object F06-row">
            <a:extLst>
              <a:ext uri="{FF2B5EF4-FFF2-40B4-BE49-F238E27FC236}">
                <a16:creationId xmlns:a16="http://schemas.microsoft.com/office/drawing/2014/main" id="{3A7CC769-1491-0C74-4D24-894E65AA52F8}"/>
              </a:ext>
            </a:extLst>
          </p:cNvPr>
          <p:cNvSpPr/>
          <p:nvPr/>
        </p:nvSpPr>
        <p:spPr>
          <a:xfrm>
            <a:off x="6197600" y="3822700"/>
            <a:ext cx="5588000" cy="11176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D4E0E8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F06-heading" descr="Native editable direction figure; object F06-heading">
            <a:extLst>
              <a:ext uri="{FF2B5EF4-FFF2-40B4-BE49-F238E27FC236}">
                <a16:creationId xmlns:a16="http://schemas.microsoft.com/office/drawing/2014/main" id="{264D06FD-6043-1A1F-A61C-D9F4CC61D063}"/>
              </a:ext>
            </a:extLst>
          </p:cNvPr>
          <p:cNvSpPr txBox="1"/>
          <p:nvPr/>
        </p:nvSpPr>
        <p:spPr>
          <a:xfrm>
            <a:off x="6324600" y="3911600"/>
            <a:ext cx="3733800" cy="292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380" b="1">
                <a:solidFill>
                  <a:srgbClr val="20649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F06  Geometry and appearance</a:t>
            </a:r>
            <a:endParaRPr lang="zh-CN" altLang="en-US" sz="1380" b="1">
              <a:solidFill>
                <a:srgbClr val="20649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1" name="F06-example" descr="Native editable direction figure; object F06-example">
            <a:extLst>
              <a:ext uri="{FF2B5EF4-FFF2-40B4-BE49-F238E27FC236}">
                <a16:creationId xmlns:a16="http://schemas.microsoft.com/office/drawing/2014/main" id="{92C79A41-9333-13F0-4A1B-974E482BC553}"/>
              </a:ext>
            </a:extLst>
          </p:cNvPr>
          <p:cNvSpPr txBox="1"/>
          <p:nvPr/>
        </p:nvSpPr>
        <p:spPr>
          <a:xfrm>
            <a:off x="6324600" y="4254500"/>
            <a:ext cx="3733800" cy="2667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140">
                <a:solidFill>
                  <a:srgbClr val="172B4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E.g. parallel corridor / blank or repeated walls</a:t>
            </a:r>
            <a:endParaRPr lang="zh-CN" altLang="en-US" sz="1140">
              <a:solidFill>
                <a:srgbClr val="172B42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2" name="F06-mechanism" descr="Native editable direction figure; object F06-mechanism">
            <a:extLst>
              <a:ext uri="{FF2B5EF4-FFF2-40B4-BE49-F238E27FC236}">
                <a16:creationId xmlns:a16="http://schemas.microsoft.com/office/drawing/2014/main" id="{96782A33-B74E-FFE0-1999-DCB632E7B788}"/>
              </a:ext>
            </a:extLst>
          </p:cNvPr>
          <p:cNvSpPr txBox="1"/>
          <p:nvPr/>
        </p:nvSpPr>
        <p:spPr>
          <a:xfrm>
            <a:off x="6324600" y="4559300"/>
            <a:ext cx="37338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070">
                <a:solidFill>
                  <a:srgbClr val="52667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Weak or ambiguous support causes drift / aliasing.</a:t>
            </a:r>
            <a:endParaRPr lang="zh-CN" altLang="en-US" sz="1070">
              <a:solidFill>
                <a:srgbClr val="52667B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3" name="F06-image-slot" descr="Native editable direction figure; object F06-image-slot">
            <a:extLst>
              <a:ext uri="{FF2B5EF4-FFF2-40B4-BE49-F238E27FC236}">
                <a16:creationId xmlns:a16="http://schemas.microsoft.com/office/drawing/2014/main" id="{CD254465-D912-56A9-13B1-F3E440A9B852}"/>
              </a:ext>
            </a:extLst>
          </p:cNvPr>
          <p:cNvSpPr txBox="1"/>
          <p:nvPr/>
        </p:nvSpPr>
        <p:spPr>
          <a:xfrm>
            <a:off x="10185400" y="3924300"/>
            <a:ext cx="1473200" cy="914400"/>
          </a:xfrm>
          <a:prstGeom prst="rect">
            <a:avLst/>
          </a:prstGeom>
          <a:solidFill>
            <a:srgbClr val="F5F7F9"/>
          </a:solidFill>
          <a:ln w="12700">
            <a:solidFill>
              <a:srgbClr val="D4E0E8"/>
            </a:solidFill>
            <a:prstDash val="dash"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algn="ctr"/>
            <a:r>
              <a:rPr lang="en-US" altLang="zh-CN" sz="1000">
                <a:solidFill>
                  <a:srgbClr val="52667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F06 IMAGE SLOT</a:t>
            </a:r>
          </a:p>
          <a:p>
            <a:pPr algn="ctr"/>
            <a:r>
              <a:rPr lang="en-US" altLang="zh-CN" sz="1000">
                <a:solidFill>
                  <a:srgbClr val="52667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Corridor / repeated structures</a:t>
            </a:r>
            <a:endParaRPr lang="zh-CN" altLang="en-US" sz="1000">
              <a:solidFill>
                <a:srgbClr val="52667B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4" name="F07-row" descr="Native editable direction figure; object F07-row">
            <a:extLst>
              <a:ext uri="{FF2B5EF4-FFF2-40B4-BE49-F238E27FC236}">
                <a16:creationId xmlns:a16="http://schemas.microsoft.com/office/drawing/2014/main" id="{E22468C9-6384-07F6-9183-4725C77E6D43}"/>
              </a:ext>
            </a:extLst>
          </p:cNvPr>
          <p:cNvSpPr/>
          <p:nvPr/>
        </p:nvSpPr>
        <p:spPr>
          <a:xfrm>
            <a:off x="406400" y="5067300"/>
            <a:ext cx="5588000" cy="11176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D4E0E8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F07-heading" descr="Native editable direction figure; object F07-heading">
            <a:extLst>
              <a:ext uri="{FF2B5EF4-FFF2-40B4-BE49-F238E27FC236}">
                <a16:creationId xmlns:a16="http://schemas.microsoft.com/office/drawing/2014/main" id="{9844AEAD-AED3-772A-3D39-23CB033408DF}"/>
              </a:ext>
            </a:extLst>
          </p:cNvPr>
          <p:cNvSpPr txBox="1"/>
          <p:nvPr/>
        </p:nvSpPr>
        <p:spPr>
          <a:xfrm>
            <a:off x="533400" y="5156200"/>
            <a:ext cx="3733800" cy="292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380" b="1">
                <a:solidFill>
                  <a:srgbClr val="20649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F07  Pose drift and false loops</a:t>
            </a:r>
            <a:endParaRPr lang="zh-CN" altLang="en-US" sz="1380" b="1">
              <a:solidFill>
                <a:srgbClr val="20649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6" name="F07-example" descr="Native editable direction figure; object F07-example">
            <a:extLst>
              <a:ext uri="{FF2B5EF4-FFF2-40B4-BE49-F238E27FC236}">
                <a16:creationId xmlns:a16="http://schemas.microsoft.com/office/drawing/2014/main" id="{2E798E75-F31D-669F-4F43-6D85FDD6DEBC}"/>
              </a:ext>
            </a:extLst>
          </p:cNvPr>
          <p:cNvSpPr txBox="1"/>
          <p:nvPr/>
        </p:nvSpPr>
        <p:spPr>
          <a:xfrm>
            <a:off x="533400" y="5499100"/>
            <a:ext cx="3733800" cy="2667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140">
                <a:solidFill>
                  <a:srgbClr val="172B4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E.g. yaw drift / similar corridors closed wrongly</a:t>
            </a:r>
            <a:endParaRPr lang="zh-CN" altLang="en-US" sz="1140">
              <a:solidFill>
                <a:srgbClr val="172B42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7" name="F07-mechanism" descr="Native editable direction figure; object F07-mechanism">
            <a:extLst>
              <a:ext uri="{FF2B5EF4-FFF2-40B4-BE49-F238E27FC236}">
                <a16:creationId xmlns:a16="http://schemas.microsoft.com/office/drawing/2014/main" id="{50750AA8-23CD-EBB4-5EC7-4A7A1EEF88ED}"/>
              </a:ext>
            </a:extLst>
          </p:cNvPr>
          <p:cNvSpPr txBox="1"/>
          <p:nvPr/>
        </p:nvSpPr>
        <p:spPr>
          <a:xfrm>
            <a:off x="533400" y="5803900"/>
            <a:ext cx="37338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070">
                <a:solidFill>
                  <a:srgbClr val="52667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Misplaced or warped maps corrupt later tracking.</a:t>
            </a:r>
            <a:endParaRPr lang="zh-CN" altLang="en-US" sz="1070">
              <a:solidFill>
                <a:srgbClr val="52667B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8" name="F07-image-slot" descr="Native editable direction figure; object F07-image-slot">
            <a:extLst>
              <a:ext uri="{FF2B5EF4-FFF2-40B4-BE49-F238E27FC236}">
                <a16:creationId xmlns:a16="http://schemas.microsoft.com/office/drawing/2014/main" id="{5B4F722E-6EFF-851C-91A1-4413CEC35391}"/>
              </a:ext>
            </a:extLst>
          </p:cNvPr>
          <p:cNvSpPr txBox="1"/>
          <p:nvPr/>
        </p:nvSpPr>
        <p:spPr>
          <a:xfrm>
            <a:off x="4394200" y="5168900"/>
            <a:ext cx="1473200" cy="914400"/>
          </a:xfrm>
          <a:prstGeom prst="rect">
            <a:avLst/>
          </a:prstGeom>
          <a:solidFill>
            <a:srgbClr val="F5F7F9"/>
          </a:solidFill>
          <a:ln w="12700">
            <a:solidFill>
              <a:srgbClr val="D4E0E8"/>
            </a:solidFill>
            <a:prstDash val="dash"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algn="ctr"/>
            <a:r>
              <a:rPr lang="en-US" altLang="zh-CN" sz="1000">
                <a:solidFill>
                  <a:srgbClr val="52667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F07 IMAGE SLOT</a:t>
            </a:r>
          </a:p>
          <a:p>
            <a:pPr algn="ctr"/>
            <a:r>
              <a:rPr lang="en-US" altLang="zh-CN" sz="1000">
                <a:solidFill>
                  <a:srgbClr val="52667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Trajectory / misaligned map</a:t>
            </a:r>
            <a:endParaRPr lang="zh-CN" altLang="en-US" sz="1000">
              <a:solidFill>
                <a:srgbClr val="52667B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9" name="F08-row" descr="Native editable direction figure; object F08-row">
            <a:extLst>
              <a:ext uri="{FF2B5EF4-FFF2-40B4-BE49-F238E27FC236}">
                <a16:creationId xmlns:a16="http://schemas.microsoft.com/office/drawing/2014/main" id="{16096F25-4355-5781-DC7A-08E932026F6C}"/>
              </a:ext>
            </a:extLst>
          </p:cNvPr>
          <p:cNvSpPr/>
          <p:nvPr/>
        </p:nvSpPr>
        <p:spPr>
          <a:xfrm>
            <a:off x="6197600" y="5067300"/>
            <a:ext cx="5588000" cy="11176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D4E0E8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F08-heading" descr="Native editable direction figure; object F08-heading">
            <a:extLst>
              <a:ext uri="{FF2B5EF4-FFF2-40B4-BE49-F238E27FC236}">
                <a16:creationId xmlns:a16="http://schemas.microsoft.com/office/drawing/2014/main" id="{96065512-C30F-2E68-F9AA-3F4733A0EE9E}"/>
              </a:ext>
            </a:extLst>
          </p:cNvPr>
          <p:cNvSpPr txBox="1"/>
          <p:nvPr/>
        </p:nvSpPr>
        <p:spPr>
          <a:xfrm>
            <a:off x="6324600" y="5156200"/>
            <a:ext cx="3733800" cy="292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380" b="1">
                <a:solidFill>
                  <a:srgbClr val="20649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F08  Map representation and compute</a:t>
            </a:r>
            <a:endParaRPr lang="zh-CN" altLang="en-US" sz="1380" b="1">
              <a:solidFill>
                <a:srgbClr val="20649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1" name="F08-example" descr="Native editable direction figure; object F08-example">
            <a:extLst>
              <a:ext uri="{FF2B5EF4-FFF2-40B4-BE49-F238E27FC236}">
                <a16:creationId xmlns:a16="http://schemas.microsoft.com/office/drawing/2014/main" id="{F25AC7B4-DD1C-3589-2E07-4F1643640563}"/>
              </a:ext>
            </a:extLst>
          </p:cNvPr>
          <p:cNvSpPr txBox="1"/>
          <p:nvPr/>
        </p:nvSpPr>
        <p:spPr>
          <a:xfrm>
            <a:off x="6324600" y="5499100"/>
            <a:ext cx="3733800" cy="2667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140">
                <a:solidFill>
                  <a:srgbClr val="172B4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E.g. coarse voxels / heavy filtering / backlog</a:t>
            </a:r>
            <a:endParaRPr lang="zh-CN" altLang="en-US" sz="1140">
              <a:solidFill>
                <a:srgbClr val="172B42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2" name="F08-mechanism" descr="Native editable direction figure; object F08-mechanism">
            <a:extLst>
              <a:ext uri="{FF2B5EF4-FFF2-40B4-BE49-F238E27FC236}">
                <a16:creationId xmlns:a16="http://schemas.microsoft.com/office/drawing/2014/main" id="{D59FD3F6-DF14-997E-BF7B-D400BF208959}"/>
              </a:ext>
            </a:extLst>
          </p:cNvPr>
          <p:cNvSpPr txBox="1"/>
          <p:nvPr/>
        </p:nvSpPr>
        <p:spPr>
          <a:xfrm>
            <a:off x="6324600" y="5803900"/>
            <a:ext cx="37338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070">
                <a:solidFill>
                  <a:srgbClr val="52667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Lost detail and stale updates reduce useful support.</a:t>
            </a:r>
            <a:endParaRPr lang="zh-CN" altLang="en-US" sz="1070">
              <a:solidFill>
                <a:srgbClr val="52667B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3" name="F08-image-slot" descr="Native editable direction figure; object F08-image-slot">
            <a:extLst>
              <a:ext uri="{FF2B5EF4-FFF2-40B4-BE49-F238E27FC236}">
                <a16:creationId xmlns:a16="http://schemas.microsoft.com/office/drawing/2014/main" id="{5C9AE2A5-374C-C109-9B12-CB1FB8A5E197}"/>
              </a:ext>
            </a:extLst>
          </p:cNvPr>
          <p:cNvSpPr txBox="1"/>
          <p:nvPr/>
        </p:nvSpPr>
        <p:spPr>
          <a:xfrm>
            <a:off x="10185400" y="5168900"/>
            <a:ext cx="1473200" cy="914400"/>
          </a:xfrm>
          <a:prstGeom prst="rect">
            <a:avLst/>
          </a:prstGeom>
          <a:solidFill>
            <a:srgbClr val="F5F7F9"/>
          </a:solidFill>
          <a:ln w="12700">
            <a:solidFill>
              <a:srgbClr val="D4E0E8"/>
            </a:solidFill>
            <a:prstDash val="dash"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algn="ctr"/>
            <a:r>
              <a:rPr lang="en-US" altLang="zh-CN" sz="1000">
                <a:solidFill>
                  <a:srgbClr val="52667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F08 IMAGE SLOT</a:t>
            </a:r>
          </a:p>
          <a:p>
            <a:pPr algn="ctr"/>
            <a:r>
              <a:rPr lang="en-US" altLang="zh-CN" sz="1000">
                <a:solidFill>
                  <a:srgbClr val="52667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Detail loss / processing delay</a:t>
            </a:r>
            <a:endParaRPr lang="zh-CN" altLang="en-US" sz="1000">
              <a:solidFill>
                <a:srgbClr val="52667B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4" name="factor-caveat" descr="Native editable direction figure; object factor-caveat">
            <a:extLst>
              <a:ext uri="{FF2B5EF4-FFF2-40B4-BE49-F238E27FC236}">
                <a16:creationId xmlns:a16="http://schemas.microsoft.com/office/drawing/2014/main" id="{EEF94000-344C-CFF4-D9D2-3FCD3F35B25E}"/>
              </a:ext>
            </a:extLst>
          </p:cNvPr>
          <p:cNvSpPr txBox="1"/>
          <p:nvPr/>
        </p:nvSpPr>
        <p:spPr>
          <a:xfrm>
            <a:off x="406400" y="6375400"/>
            <a:ext cx="11379200" cy="330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300">
                <a:solidFill>
                  <a:srgbClr val="137C7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Static ≠ reliable; clean ≠ sufficiently constrained; unobserved ≠ free. Factors can co-occur.</a:t>
            </a:r>
            <a:endParaRPr lang="zh-CN" altLang="en-US" sz="1300">
              <a:solidFill>
                <a:srgbClr val="137C76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5009686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1244</Words>
  <Application>Microsoft Office PowerPoint</Application>
  <PresentationFormat>宽屏</PresentationFormat>
  <Paragraphs>155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9" baseType="lpstr">
      <vt:lpstr>等线</vt:lpstr>
      <vt:lpstr>等线 Light</vt:lpstr>
      <vt:lpstr>微软雅黑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Zilin Zhu</dc:creator>
  <cp:lastModifiedBy>Zilin Zhu</cp:lastModifiedBy>
  <cp:revision>21</cp:revision>
  <dcterms:created xsi:type="dcterms:W3CDTF">2026-10-15T17:27:54Z</dcterms:created>
  <dcterms:modified xsi:type="dcterms:W3CDTF">2026-10-15T17:35:48Z</dcterms:modified>
</cp:coreProperties>
</file>