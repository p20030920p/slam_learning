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FCCFC-24B1-4DBC-B5EE-938C92281A8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6FFB8-B09B-492A-B3E9-AD2DCB755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46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Conceptual SLAM pose-map loop. Localizers: AMCL, IR-MCL, AdaM-MCL, NDT and GICP. Map cleaners: DUFOMap and BeautyMap. These have different roles; the sketch does not imply all these methods jointly implement SLAM. Mapping A uses provided poses; physical tests pending. Pose glyph is schematic, not measured particles. All raster sources: docs/assets/direction/sources.json. Style reference only: D:\workspace\semantic\output\ITMO_Thesis_Proposal_Simple_Talk_Illustrated.pptx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FFB8-B09B-492A-B3E9-AD2DCB7554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93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F4AE2-790C-2F77-E9FC-BF9BD7BD6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52A1EF-2216-9D06-0973-CFC7B4624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E267C-95A0-EC80-640F-D32AE0D8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FEFEBB-25EE-102D-109D-B726BD0E0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DACAC-6384-6428-CC37-56D2F716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29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96334-6EE5-9AF4-B1F7-D0BD685A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9B8AD-26B5-497B-ADFA-A533EDAC0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54F26-EEF8-3CDA-B12B-9AA4B719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18158-8CB4-A3A1-CC4E-B93165E0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E6198-48F2-AFEC-D0D4-DF07731E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79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2E555-825C-30DA-FDD4-282D6888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FE3B32-23CB-2C67-0048-139E108A9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D20EE-AC1D-3142-EB6A-DE36C176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B59FD-2461-B37E-119C-B7A5EA16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3F1D7D-3C3C-6D2B-3698-2C461FE0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80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F7C62-BF4D-438F-E7FB-1462BEFA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8CEAD-BB94-D651-B931-71AC6E2C0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2D4095-12D9-548A-E51E-A2F74DE43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EC9DA0-0BCF-2627-53FE-0C0986FE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71CD0-EBE9-3597-C1E2-5E3E6D3C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236650-4D0C-39E0-12DB-25BD6BF4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906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980BB-CE3D-6BA8-A29B-18F1E438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8C7D43-A568-4FEB-6084-F1D280537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C65FA-F9C4-0BE6-E687-6CDC42A4F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5F92F0-89CD-C544-F6A6-081E69A44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00366A-AAA9-6B95-8FBF-26A4EBEF5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13D987-7E4D-BF7E-965E-0E3B5E6A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EB7F61-056E-C6DC-97CF-701CD7AB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0DEDDD-D0F9-B7EC-27A3-2D75D847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68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B749D-532C-2336-6176-81B9FFA8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96894B-3053-C83E-549C-AB82AD0F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30054E-DC3D-49CC-696A-3194F946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A89259-753F-EC4F-CB35-2E7FD630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80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17E040-4C75-FB81-092C-82F6B3BC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3C7160-5EB2-937A-6EA2-34DA934A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88C5ED-D290-CB6B-436C-7D2F9A55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58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0B1FA-9C67-099F-AF03-A3355498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5A4C7-5909-2789-26F3-C73598675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A1BFF1-447D-7FF7-8B2B-9CD30848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859EE3-FD38-54C1-0866-37BF3B69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D819FC-645C-F45E-449C-A8D6BBFF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4D9B5E-789F-910E-49E3-8F5DEA5F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9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E3D6A-C8CF-B160-C47E-A1D48B5D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43B1FA-BBC3-30C4-1F17-14C9B1FE17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98E171-E9FD-9FA6-D0AD-9585B2DE4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2E0B1C-5C4E-DBE7-4007-19ED9A1C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2460E2-B6FB-DCFA-BA05-E86603F8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55A049-DE12-F49D-BB67-684B77E7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211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F9550-9346-79C4-BFFF-233A9101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BB1F6E-9333-697E-60EE-A1DAE46C6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79ED3-F278-D7F1-0581-25510AD0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763A5-33A2-FF6B-4597-13633D65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DF32A-6840-8BE3-EC9B-2B991E71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35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E2A309-4496-432C-AC4B-DA3FE5F0B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52699E-42FA-82A9-BC06-A936D4CA1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AF1F8-F225-EC7C-9919-ED73112E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0D864-9B86-EB54-EADF-5659682A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02162-6CBC-90DA-1039-E14E5880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72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B793F1-F9C6-01C9-838F-DE5DD0FC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91D07D-6D6A-1132-E6D5-FF081CA49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CBA98-79CD-5E99-AA0B-865D38C04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873E9-3163-4221-8BC2-71315FDA744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A321C-2427-28E6-3B30-C4183BC36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1BBD6-CB6B-61A4-1B0D-FB78D3D5D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94102-96CB-4AEF-8E71-DD8580115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53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image" Target="../media/image2.png"/><Relationship Id="rId7" Type="http://schemas.openxmlformats.org/officeDocument/2006/relationships/tags" Target="../tags/tag7.xml"/><Relationship Id="rId71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image" Target="../media/image3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image" Target="../media/image6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image" Target="../media/image1.jp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vas">
            <a:extLst>
              <a:ext uri="{FF2B5EF4-FFF2-40B4-BE49-F238E27FC236}">
                <a16:creationId xmlns:a16="http://schemas.microsoft.com/office/drawing/2014/main" id="{C805485D-0737-80F8-8B56-BE61D46A921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6400" y="1397000"/>
            <a:ext cx="11379200" cy="520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CE8C5057-D870-804B-A312-89ABC7FAE3A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6600" y="279400"/>
            <a:ext cx="10795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3600" b="1">
                <a:solidFill>
                  <a:srgbClr val="FFFFFF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Robust localization and SLAM</a:t>
            </a:r>
            <a:endParaRPr lang="zh-CN" altLang="en-US" sz="3600" b="1">
              <a:solidFill>
                <a:srgbClr val="FFFFFF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95B1A165-38AB-AED6-47D8-6379D44346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36600" y="952500"/>
            <a:ext cx="10795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FFFFFF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Dynamic environments and localization self-recovery</a:t>
            </a:r>
            <a:endParaRPr lang="zh-CN" altLang="en-US" sz="1700">
              <a:solidFill>
                <a:srgbClr val="FFFFFF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E86095DE-0E42-DE2B-2861-A7596C4DB75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366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01  Robot platform</a:t>
            </a:r>
            <a:endParaRPr lang="zh-CN" altLang="en-US" sz="1730" b="1">
              <a:solidFill>
                <a:srgbClr val="9307FE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stage-2">
            <a:extLst>
              <a:ext uri="{FF2B5EF4-FFF2-40B4-BE49-F238E27FC236}">
                <a16:creationId xmlns:a16="http://schemas.microsoft.com/office/drawing/2014/main" id="{4673972F-F99F-E486-7BFC-DFC0FDCC5CC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5052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02  Observations</a:t>
            </a:r>
            <a:endParaRPr lang="zh-CN" altLang="en-US" sz="1730" b="1">
              <a:solidFill>
                <a:srgbClr val="9307FE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stage-3">
            <a:extLst>
              <a:ext uri="{FF2B5EF4-FFF2-40B4-BE49-F238E27FC236}">
                <a16:creationId xmlns:a16="http://schemas.microsoft.com/office/drawing/2014/main" id="{5CC8998B-C890-2C25-34FA-E8107139185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2738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03  Pose and map</a:t>
            </a:r>
            <a:endParaRPr lang="zh-CN" altLang="en-US" sz="1730" b="1">
              <a:solidFill>
                <a:srgbClr val="9307FE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stage-4">
            <a:extLst>
              <a:ext uri="{FF2B5EF4-FFF2-40B4-BE49-F238E27FC236}">
                <a16:creationId xmlns:a16="http://schemas.microsoft.com/office/drawing/2014/main" id="{355F8886-1B66-214F-3B90-684594593C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0424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04  Open question</a:t>
            </a:r>
            <a:endParaRPr lang="zh-CN" altLang="en-US" sz="1730" b="1">
              <a:solidFill>
                <a:srgbClr val="9307FE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14" name="chassis" descr="One user-supplied photograph of the physical omnidirectional chassis.">
            <a:extLst>
              <a:ext uri="{FF2B5EF4-FFF2-40B4-BE49-F238E27FC236}">
                <a16:creationId xmlns:a16="http://schemas.microsoft.com/office/drawing/2014/main" id="{B4FFEF51-9741-7A55-B088-7A839DF1788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3150" y="2236532"/>
            <a:ext cx="1739900" cy="1305435"/>
          </a:xfrm>
          <a:prstGeom prst="rect">
            <a:avLst/>
          </a:prstGeom>
        </p:spPr>
      </p:pic>
      <p:sp>
        <p:nvSpPr>
          <p:cNvPr id="15" name="chassis-caption">
            <a:extLst>
              <a:ext uri="{FF2B5EF4-FFF2-40B4-BE49-F238E27FC236}">
                <a16:creationId xmlns:a16="http://schemas.microsoft.com/office/drawing/2014/main" id="{DFF0C830-12B0-898F-1B49-847F6AA9C81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36600" y="36068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8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Physical omnidirectional base</a:t>
            </a:r>
            <a:endParaRPr lang="zh-CN" altLang="en-US" sz="128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19" name="sensors" descr="One user-supplied photograph of the physical sensors.">
            <a:extLst>
              <a:ext uri="{FF2B5EF4-FFF2-40B4-BE49-F238E27FC236}">
                <a16:creationId xmlns:a16="http://schemas.microsoft.com/office/drawing/2014/main" id="{3D4AEA85-8F5F-65B5-AED5-F36CA2A3BD5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7600" y="3935402"/>
            <a:ext cx="1651000" cy="1184296"/>
          </a:xfrm>
          <a:prstGeom prst="rect">
            <a:avLst/>
          </a:prstGeom>
        </p:spPr>
      </p:pic>
      <p:sp>
        <p:nvSpPr>
          <p:cNvPr id="20" name="sensors-caption">
            <a:extLst>
              <a:ext uri="{FF2B5EF4-FFF2-40B4-BE49-F238E27FC236}">
                <a16:creationId xmlns:a16="http://schemas.microsoft.com/office/drawing/2014/main" id="{F39ACA66-84D2-C727-CB64-C62DE3A3A56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36600" y="52070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8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2D LiDAR + depth camera</a:t>
            </a:r>
            <a:endParaRPr lang="zh-CN" altLang="en-US" sz="128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22" name="scan2" descr="One measured 2D LaserScan geometric field from the declared recorded bag, with no rasterized axes or labels.">
            <a:extLst>
              <a:ext uri="{FF2B5EF4-FFF2-40B4-BE49-F238E27FC236}">
                <a16:creationId xmlns:a16="http://schemas.microsoft.com/office/drawing/2014/main" id="{2422A300-49CA-B0DA-0888-F6C58912000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3000" r="16000" b="2000"/>
          <a:stretch>
            <a:fillRect/>
          </a:stretch>
        </p:blipFill>
        <p:spPr>
          <a:xfrm>
            <a:off x="3975100" y="2234951"/>
            <a:ext cx="1473200" cy="1372098"/>
          </a:xfrm>
          <a:prstGeom prst="rect">
            <a:avLst/>
          </a:prstGeom>
        </p:spPr>
      </p:pic>
      <p:sp>
        <p:nvSpPr>
          <p:cNvPr id="23" name="scan2-caption">
            <a:extLst>
              <a:ext uri="{FF2B5EF4-FFF2-40B4-BE49-F238E27FC236}">
                <a16:creationId xmlns:a16="http://schemas.microsoft.com/office/drawing/2014/main" id="{5AAE0EFD-BA14-7F56-5B8B-AE89A174C32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05200" y="36830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8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Gazebo: 2D laser scan</a:t>
            </a:r>
            <a:endParaRPr lang="zh-CN" altLang="en-US" sz="128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25" name="scan3" descr="One dense actual 3D LiDAR scan from the declared recording, with no labels or axes.">
            <a:extLst>
              <a:ext uri="{FF2B5EF4-FFF2-40B4-BE49-F238E27FC236}">
                <a16:creationId xmlns:a16="http://schemas.microsoft.com/office/drawing/2014/main" id="{03859291-EC03-E854-89CA-9594C410DB0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0" t="20000" r="17000" b="8000"/>
          <a:stretch>
            <a:fillRect/>
          </a:stretch>
        </p:blipFill>
        <p:spPr>
          <a:xfrm>
            <a:off x="3873500" y="3975100"/>
            <a:ext cx="1676400" cy="1143000"/>
          </a:xfrm>
          <a:prstGeom prst="rect">
            <a:avLst/>
          </a:prstGeom>
        </p:spPr>
      </p:pic>
      <p:sp>
        <p:nvSpPr>
          <p:cNvPr id="26" name="scan3-caption">
            <a:extLst>
              <a:ext uri="{FF2B5EF4-FFF2-40B4-BE49-F238E27FC236}">
                <a16:creationId xmlns:a16="http://schemas.microsoft.com/office/drawing/2014/main" id="{09A54C6F-1FFE-A204-871E-8682F77DB7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505200" y="52070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8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Gazebo: 3D laser scan</a:t>
            </a:r>
            <a:endParaRPr lang="zh-CN" altLang="en-US" sz="128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7" name="pose-node">
            <a:extLst>
              <a:ext uri="{FF2B5EF4-FFF2-40B4-BE49-F238E27FC236}">
                <a16:creationId xmlns:a16="http://schemas.microsoft.com/office/drawing/2014/main" id="{EE8A5195-31D5-A3A0-D586-AED61DC7C76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489700" y="2247900"/>
            <a:ext cx="2032000" cy="4699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pose-title">
            <a:extLst>
              <a:ext uri="{FF2B5EF4-FFF2-40B4-BE49-F238E27FC236}">
                <a16:creationId xmlns:a16="http://schemas.microsoft.com/office/drawing/2014/main" id="{FA366EF6-09F1-BC30-3B76-F64C0280916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540500" y="2324100"/>
            <a:ext cx="1930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5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Pose estimation</a:t>
            </a:r>
            <a:endParaRPr lang="zh-CN" altLang="en-US" sz="165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grpSp>
        <p:nvGrpSpPr>
          <p:cNvPr id="41" name="pose-hypotheses-schematic">
            <a:extLst>
              <a:ext uri="{FF2B5EF4-FFF2-40B4-BE49-F238E27FC236}">
                <a16:creationId xmlns:a16="http://schemas.microsoft.com/office/drawing/2014/main" id="{0CBCAC4C-874E-5FC0-30D7-41F6DE234116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921500" y="2921000"/>
            <a:ext cx="1174750" cy="323850"/>
            <a:chOff x="6845300" y="2921000"/>
            <a:chExt cx="1174750" cy="323850"/>
          </a:xfrm>
        </p:grpSpPr>
        <p:sp>
          <p:nvSpPr>
            <p:cNvPr id="29" name="hypothesis-0">
              <a:extLst>
                <a:ext uri="{FF2B5EF4-FFF2-40B4-BE49-F238E27FC236}">
                  <a16:creationId xmlns:a16="http://schemas.microsoft.com/office/drawing/2014/main" id="{27A9D04C-3FB9-BA5C-6ED9-1A58C96ECFF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845300" y="29591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hypothesis-1">
              <a:extLst>
                <a:ext uri="{FF2B5EF4-FFF2-40B4-BE49-F238E27FC236}">
                  <a16:creationId xmlns:a16="http://schemas.microsoft.com/office/drawing/2014/main" id="{44341225-726E-4FD0-3DE7-557A0ABE3A59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023100" y="29210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hypothesis-2">
              <a:extLst>
                <a:ext uri="{FF2B5EF4-FFF2-40B4-BE49-F238E27FC236}">
                  <a16:creationId xmlns:a16="http://schemas.microsoft.com/office/drawing/2014/main" id="{731785FE-1F77-1AB7-C201-52BC96BBBB65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213600" y="30099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hypothesis-3">
              <a:extLst>
                <a:ext uri="{FF2B5EF4-FFF2-40B4-BE49-F238E27FC236}">
                  <a16:creationId xmlns:a16="http://schemas.microsoft.com/office/drawing/2014/main" id="{4CB238D2-CB1D-10DC-0D8E-DD2285A047C6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404100" y="2933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hypothesis-4">
              <a:extLst>
                <a:ext uri="{FF2B5EF4-FFF2-40B4-BE49-F238E27FC236}">
                  <a16:creationId xmlns:a16="http://schemas.microsoft.com/office/drawing/2014/main" id="{0A277D69-527F-03F4-CB60-AD174CFC643B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594600" y="30480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hypothesis-5">
              <a:extLst>
                <a:ext uri="{FF2B5EF4-FFF2-40B4-BE49-F238E27FC236}">
                  <a16:creationId xmlns:a16="http://schemas.microsoft.com/office/drawing/2014/main" id="{9557CA49-DCAE-B36B-4979-E0E3FFDA11FD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810500" y="29591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hypothesis-6">
              <a:extLst>
                <a:ext uri="{FF2B5EF4-FFF2-40B4-BE49-F238E27FC236}">
                  <a16:creationId xmlns:a16="http://schemas.microsoft.com/office/drawing/2014/main" id="{4092A670-3EF6-855E-F9C1-E027E14742EE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962900" y="3060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hypothesis-7">
              <a:extLst>
                <a:ext uri="{FF2B5EF4-FFF2-40B4-BE49-F238E27FC236}">
                  <a16:creationId xmlns:a16="http://schemas.microsoft.com/office/drawing/2014/main" id="{16D18BC7-4CDB-A58A-F658-463EAF18B3B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959600" y="31115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hypothesis-8">
              <a:extLst>
                <a:ext uri="{FF2B5EF4-FFF2-40B4-BE49-F238E27FC236}">
                  <a16:creationId xmlns:a16="http://schemas.microsoft.com/office/drawing/2014/main" id="{477BC06D-D65F-790B-BC28-40D8525F31F8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175500" y="31496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hypothesis-9">
              <a:extLst>
                <a:ext uri="{FF2B5EF4-FFF2-40B4-BE49-F238E27FC236}">
                  <a16:creationId xmlns:a16="http://schemas.microsoft.com/office/drawing/2014/main" id="{40D1C2DA-BEDD-6CB0-9F79-32010EBCAFB0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391400" y="31115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hypothesis-10">
              <a:extLst>
                <a:ext uri="{FF2B5EF4-FFF2-40B4-BE49-F238E27FC236}">
                  <a16:creationId xmlns:a16="http://schemas.microsoft.com/office/drawing/2014/main" id="{3B1727F4-28E2-E43A-0D6E-3085593460A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658100" y="3187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hypothesis-11">
              <a:extLst>
                <a:ext uri="{FF2B5EF4-FFF2-40B4-BE49-F238E27FC236}">
                  <a16:creationId xmlns:a16="http://schemas.microsoft.com/office/drawing/2014/main" id="{D8C64978-8EA6-5827-AB3D-A1E265E91432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861300" y="3187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hypotheses-caption">
            <a:extLst>
              <a:ext uri="{FF2B5EF4-FFF2-40B4-BE49-F238E27FC236}">
                <a16:creationId xmlns:a16="http://schemas.microsoft.com/office/drawing/2014/main" id="{C92F7D90-750E-3B8C-7AC7-17E66EA56B0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438900" y="3263900"/>
            <a:ext cx="2133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1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Pose hypotheses (schematic)</a:t>
            </a:r>
            <a:endParaRPr lang="zh-CN" altLang="en-US" sz="111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44" name="map3" descr="One dense recorded 3D map field from controlled mapping A with supplied sensor poses.">
            <a:extLst>
              <a:ext uri="{FF2B5EF4-FFF2-40B4-BE49-F238E27FC236}">
                <a16:creationId xmlns:a16="http://schemas.microsoft.com/office/drawing/2014/main" id="{F349DB87-64C7-EEE7-2BE8-CA7349845586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t="10000" r="17000" b="23000"/>
          <a:stretch>
            <a:fillRect/>
          </a:stretch>
        </p:blipFill>
        <p:spPr>
          <a:xfrm>
            <a:off x="6724650" y="3568856"/>
            <a:ext cx="1562100" cy="1168088"/>
          </a:xfrm>
          <a:prstGeom prst="rect">
            <a:avLst/>
          </a:prstGeom>
        </p:spPr>
      </p:pic>
      <p:sp>
        <p:nvSpPr>
          <p:cNvPr id="45" name="map-scope">
            <a:extLst>
              <a:ext uri="{FF2B5EF4-FFF2-40B4-BE49-F238E27FC236}">
                <a16:creationId xmlns:a16="http://schemas.microsoft.com/office/drawing/2014/main" id="{46C878AC-8078-E4C7-7B6A-DEB0A3542BAB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4813300"/>
            <a:ext cx="213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7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Mapping A: provided poses</a:t>
            </a:r>
            <a:endParaRPr lang="zh-CN" altLang="en-US" sz="117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map-node">
            <a:extLst>
              <a:ext uri="{FF2B5EF4-FFF2-40B4-BE49-F238E27FC236}">
                <a16:creationId xmlns:a16="http://schemas.microsoft.com/office/drawing/2014/main" id="{ECF49C2B-988A-7657-C491-6BBFBB70AB86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489700" y="5130800"/>
            <a:ext cx="2032000" cy="3302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map-title">
            <a:extLst>
              <a:ext uri="{FF2B5EF4-FFF2-40B4-BE49-F238E27FC236}">
                <a16:creationId xmlns:a16="http://schemas.microsoft.com/office/drawing/2014/main" id="{3DC85086-E98C-D553-6E35-32FCCEE30E1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40500" y="5143500"/>
            <a:ext cx="1930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4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Map estimation</a:t>
            </a:r>
            <a:endParaRPr lang="zh-CN" altLang="en-US" sz="154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pose-right">
            <a:extLst>
              <a:ext uri="{FF2B5EF4-FFF2-40B4-BE49-F238E27FC236}">
                <a16:creationId xmlns:a16="http://schemas.microsoft.com/office/drawing/2014/main" id="{74CF3064-71E4-1F4F-F977-6D4F90DC3DAB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712200" y="247015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map-right">
            <a:extLst>
              <a:ext uri="{FF2B5EF4-FFF2-40B4-BE49-F238E27FC236}">
                <a16:creationId xmlns:a16="http://schemas.microsoft.com/office/drawing/2014/main" id="{0A70D15D-8BA5-7528-5681-9164E5F8C988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8712200" y="528320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map-left">
            <a:extLst>
              <a:ext uri="{FF2B5EF4-FFF2-40B4-BE49-F238E27FC236}">
                <a16:creationId xmlns:a16="http://schemas.microsoft.com/office/drawing/2014/main" id="{9A1A9ED4-E8E8-671E-ADC0-841DB60819E7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6299200" y="528320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pose-left">
            <a:extLst>
              <a:ext uri="{FF2B5EF4-FFF2-40B4-BE49-F238E27FC236}">
                <a16:creationId xmlns:a16="http://schemas.microsoft.com/office/drawing/2014/main" id="{C1A7015C-05B4-0BD8-8919-88537D363A64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299200" y="247015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pose-to-map-out">
            <a:extLst>
              <a:ext uri="{FF2B5EF4-FFF2-40B4-BE49-F238E27FC236}">
                <a16:creationId xmlns:a16="http://schemas.microsoft.com/office/drawing/2014/main" id="{E4447C1D-8195-1FA2-1F54-1901F02113BA}"/>
              </a:ext>
            </a:extLst>
          </p:cNvPr>
          <p:cNvCxnSpPr>
            <a:cxnSpLocks/>
            <a:stCxn id="27" idx="3"/>
            <a:endCxn id="48" idx="1"/>
          </p:cNvCxnSpPr>
          <p:nvPr>
            <p:custDataLst>
              <p:tags r:id="rId28"/>
            </p:custDataLst>
          </p:nvPr>
        </p:nvCxnSpPr>
        <p:spPr>
          <a:xfrm>
            <a:off x="8521700" y="2482850"/>
            <a:ext cx="190500" cy="0"/>
          </a:xfrm>
          <a:prstGeom prst="straightConnector1">
            <a:avLst/>
          </a:prstGeom>
          <a:ln w="16510">
            <a:solidFill>
              <a:srgbClr val="9307F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ose-to-map-rail">
            <a:extLst>
              <a:ext uri="{FF2B5EF4-FFF2-40B4-BE49-F238E27FC236}">
                <a16:creationId xmlns:a16="http://schemas.microsoft.com/office/drawing/2014/main" id="{E61F8B9F-33AE-5DF9-E4A2-59DCC5B7ED03}"/>
              </a:ext>
            </a:extLst>
          </p:cNvPr>
          <p:cNvCxnSpPr>
            <a:cxnSpLocks/>
            <a:stCxn id="48" idx="2"/>
            <a:endCxn id="49" idx="0"/>
          </p:cNvCxnSpPr>
          <p:nvPr>
            <p:custDataLst>
              <p:tags r:id="rId29"/>
            </p:custDataLst>
          </p:nvPr>
        </p:nvCxnSpPr>
        <p:spPr>
          <a:xfrm>
            <a:off x="8724900" y="2495550"/>
            <a:ext cx="0" cy="2787650"/>
          </a:xfrm>
          <a:prstGeom prst="straightConnector1">
            <a:avLst/>
          </a:prstGeom>
          <a:ln w="16510">
            <a:solidFill>
              <a:srgbClr val="9307F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pose-to-map-in">
            <a:extLst>
              <a:ext uri="{FF2B5EF4-FFF2-40B4-BE49-F238E27FC236}">
                <a16:creationId xmlns:a16="http://schemas.microsoft.com/office/drawing/2014/main" id="{2F6936C6-7D63-0C85-EAAB-61DC9194B11A}"/>
              </a:ext>
            </a:extLst>
          </p:cNvPr>
          <p:cNvCxnSpPr>
            <a:cxnSpLocks/>
            <a:stCxn id="49" idx="1"/>
            <a:endCxn id="46" idx="3"/>
          </p:cNvCxnSpPr>
          <p:nvPr>
            <p:custDataLst>
              <p:tags r:id="rId30"/>
            </p:custDataLst>
          </p:nvPr>
        </p:nvCxnSpPr>
        <p:spPr>
          <a:xfrm flipH="1">
            <a:off x="8521700" y="5295900"/>
            <a:ext cx="190500" cy="0"/>
          </a:xfrm>
          <a:prstGeom prst="straightConnector1">
            <a:avLst/>
          </a:prstGeom>
          <a:ln w="16510">
            <a:solidFill>
              <a:srgbClr val="9307F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map-to-pose-out">
            <a:extLst>
              <a:ext uri="{FF2B5EF4-FFF2-40B4-BE49-F238E27FC236}">
                <a16:creationId xmlns:a16="http://schemas.microsoft.com/office/drawing/2014/main" id="{D2E5AACE-A078-6D23-6D1C-A0E2F91B160A}"/>
              </a:ext>
            </a:extLst>
          </p:cNvPr>
          <p:cNvCxnSpPr>
            <a:cxnSpLocks/>
            <a:stCxn id="46" idx="1"/>
            <a:endCxn id="50" idx="3"/>
          </p:cNvCxnSpPr>
          <p:nvPr>
            <p:custDataLst>
              <p:tags r:id="rId31"/>
            </p:custDataLst>
          </p:nvPr>
        </p:nvCxnSpPr>
        <p:spPr>
          <a:xfrm flipH="1">
            <a:off x="6324600" y="5295900"/>
            <a:ext cx="165100" cy="0"/>
          </a:xfrm>
          <a:prstGeom prst="straightConnector1">
            <a:avLst/>
          </a:prstGeom>
          <a:ln w="16510">
            <a:solidFill>
              <a:srgbClr val="17664B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map-to-pose-rail">
            <a:extLst>
              <a:ext uri="{FF2B5EF4-FFF2-40B4-BE49-F238E27FC236}">
                <a16:creationId xmlns:a16="http://schemas.microsoft.com/office/drawing/2014/main" id="{ADD4071E-4326-F182-105C-2A40FE237811}"/>
              </a:ext>
            </a:extLst>
          </p:cNvPr>
          <p:cNvCxnSpPr>
            <a:cxnSpLocks/>
            <a:stCxn id="50" idx="0"/>
            <a:endCxn id="51" idx="2"/>
          </p:cNvCxnSpPr>
          <p:nvPr>
            <p:custDataLst>
              <p:tags r:id="rId32"/>
            </p:custDataLst>
          </p:nvPr>
        </p:nvCxnSpPr>
        <p:spPr>
          <a:xfrm flipV="1">
            <a:off x="6311900" y="2495550"/>
            <a:ext cx="0" cy="2787650"/>
          </a:xfrm>
          <a:prstGeom prst="straightConnector1">
            <a:avLst/>
          </a:prstGeom>
          <a:ln w="16510">
            <a:solidFill>
              <a:srgbClr val="17664B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map-to-pose-in">
            <a:extLst>
              <a:ext uri="{FF2B5EF4-FFF2-40B4-BE49-F238E27FC236}">
                <a16:creationId xmlns:a16="http://schemas.microsoft.com/office/drawing/2014/main" id="{E2606AFF-9528-AA1E-0FF4-5BC8762FBA74}"/>
              </a:ext>
            </a:extLst>
          </p:cNvPr>
          <p:cNvCxnSpPr>
            <a:cxnSpLocks/>
            <a:stCxn id="51" idx="3"/>
            <a:endCxn id="27" idx="1"/>
          </p:cNvCxnSpPr>
          <p:nvPr>
            <p:custDataLst>
              <p:tags r:id="rId33"/>
            </p:custDataLst>
          </p:nvPr>
        </p:nvCxnSpPr>
        <p:spPr>
          <a:xfrm>
            <a:off x="6324600" y="2482850"/>
            <a:ext cx="165100" cy="0"/>
          </a:xfrm>
          <a:prstGeom prst="straightConnector1">
            <a:avLst/>
          </a:prstGeom>
          <a:ln w="16510">
            <a:solidFill>
              <a:srgbClr val="1766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azebo" descr="One simulator-rendered corridor viewport from the genuine native execution recording; window chrome, RViz and Terminal excluded.">
            <a:extLst>
              <a:ext uri="{FF2B5EF4-FFF2-40B4-BE49-F238E27FC236}">
                <a16:creationId xmlns:a16="http://schemas.microsoft.com/office/drawing/2014/main" id="{7AEA50FD-A822-325D-93DA-AF023CCE8A4E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42400" y="2250733"/>
            <a:ext cx="2413000" cy="1277034"/>
          </a:xfrm>
          <a:prstGeom prst="rect">
            <a:avLst/>
          </a:prstGeom>
        </p:spPr>
      </p:pic>
      <p:sp>
        <p:nvSpPr>
          <p:cNvPr id="60" name="corridor-caption">
            <a:extLst>
              <a:ext uri="{FF2B5EF4-FFF2-40B4-BE49-F238E27FC236}">
                <a16:creationId xmlns:a16="http://schemas.microsoft.com/office/drawing/2014/main" id="{92F356E8-1A62-44B5-80C3-C8ACAA01D55F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9042400" y="36068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40">
                <a:solidFill>
                  <a:srgbClr val="545454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Gazebo: corridor degradation</a:t>
            </a:r>
            <a:endParaRPr lang="zh-CN" altLang="en-US" sz="1240">
              <a:solidFill>
                <a:srgbClr val="545454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1" name="recovery-step-1">
            <a:extLst>
              <a:ext uri="{FF2B5EF4-FFF2-40B4-BE49-F238E27FC236}">
                <a16:creationId xmlns:a16="http://schemas.microsoft.com/office/drawing/2014/main" id="{8A511563-48BE-59B8-B9A2-A95C8C136B8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9144000" y="39497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1  Detect tracking loss</a:t>
            </a:r>
            <a:endParaRPr lang="zh-CN" altLang="en-US" sz="141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2" name="recovery-step-2">
            <a:extLst>
              <a:ext uri="{FF2B5EF4-FFF2-40B4-BE49-F238E27FC236}">
                <a16:creationId xmlns:a16="http://schemas.microsoft.com/office/drawing/2014/main" id="{5A941C34-1B73-0A35-725F-A986A19E18CB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144000" y="43180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2  Diagnose the cause</a:t>
            </a:r>
            <a:endParaRPr lang="zh-CN" altLang="en-US" sz="141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3" name="recovery-step-3">
            <a:extLst>
              <a:ext uri="{FF2B5EF4-FFF2-40B4-BE49-F238E27FC236}">
                <a16:creationId xmlns:a16="http://schemas.microsoft.com/office/drawing/2014/main" id="{29DC0F2C-4727-EEDC-5CED-4EEA82F6D6FD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9144000" y="46863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3  Recover the pose</a:t>
            </a:r>
            <a:endParaRPr lang="zh-CN" altLang="en-US" sz="141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4" name="recovery-step-4">
            <a:extLst>
              <a:ext uri="{FF2B5EF4-FFF2-40B4-BE49-F238E27FC236}">
                <a16:creationId xmlns:a16="http://schemas.microsoft.com/office/drawing/2014/main" id="{AE6BCD39-C326-8E45-2824-2542B4B8DC00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9144000" y="50546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 b="1">
                <a:solidFill>
                  <a:srgbClr val="17664B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4  Confirm over time</a:t>
            </a:r>
            <a:endParaRPr lang="zh-CN" altLang="en-US" sz="1410" b="1">
              <a:solidFill>
                <a:srgbClr val="17664B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5" name="process-node-1">
            <a:extLst>
              <a:ext uri="{FF2B5EF4-FFF2-40B4-BE49-F238E27FC236}">
                <a16:creationId xmlns:a16="http://schemas.microsoft.com/office/drawing/2014/main" id="{4756C8E1-043F-204A-CFEF-C4E63CB08CB1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7366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process-text-1">
            <a:extLst>
              <a:ext uri="{FF2B5EF4-FFF2-40B4-BE49-F238E27FC236}">
                <a16:creationId xmlns:a16="http://schemas.microsoft.com/office/drawing/2014/main" id="{8A0475BC-9DA4-304E-FCD4-5DF786597E28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7874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5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Omnidirectional base
2D + independent 3D LiDAR</a:t>
            </a:r>
            <a:endParaRPr lang="zh-CN" altLang="en-US" sz="135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7" name="process-node-2">
            <a:extLst>
              <a:ext uri="{FF2B5EF4-FFF2-40B4-BE49-F238E27FC236}">
                <a16:creationId xmlns:a16="http://schemas.microsoft.com/office/drawing/2014/main" id="{7D15ED80-9DC2-7638-4371-6A9359C7EFF2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5052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process-text-2">
            <a:extLst>
              <a:ext uri="{FF2B5EF4-FFF2-40B4-BE49-F238E27FC236}">
                <a16:creationId xmlns:a16="http://schemas.microsoft.com/office/drawing/2014/main" id="{E9178153-BABD-43D8-D8E3-5542B2B2C403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35560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5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Laser scans
and motion input</a:t>
            </a:r>
            <a:endParaRPr lang="zh-CN" altLang="en-US" sz="135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9" name="process-node-3">
            <a:extLst>
              <a:ext uri="{FF2B5EF4-FFF2-40B4-BE49-F238E27FC236}">
                <a16:creationId xmlns:a16="http://schemas.microsoft.com/office/drawing/2014/main" id="{DF1B0EEF-2FD1-21EA-32C8-439972C2119F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2738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process-text-3">
            <a:extLst>
              <a:ext uri="{FF2B5EF4-FFF2-40B4-BE49-F238E27FC236}">
                <a16:creationId xmlns:a16="http://schemas.microsoft.com/office/drawing/2014/main" id="{50C16B76-92B2-B083-4EFA-E115C0085A2F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63246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5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Joint estimation
of pose and map</a:t>
            </a:r>
            <a:endParaRPr lang="zh-CN" altLang="en-US" sz="135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1" name="process-node-4">
            <a:extLst>
              <a:ext uri="{FF2B5EF4-FFF2-40B4-BE49-F238E27FC236}">
                <a16:creationId xmlns:a16="http://schemas.microsoft.com/office/drawing/2014/main" id="{78AB7B4E-B116-2CCC-87DC-44D4EC681950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90424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process-text-4">
            <a:extLst>
              <a:ext uri="{FF2B5EF4-FFF2-40B4-BE49-F238E27FC236}">
                <a16:creationId xmlns:a16="http://schemas.microsoft.com/office/drawing/2014/main" id="{D35652C0-A21D-F0E9-74CC-329E584860AB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90932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50">
                <a:solidFill>
                  <a:srgbClr val="171717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After tracking loss:
recover and confirm</a:t>
            </a:r>
            <a:endParaRPr lang="zh-CN" altLang="en-US" sz="1350">
              <a:solidFill>
                <a:srgbClr val="171717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73" name="pipeline-1">
            <a:extLst>
              <a:ext uri="{FF2B5EF4-FFF2-40B4-BE49-F238E27FC236}">
                <a16:creationId xmlns:a16="http://schemas.microsoft.com/office/drawing/2014/main" id="{616CBAAA-DF45-DFA1-B2F6-C3912ED12339}"/>
              </a:ext>
            </a:extLst>
          </p:cNvPr>
          <p:cNvCxnSpPr>
            <a:cxnSpLocks/>
            <a:stCxn id="65" idx="3"/>
            <a:endCxn id="67" idx="1"/>
          </p:cNvCxnSpPr>
          <p:nvPr>
            <p:custDataLst>
              <p:tags r:id="rId48"/>
            </p:custDataLst>
          </p:nvPr>
        </p:nvCxnSpPr>
        <p:spPr>
          <a:xfrm>
            <a:off x="3149600" y="5886450"/>
            <a:ext cx="355600" cy="0"/>
          </a:xfrm>
          <a:prstGeom prst="straightConnector1">
            <a:avLst/>
          </a:prstGeom>
          <a:ln w="16510">
            <a:solidFill>
              <a:srgbClr val="9307F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pipeline-2">
            <a:extLst>
              <a:ext uri="{FF2B5EF4-FFF2-40B4-BE49-F238E27FC236}">
                <a16:creationId xmlns:a16="http://schemas.microsoft.com/office/drawing/2014/main" id="{4CF9F289-AC66-90A4-FAB6-19172E1482E7}"/>
              </a:ext>
            </a:extLst>
          </p:cNvPr>
          <p:cNvCxnSpPr>
            <a:cxnSpLocks/>
            <a:stCxn id="67" idx="3"/>
            <a:endCxn id="69" idx="1"/>
          </p:cNvCxnSpPr>
          <p:nvPr>
            <p:custDataLst>
              <p:tags r:id="rId49"/>
            </p:custDataLst>
          </p:nvPr>
        </p:nvCxnSpPr>
        <p:spPr>
          <a:xfrm>
            <a:off x="5918200" y="5886450"/>
            <a:ext cx="355600" cy="0"/>
          </a:xfrm>
          <a:prstGeom prst="straightConnector1">
            <a:avLst/>
          </a:prstGeom>
          <a:ln w="16510">
            <a:solidFill>
              <a:srgbClr val="9307F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pipeline-3">
            <a:extLst>
              <a:ext uri="{FF2B5EF4-FFF2-40B4-BE49-F238E27FC236}">
                <a16:creationId xmlns:a16="http://schemas.microsoft.com/office/drawing/2014/main" id="{41FE9127-7C63-A7BF-612B-A83BACCB17CC}"/>
              </a:ext>
            </a:extLst>
          </p:cNvPr>
          <p:cNvCxnSpPr>
            <a:cxnSpLocks/>
            <a:stCxn id="69" idx="3"/>
            <a:endCxn id="71" idx="1"/>
          </p:cNvCxnSpPr>
          <p:nvPr>
            <p:custDataLst>
              <p:tags r:id="rId50"/>
            </p:custDataLst>
          </p:nvPr>
        </p:nvCxnSpPr>
        <p:spPr>
          <a:xfrm>
            <a:off x="8686800" y="5886450"/>
            <a:ext cx="355600" cy="0"/>
          </a:xfrm>
          <a:prstGeom prst="straightConnector1">
            <a:avLst/>
          </a:prstGeom>
          <a:ln w="16510">
            <a:solidFill>
              <a:srgbClr val="9307F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andidate-question">
            <a:extLst>
              <a:ext uri="{FF2B5EF4-FFF2-40B4-BE49-F238E27FC236}">
                <a16:creationId xmlns:a16="http://schemas.microsoft.com/office/drawing/2014/main" id="{A50BD4BD-863A-51E5-73BD-738069C28B7A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736600" y="6261100"/>
            <a:ext cx="10718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50" b="1">
                <a:solidFill>
                  <a:srgbClr val="9307FE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Candidate question: avoid false convergence when useful geometry returns</a:t>
            </a:r>
            <a:endParaRPr lang="zh-CN" altLang="en-US" sz="1550" b="1">
              <a:solidFill>
                <a:srgbClr val="9307FE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7" name="scope-footer">
            <a:extLst>
              <a:ext uri="{FF2B5EF4-FFF2-40B4-BE49-F238E27FC236}">
                <a16:creationId xmlns:a16="http://schemas.microsoft.com/office/drawing/2014/main" id="{BEB03767-F669-A4A7-6F5D-FD6D2C9F9567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736600" y="6667500"/>
            <a:ext cx="1079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70">
                <a:solidFill>
                  <a:srgbClr val="FFFFFF"/>
                </a:solidFill>
                <a:latin typeface="Golos Text Figures" panose="020B0503020202020204" pitchFamily="34" charset="0"/>
                <a:ea typeface="Microsoft YaHei" panose="020B0503020204020204" pitchFamily="34" charset="-122"/>
              </a:rPr>
              <a:t>Physical photos. Gazebo scans, provided-pose 3D map and corridor. Physical tests pending.</a:t>
            </a:r>
            <a:endParaRPr lang="zh-CN" altLang="en-US" sz="1070">
              <a:solidFill>
                <a:srgbClr val="FFFFFF"/>
              </a:solidFill>
              <a:latin typeface="Golos Text Figures" panose="020B0503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05510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user-supplied photograph of the physical omnidirectional chassis."/>
  <p:tag name="ATOMIC_RASTER_UNIT" val="true"/>
  <p:tag name="CONTAINS_RECONSTRUCTABLE_CONTENT" val="false"/>
  <p:tag name="DECOMPOSITION_NOTE" val="One independent photographic or dense measured geometric field. Captions, nodes, arrows and pose-hypothesis glyphs are separate native objects."/>
  <p:tag name="SOURCE_CROP_LTRB_FRACTION" val="0,0,0,0"/>
  <p:tag name="REGION" val="platform"/>
  <p:tag name="SCIENTIFICILLUSTRATORRASTERREASON" val="One user-supplied photograph of the physical omnidirectional chassis."/>
  <p:tag name="SOURCE_IS_TIGHTLY_CROPPED" val="tru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measured geometric field. Captions, nodes, arrows and pose-hypothesis glyphs are separate native objects."/>
  <p:tag name="SCIENTIFICILLUSTRATORSOURCEPATH" val="D:\workspace\be2\slam_learning_updated\docs\assets\robot\chassis.jp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platfor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user-supplied photograph of the physical sensors."/>
  <p:tag name="ATOMIC_RASTER_UNIT" val="true"/>
  <p:tag name="CONTAINS_RECONSTRUCTABLE_CONTENT" val="false"/>
  <p:tag name="DECOMPOSITION_NOTE" val="One independent photographic or dense measured geometric field. Captions, nodes, arrows and pose-hypothesis glyphs are separate native objects."/>
  <p:tag name="SOURCE_CROP_LTRB_FRACTION" val="0,0,0,0"/>
  <p:tag name="REGION" val="platform"/>
  <p:tag name="SCIENTIFICILLUSTRATORRASTERREASON" val="One user-supplied photograph of the physical sensors."/>
  <p:tag name="SOURCE_IS_TIGHTLY_CROPPED" val="tru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measured geometric field. Captions, nodes, arrows and pose-hypothesis glyphs are separate native objects."/>
  <p:tag name="SCIENTIFICILLUSTRATORSOURCEPATH" val="D:\workspace\be2\slam_learning_updated\docs\assets\robot\sensors.p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platfor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measured 2D LaserScan geometric field from the declared recorded bag, with no rasterized axes or labels."/>
  <p:tag name="ATOMIC_RASTER_UNIT" val="true"/>
  <p:tag name="CONTAINS_RECONSTRUCTABLE_CONTENT" val="false"/>
  <p:tag name="DECOMPOSITION_NOTE" val="One independent photographic or dense measured geometric field. Captions, nodes, arrows and pose-hypothesis glyphs are separate native objects."/>
  <p:tag name="SOURCE_CROP_LTRB_FRACTION" val="0.16,0.03,0.16,0.02"/>
  <p:tag name="REGION" val="observations"/>
  <p:tag name="SCIENTIFICILLUSTRATORRASTERREASON" val="One measured 2D LaserScan geometric field from the declared recorded bag, with no rasterized axes or labels."/>
  <p:tag name="SOURCE_IS_TIGHTLY_CROPPED" val="tru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measured geometric field. Captions, nodes, arrows and pose-hypothesis glyphs are separate native objects."/>
  <p:tag name="SCIENTIFICILLUSTRATORSOURCEPATH" val="D:\workspace\be2\slam_learning_updated\docs\assets\direction\scan-2d.p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observation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dense actual 3D LiDAR scan from the declared recording, with no labels or axes."/>
  <p:tag name="ATOMIC_RASTER_UNIT" val="true"/>
  <p:tag name="CONTAINS_RECONSTRUCTABLE_CONTENT" val="false"/>
  <p:tag name="DECOMPOSITION_NOTE" val="One independent photographic or dense measured geometric field. Captions, nodes, arrows and pose-hypothesis glyphs are separate native objects."/>
  <p:tag name="SOURCE_CROP_LTRB_FRACTION" val="0.17,0.2,0.17,0.08"/>
  <p:tag name="REGION" val="observations"/>
  <p:tag name="SCIENTIFICILLUSTRATORRASTERREASON" val="One dense actual 3D LiDAR scan from the declared recording, with no labels or axes."/>
  <p:tag name="SOURCE_IS_TIGHTLY_CROPPED" val="tru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measured geometric field. Captions, nodes, arrows and pose-hypothesis glyphs are separate native objects."/>
  <p:tag name="SCIENTIFICILLUSTRATORSOURCEPATH" val="D:\workspace\be2\slam_learning_updated\docs\assets\direction\scan-3d.p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observation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HEMATIC_NOT_MEASURED" val="true"/>
  <p:tag name="REGION" val="sla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dense recorded 3D map field from controlled mapping A with supplied sensor poses."/>
  <p:tag name="ATOMIC_RASTER_UNIT" val="true"/>
  <p:tag name="CONTAINS_RECONSTRUCTABLE_CONTENT" val="false"/>
  <p:tag name="DECOMPOSITION_NOTE" val="One independent photographic or dense measured geometric field. Captions, nodes, arrows and pose-hypothesis glyphs are separate native objects."/>
  <p:tag name="SOURCE_CROP_LTRB_FRACTION" val="0.27,0.1,0.17,0.23"/>
  <p:tag name="REGION" val="slam"/>
  <p:tag name="SCIENTIFICILLUSTRATORRASTERREASON" val="One dense recorded 3D map field from controlled mapping A with supplied sensor poses."/>
  <p:tag name="SOURCE_IS_TIGHTLY_CROPPED" val="tru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measured geometric field. Captions, nodes, arrows and pose-hypothesis glyphs are separate native objects."/>
  <p:tag name="SCIENTIFICILLUSTRATORSOURCEPATH" val="D:\workspace\be2\slam_learning_updated\docs\assets\direction\map-3d.p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simulator-rendered corridor viewport from the genuine native execution recording; window chrome, RViz and Terminal excluded."/>
  <p:tag name="ATOMIC_RASTER_UNIT" val="true"/>
  <p:tag name="CONTAINS_RECONSTRUCTABLE_CONTENT" val="false"/>
  <p:tag name="DECOMPOSITION_NOTE" val="One independent photographic or dense measured geometric field. Captions, nodes, arrows and pose-hypothesis glyphs are separate native objects."/>
  <p:tag name="SOURCE_CROP_LTRB_FRACTION" val="0,0,0,0"/>
  <p:tag name="REGION" val="recovery"/>
  <p:tag name="SCIENTIFICILLUSTRATORRASTERREASON" val="One simulator-rendered corridor viewport from the genuine native execution recording; window chrome, RViz and Terminal excluded."/>
  <p:tag name="SOURCE_IS_TIGHTLY_CROPPED" val="tru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measured geometric field. Captions, nodes, arrows and pose-hypothesis glyphs are separate native objects."/>
  <p:tag name="SCIENTIFICILLUSTRATORSOURCEPATH" val="D:\workspace\be2\slam_learning_updated\docs\assets\direction\gazebo-corridor.p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228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Golos Text Figures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Zilin Zhu</dc:creator>
  <cp:lastModifiedBy>Zilin Zhu</cp:lastModifiedBy>
  <cp:revision>13</cp:revision>
  <dcterms:created xsi:type="dcterms:W3CDTF">2026-10-14T20:08:59Z</dcterms:created>
  <dcterms:modified xsi:type="dcterms:W3CDTF">2026-10-14T20:15:21Z</dcterms:modified>
</cp:coreProperties>
</file>